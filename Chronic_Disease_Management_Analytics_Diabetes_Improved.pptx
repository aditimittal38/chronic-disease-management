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5626C"/>
                </a:solidFill>
                <a:latin typeface="+mn-lt"/>
              </a:defRPr>
            </a:pPr>
            <a:r>
              <a:rPr sz="1200" b="0" i="0" u="none" strike="noStrike">
                <a:solidFill>
                  <a:srgbClr val="55626C"/>
                </a:solidFill>
                <a:latin typeface="+mn-lt"/>
              </a:rPr>
              <a:t>Raw missingness (%)</a:t>
            </a:r>
          </a:p>
        </c:rich>
      </c:tx>
      <c:layout/>
      <c:overlay val="0"/>
    </c:title>
    <c:autoTitleDeleted val="0"/>
    <c:plotArea>
      <c:layout/>
      <c:barChart>
        <c:barDir val="bar"/>
        <c:grouping val="clustered"/>
        <c:varyColors val="0"/>
        <c:ser>
          <c:idx val="0"/>
          <c:order val="0"/>
          <c:tx>
            <c:strRef>
              <c:f>Sheet1!$B$1</c:f>
              <c:strCache>
                <c:ptCount val="1"/>
                <c:pt idx="0">
                  <c:v>Missing %</c:v>
                </c:pt>
              </c:strCache>
            </c:strRef>
          </c:tx>
          <c:spPr>
            <a:solidFill>
              <a:srgbClr val="0F766E"/>
            </a:solidFill>
            <a:effectLst/>
          </c:spPr>
          <c:invertIfNegative val="0"/>
          <c:dLbls>
            <c:numFmt formatCode="0.00&quot;%&quot;"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cat>
            <c:multiLvlStrRef>
              <c:f>Sheet1!$A$2:$A$7</c:f>
              <c:multiLvlStrCache>
                <c:ptCount val="6"/>
                <c:lvl>
                  <c:pt idx="0">
                    <c:v>weight</c:v>
                  </c:pt>
                  <c:pt idx="1">
                    <c:v>medical specialty</c:v>
                  </c:pt>
                  <c:pt idx="2">
                    <c:v>payer code</c:v>
                  </c:pt>
                  <c:pt idx="3">
                    <c:v>race</c:v>
                  </c:pt>
                  <c:pt idx="4">
                    <c:v>diag_3</c:v>
                  </c:pt>
                  <c:pt idx="5">
                    <c:v>diag_2</c:v>
                  </c:pt>
                </c:lvl>
              </c:multiLvlStrCache>
            </c:multiLvlStrRef>
          </c:cat>
          <c:val>
            <c:numRef>
              <c:f>Sheet1!$B$2:$B$7</c:f>
              <c:numCache>
                <c:formatCode>General</c:formatCode>
                <c:ptCount val="6"/>
                <c:pt idx="0">
                  <c:v>96.86</c:v>
                </c:pt>
                <c:pt idx="1">
                  <c:v>49.08</c:v>
                </c:pt>
                <c:pt idx="2">
                  <c:v>39.56</c:v>
                </c:pt>
                <c:pt idx="3">
                  <c:v>2.23</c:v>
                </c:pt>
                <c:pt idx="4">
                  <c:v>1.4</c:v>
                </c:pt>
                <c:pt idx="5">
                  <c:v>0.35</c:v>
                </c:pt>
              </c:numCache>
            </c:numRef>
          </c:val>
        </c:ser>
        <c:dLbls>
          <c:numFmt formatCode="0.00&quot;%&quot;"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0243A"/>
                </a:solidFill>
                <a:latin typeface="+mn-lt"/>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5626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43A"/>
                </a:solidFill>
                <a:latin typeface="+mn-lt"/>
              </a:defRPr>
            </a:pPr>
            <a:r>
              <a:rPr sz="1300" b="0" i="0" u="none" strike="noStrike">
                <a:solidFill>
                  <a:srgbClr val="10243A"/>
                </a:solidFill>
                <a:latin typeface="+mn-lt"/>
              </a:rPr>
              <a:t>Prior inpatient visits</a:t>
            </a:r>
          </a:p>
        </c:rich>
      </c:tx>
      <c:layout/>
      <c:overlay val="0"/>
    </c:title>
    <c:autoTitleDeleted val="0"/>
    <c:plotArea>
      <c:layout/>
      <c:barChart>
        <c:barDir val="col"/>
        <c:grouping val="clustered"/>
        <c:varyColors val="0"/>
        <c:ser>
          <c:idx val="0"/>
          <c:order val="0"/>
          <c:tx>
            <c:strRef>
              <c:f>Sheet1!$B$1</c:f>
              <c:strCache>
                <c:ptCount val="1"/>
                <c:pt idx="0">
                  <c:v>Prior inpatient visits</c:v>
                </c:pt>
              </c:strCache>
            </c:strRef>
          </c:tx>
          <c:spPr>
            <a:solidFill>
              <a:srgbClr val="0F766E"/>
            </a:solidFill>
            <a:effectLst/>
          </c:spPr>
          <c:invertIfNegative val="0"/>
          <c:dLbls>
            <c:numFmt formatCode="0.00&quot;%&quot;"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cat>
            <c:multiLvlStrRef>
              <c:f>Sheet1!$A$2:$A$4</c:f>
              <c:multiLvlStrCache>
                <c:ptCount val="3"/>
                <c:lvl>
                  <c:pt idx="0">
                    <c:v>0</c:v>
                  </c:pt>
                  <c:pt idx="1">
                    <c:v>1</c:v>
                  </c:pt>
                  <c:pt idx="2">
                    <c:v>2+</c:v>
                  </c:pt>
                </c:lvl>
              </c:multiLvlStrCache>
            </c:multiLvlStrRef>
          </c:cat>
          <c:val>
            <c:numRef>
              <c:f>Sheet1!$B$2:$B$4</c:f>
              <c:numCache>
                <c:formatCode>General</c:formatCode>
                <c:ptCount val="3"/>
                <c:pt idx="0">
                  <c:v>8.59</c:v>
                </c:pt>
                <c:pt idx="1">
                  <c:v>13.25</c:v>
                </c:pt>
                <c:pt idx="2">
                  <c:v>22.02</c:v>
                </c:pt>
              </c:numCache>
            </c:numRef>
          </c:val>
        </c:ser>
        <c:dLbls>
          <c:numFmt formatCode="0.00&quot;%&quot;"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43A"/>
                </a:solidFill>
                <a:latin typeface="+mn-lt"/>
              </a:defRPr>
            </a:pPr>
            <a:endParaRPr lang="en-US"/>
          </a:p>
        </c:txPr>
        <c:crossAx val="2094734552"/>
        <c:crosses val="autoZero"/>
        <c:auto val="1"/>
        <c:lblAlgn val="ctr"/>
        <c:noMultiLvlLbl val="1"/>
      </c:catAx>
      <c:valAx>
        <c:axId val="2094734552"/>
        <c:scaling>
          <c:orientation val="minMax"/>
          <c:max val="2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626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43A"/>
                </a:solidFill>
                <a:latin typeface="+mn-lt"/>
              </a:defRPr>
            </a:pPr>
            <a:r>
              <a:rPr sz="1300" b="0" i="0" u="none" strike="noStrike">
                <a:solidFill>
                  <a:srgbClr val="10243A"/>
                </a:solidFill>
                <a:latin typeface="+mn-lt"/>
              </a:rPr>
              <a:t>Medication burden</a:t>
            </a:r>
          </a:p>
        </c:rich>
      </c:tx>
      <c:layout/>
      <c:overlay val="0"/>
    </c:title>
    <c:autoTitleDeleted val="0"/>
    <c:plotArea>
      <c:layout/>
      <c:barChart>
        <c:barDir val="col"/>
        <c:grouping val="clustered"/>
        <c:varyColors val="0"/>
        <c:ser>
          <c:idx val="0"/>
          <c:order val="0"/>
          <c:tx>
            <c:strRef>
              <c:f>Sheet1!$B$1</c:f>
              <c:strCache>
                <c:ptCount val="1"/>
                <c:pt idx="0">
                  <c:v>Medication burden</c:v>
                </c:pt>
              </c:strCache>
            </c:strRef>
          </c:tx>
          <c:spPr>
            <a:solidFill>
              <a:srgbClr val="0F766E"/>
            </a:solidFill>
            <a:effectLst/>
          </c:spPr>
          <c:invertIfNegative val="0"/>
          <c:dLbls>
            <c:numFmt formatCode="0.00&quot;%&quot;"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cat>
            <c:multiLvlStrRef>
              <c:f>Sheet1!$A$2:$A$4</c:f>
              <c:multiLvlStrCache>
                <c:ptCount val="3"/>
                <c:lvl>
                  <c:pt idx="0">
                    <c:v>Low (0–5)</c:v>
                  </c:pt>
                  <c:pt idx="1">
                    <c:v>Moderate</c:v>
                  </c:pt>
                  <c:pt idx="2">
                    <c:v>High (15+)</c:v>
                  </c:pt>
                </c:lvl>
              </c:multiLvlStrCache>
            </c:multiLvlStrRef>
          </c:cat>
          <c:val>
            <c:numRef>
              <c:f>Sheet1!$B$2:$B$4</c:f>
              <c:numCache>
                <c:formatCode>General</c:formatCode>
                <c:ptCount val="3"/>
                <c:pt idx="0">
                  <c:v>7.61</c:v>
                </c:pt>
                <c:pt idx="1">
                  <c:v>10.28</c:v>
                </c:pt>
                <c:pt idx="2">
                  <c:v>12.7</c:v>
                </c:pt>
              </c:numCache>
            </c:numRef>
          </c:val>
        </c:ser>
        <c:dLbls>
          <c:numFmt formatCode="0.00&quot;%&quot;"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43A"/>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626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43A"/>
                </a:solidFill>
                <a:latin typeface="+mn-lt"/>
              </a:defRPr>
            </a:pPr>
            <a:r>
              <a:rPr sz="1300" b="0" i="0" u="none" strike="noStrike">
                <a:solidFill>
                  <a:srgbClr val="10243A"/>
                </a:solidFill>
                <a:latin typeface="+mn-lt"/>
              </a:rPr>
              <a:t>Age group</a:t>
            </a:r>
          </a:p>
        </c:rich>
      </c:tx>
      <c:layout/>
      <c:overlay val="0"/>
    </c:title>
    <c:autoTitleDeleted val="0"/>
    <c:plotArea>
      <c:layout/>
      <c:barChart>
        <c:barDir val="col"/>
        <c:grouping val="clustered"/>
        <c:varyColors val="0"/>
        <c:ser>
          <c:idx val="0"/>
          <c:order val="0"/>
          <c:tx>
            <c:strRef>
              <c:f>Sheet1!$B$1</c:f>
              <c:strCache>
                <c:ptCount val="1"/>
                <c:pt idx="0">
                  <c:v>Age group</c:v>
                </c:pt>
              </c:strCache>
            </c:strRef>
          </c:tx>
          <c:spPr>
            <a:solidFill>
              <a:srgbClr val="0F766E"/>
            </a:solidFill>
            <a:effectLst/>
          </c:spPr>
          <c:invertIfNegative val="0"/>
          <c:dLbls>
            <c:numFmt formatCode="0.00&quot;%&quot;"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cat>
            <c:multiLvlStrRef>
              <c:f>Sheet1!$A$2:$A$5</c:f>
              <c:multiLvlStrCache>
                <c:ptCount val="4"/>
                <c:lvl>
                  <c:pt idx="0">
                    <c:v>Under 40</c:v>
                  </c:pt>
                  <c:pt idx="1">
                    <c:v>40–59</c:v>
                  </c:pt>
                  <c:pt idx="2">
                    <c:v>60–79</c:v>
                  </c:pt>
                  <c:pt idx="3">
                    <c:v>80+</c:v>
                  </c:pt>
                </c:lvl>
              </c:multiLvlStrCache>
            </c:multiLvlStrRef>
          </c:cat>
          <c:val>
            <c:numRef>
              <c:f>Sheet1!$B$2:$B$5</c:f>
              <c:numCache>
                <c:formatCode>General</c:formatCode>
                <c:ptCount val="4"/>
                <c:pt idx="0">
                  <c:v>11.22</c:v>
                </c:pt>
                <c:pt idx="1">
                  <c:v>10.09</c:v>
                </c:pt>
                <c:pt idx="2">
                  <c:v>11.71</c:v>
                </c:pt>
                <c:pt idx="3">
                  <c:v>12.47</c:v>
                </c:pt>
              </c:numCache>
            </c:numRef>
          </c:val>
        </c:ser>
        <c:dLbls>
          <c:numFmt formatCode="0.00&quot;%&quot;"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43A"/>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626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ROC-AUC</c:v>
                </c:pt>
              </c:strCache>
            </c:strRef>
          </c:tx>
          <c:spPr>
            <a:solidFill>
              <a:srgbClr val="0F766E"/>
            </a:solidFill>
            <a:effectLst/>
          </c:spPr>
          <c:invertIfNegative val="0"/>
          <c:dLbls>
            <c:numFmt formatCode="0.000" sourceLinked="0"/>
            <c:txPr>
              <a:bodyPr/>
              <a:lstStyle/>
              <a:p>
                <a:pPr>
                  <a:defRPr b="1" i="0" strike="noStrike" sz="1100" u="none">
                    <a:solidFill>
                      <a:srgbClr val="10243A"/>
                    </a:solidFill>
                    <a:latin typeface="+mn-lt"/>
                  </a:defRPr>
                </a:pPr>
              </a:p>
            </c:txPr>
            <c:showLegendKey val="0"/>
            <c:showVal val="1"/>
            <c:showCatName val="0"/>
            <c:showSerName val="0"/>
            <c:showPercent val="0"/>
            <c:showBubbleSize val="0"/>
            <c:showLeaderLines val="0"/>
          </c:dLbls>
          <c:cat>
            <c:multiLvlStrRef>
              <c:f>Sheet1!$A$2:$A$5</c:f>
              <c:multiLvlStrCache>
                <c:ptCount val="4"/>
                <c:lvl>
                  <c:pt idx="0">
                    <c:v>Constant baseline</c:v>
                  </c:pt>
                  <c:pt idx="1">
                    <c:v>Initial logistic</c:v>
                  </c:pt>
                  <c:pt idx="2">
                    <c:v>Expanded logistic</c:v>
                  </c:pt>
                  <c:pt idx="3">
                    <c:v>Hist. gradient boosting</c:v>
                  </c:pt>
                </c:lvl>
              </c:multiLvlStrCache>
            </c:multiLvlStrRef>
          </c:cat>
          <c:val>
            <c:numRef>
              <c:f>Sheet1!$B$2:$B$5</c:f>
              <c:numCache>
                <c:formatCode>General</c:formatCode>
                <c:ptCount val="4"/>
                <c:pt idx="0">
                  <c:v>0.5</c:v>
                </c:pt>
                <c:pt idx="1">
                  <c:v>0.626</c:v>
                </c:pt>
                <c:pt idx="2">
                  <c:v>0.657</c:v>
                </c:pt>
                <c:pt idx="3">
                  <c:v>0.668</c:v>
                </c:pt>
              </c:numCache>
            </c:numRef>
          </c:val>
        </c:ser>
        <c:ser>
          <c:idx val="1"/>
          <c:order val="1"/>
          <c:tx>
            <c:strRef>
              <c:f>Sheet1!$C$1</c:f>
              <c:strCache>
                <c:ptCount val="1"/>
                <c:pt idx="0">
                  <c:v>Average precision</c:v>
                </c:pt>
              </c:strCache>
            </c:strRef>
          </c:tx>
          <c:spPr>
            <a:solidFill>
              <a:srgbClr val="B7791F"/>
            </a:solidFill>
            <a:effectLst/>
          </c:spPr>
          <c:invertIfNegative val="0"/>
          <c:dLbls>
            <c:numFmt formatCode="0.000" sourceLinked="0"/>
            <c:txPr>
              <a:bodyPr/>
              <a:lstStyle/>
              <a:p>
                <a:pPr>
                  <a:defRPr b="1" i="0" strike="noStrike" sz="1100" u="none">
                    <a:solidFill>
                      <a:srgbClr val="10243A"/>
                    </a:solidFill>
                    <a:latin typeface="+mn-lt"/>
                  </a:defRPr>
                </a:pPr>
              </a:p>
            </c:txPr>
            <c:showLegendKey val="0"/>
            <c:showVal val="1"/>
            <c:showCatName val="0"/>
            <c:showSerName val="0"/>
            <c:showPercent val="0"/>
            <c:showBubbleSize val="0"/>
            <c:showLeaderLines val="0"/>
          </c:dLbls>
          <c:cat>
            <c:multiLvlStrRef>
              <c:f>Sheet1!$A$2:$A$5</c:f>
              <c:multiLvlStrCache>
                <c:ptCount val="4"/>
                <c:lvl>
                  <c:pt idx="0">
                    <c:v>Constant baseline</c:v>
                  </c:pt>
                  <c:pt idx="1">
                    <c:v>Initial logistic</c:v>
                  </c:pt>
                  <c:pt idx="2">
                    <c:v>Expanded logistic</c:v>
                  </c:pt>
                  <c:pt idx="3">
                    <c:v>Hist. gradient boosting</c:v>
                  </c:pt>
                </c:lvl>
              </c:multiLvlStrCache>
            </c:multiLvlStrRef>
          </c:cat>
          <c:val>
            <c:numRef>
              <c:f>Sheet1!$C$2:$C$5</c:f>
              <c:numCache>
                <c:formatCode>General</c:formatCode>
                <c:ptCount val="4"/>
                <c:pt idx="0">
                  <c:v>0.111</c:v>
                </c:pt>
                <c:pt idx="1">
                  <c:v>0.189</c:v>
                </c:pt>
                <c:pt idx="2">
                  <c:v>0.213</c:v>
                </c:pt>
                <c:pt idx="3">
                  <c:v>0.226</c:v>
                </c:pt>
              </c:numCache>
            </c:numRef>
          </c:val>
        </c:ser>
        <c:dLbls>
          <c:numFmt formatCode="0.000" sourceLinked="0"/>
          <c:txPr>
            <a:bodyPr/>
            <a:lstStyle/>
            <a:p>
              <a:pPr>
                <a:defRPr b="1" i="0" strike="noStrike" sz="1100" u="none">
                  <a:solidFill>
                    <a:srgbClr val="10243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0243A"/>
                </a:solidFill>
                <a:latin typeface="+mn-lt"/>
              </a:defRPr>
            </a:pPr>
            <a:endParaRPr lang="en-US"/>
          </a:p>
        </c:txPr>
        <c:crossAx val="2094734552"/>
        <c:crosses val="autoZero"/>
        <c:auto val="1"/>
        <c:lblAlgn val="ctr"/>
        <c:noMultiLvlLbl val="1"/>
      </c:catAx>
      <c:valAx>
        <c:axId val="2094734552"/>
        <c:scaling>
          <c:orientation val="minMax"/>
          <c:max val="0.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626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0243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43A"/>
                </a:solidFill>
                <a:latin typeface="+mn-lt"/>
              </a:defRPr>
            </a:pPr>
            <a:r>
              <a:rPr sz="1200" b="0" i="0" u="none" strike="noStrike">
                <a:solidFill>
                  <a:srgbClr val="10243A"/>
                </a:solidFill>
                <a:latin typeface="+mn-lt"/>
              </a:rPr>
              <a:t>Permutation importance (gradient boosting)</a:t>
            </a:r>
          </a:p>
        </c:rich>
      </c:tx>
      <c:layout/>
      <c:overlay val="0"/>
    </c:title>
    <c:autoTitleDeleted val="0"/>
    <c:plotArea>
      <c:layout/>
      <c:barChart>
        <c:barDir val="bar"/>
        <c:grouping val="clustered"/>
        <c:varyColors val="0"/>
        <c:ser>
          <c:idx val="0"/>
          <c:order val="0"/>
          <c:tx>
            <c:strRef>
              <c:f>Sheet1!$B$1</c:f>
              <c:strCache>
                <c:ptCount val="1"/>
                <c:pt idx="0">
                  <c:v>Mean AP drop</c:v>
                </c:pt>
              </c:strCache>
            </c:strRef>
          </c:tx>
          <c:spPr>
            <a:solidFill>
              <a:srgbClr val="0F766E"/>
            </a:solidFill>
            <a:effectLst/>
          </c:spPr>
          <c:invertIfNegative val="0"/>
          <c:dLbls>
            <c:numFmt formatCode="0.000"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cat>
            <c:multiLvlStrRef>
              <c:f>Sheet1!$A$2:$A$6</c:f>
              <c:multiLvlStrCache>
                <c:ptCount val="5"/>
                <c:lvl>
                  <c:pt idx="0">
                    <c:v>Prior inpatient visits</c:v>
                  </c:pt>
                  <c:pt idx="1">
                    <c:v>Discharge disposition</c:v>
                  </c:pt>
                  <c:pt idx="2">
                    <c:v>Insulin</c:v>
                  </c:pt>
                  <c:pt idx="3">
                    <c:v>Medical specialty</c:v>
                  </c:pt>
                  <c:pt idx="4">
                    <c:v>Primary diagnosis group</c:v>
                  </c:pt>
                </c:lvl>
              </c:multiLvlStrCache>
            </c:multiLvlStrRef>
          </c:cat>
          <c:val>
            <c:numRef>
              <c:f>Sheet1!$B$2:$B$6</c:f>
              <c:numCache>
                <c:formatCode>General</c:formatCode>
                <c:ptCount val="5"/>
                <c:pt idx="0">
                  <c:v>0.0677</c:v>
                </c:pt>
                <c:pt idx="1">
                  <c:v>0.0482</c:v>
                </c:pt>
                <c:pt idx="2">
                  <c:v>0.0048</c:v>
                </c:pt>
                <c:pt idx="3">
                  <c:v>0.0047</c:v>
                </c:pt>
                <c:pt idx="4">
                  <c:v>0.0045</c:v>
                </c:pt>
              </c:numCache>
            </c:numRef>
          </c:val>
        </c:ser>
        <c:dLbls>
          <c:numFmt formatCode="0.000"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0243A"/>
                </a:solidFill>
                <a:latin typeface="+mn-lt"/>
              </a:defRPr>
            </a:pPr>
            <a:endParaRPr lang="en-US"/>
          </a:p>
        </c:txPr>
        <c:crossAx val="2094734552"/>
        <c:crosses val="autoZero"/>
        <c:auto val="1"/>
        <c:lblAlgn val="ctr"/>
        <c:noMultiLvlLbl val="1"/>
      </c:catAx>
      <c:valAx>
        <c:axId val="2094734552"/>
        <c:scaling>
          <c:orientation val="minMax"/>
          <c:max val="0.08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5626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43A"/>
                </a:solidFill>
                <a:latin typeface="+mn-lt"/>
              </a:defRPr>
            </a:pPr>
            <a:r>
              <a:rPr sz="1200" b="0" i="0" u="none" strike="noStrike">
                <a:solidFill>
                  <a:srgbClr val="10243A"/>
                </a:solidFill>
                <a:latin typeface="+mn-lt"/>
              </a:rPr>
              <a:t>Adjusted HbA1c difference (percentage points), 651 complete cases</a:t>
            </a:r>
          </a:p>
        </c:rich>
      </c:tx>
      <c:layout/>
      <c:overlay val="0"/>
    </c:title>
    <c:autoTitleDeleted val="0"/>
    <c:plotArea>
      <c:layout/>
      <c:barChart>
        <c:barDir val="bar"/>
        <c:grouping val="clustered"/>
        <c:varyColors val="0"/>
        <c:ser>
          <c:idx val="0"/>
          <c:order val="0"/>
          <c:tx>
            <c:strRef>
              <c:f>Sheet1!$B$1</c:f>
              <c:strCache>
                <c:ptCount val="1"/>
                <c:pt idx="0">
                  <c:v>HbA1c difference (pp)</c:v>
                </c:pt>
              </c:strCache>
            </c:strRef>
          </c:tx>
          <c:spPr>
            <a:solidFill>
              <a:srgbClr val="3949AB"/>
            </a:solidFill>
            <a:effectLst/>
          </c:spPr>
          <c:invertIfNegative val="0"/>
          <c:dLbls>
            <c:numFmt formatCode="+0.000;-0.000"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dPt>
            <c:idx val="0"/>
            <c:invertIfNegative val="0"/>
            <c:bubble3D val="0"/>
            <c:spPr>
              <a:solidFill>
                <a:srgbClr val="3949AB"/>
              </a:solidFill>
              <a:effectLst/>
            </c:spPr>
          </c:dPt>
          <c:dPt>
            <c:idx val="1"/>
            <c:invertIfNegative val="0"/>
            <c:bubble3D val="0"/>
            <c:spPr>
              <a:solidFill>
                <a:srgbClr val="3949AB"/>
              </a:solidFill>
              <a:effectLst/>
            </c:spPr>
          </c:dPt>
          <c:dPt>
            <c:idx val="2"/>
            <c:invertIfNegative val="0"/>
            <c:bubble3D val="0"/>
            <c:spPr>
              <a:solidFill>
                <a:srgbClr val="3949AB"/>
              </a:solidFill>
              <a:effectLst/>
            </c:spPr>
          </c:dPt>
          <c:dPt>
            <c:idx val="3"/>
            <c:invertIfNegative val="0"/>
            <c:bubble3D val="0"/>
            <c:spPr>
              <a:solidFill>
                <a:srgbClr val="3949AB"/>
              </a:solidFill>
              <a:effectLst/>
            </c:spPr>
          </c:dPt>
          <c:dPt>
            <c:idx val="4"/>
            <c:invertIfNegative val="0"/>
            <c:bubble3D val="0"/>
            <c:spPr>
              <a:solidFill>
                <a:srgbClr val="3949AB"/>
              </a:solidFill>
              <a:effectLst/>
            </c:spPr>
          </c:dPt>
          <c:dPt>
            <c:idx val="5"/>
            <c:invertIfNegative val="0"/>
            <c:bubble3D val="0"/>
            <c:spPr>
              <a:solidFill>
                <a:srgbClr val="3949AB"/>
              </a:solidFill>
              <a:effectLst/>
            </c:spPr>
          </c:dPt>
          <c:cat>
            <c:multiLvlStrRef>
              <c:f>Sheet1!$A$2:$A$7</c:f>
              <c:multiLvlStrCache>
                <c:ptCount val="6"/>
                <c:lvl>
                  <c:pt idx="0">
                    <c:v>Insulin use</c:v>
                  </c:pt>
                  <c:pt idx="1">
                    <c:v>Diabetic pill use</c:v>
                  </c:pt>
                  <c:pt idx="2">
                    <c:v>Usual diabetes professional</c:v>
                  </c:pt>
                  <c:pt idx="3">
                    <c:v>Income-to-poverty (per unit)</c:v>
                  </c:pt>
                  <c:pt idx="4">
                    <c:v>Age (per 10 years)</c:v>
                  </c:pt>
                  <c:pt idx="5">
                    <c:v>Past-year A1C test</c:v>
                  </c:pt>
                </c:lvl>
              </c:multiLvlStrCache>
            </c:multiLvlStrRef>
          </c:cat>
          <c:val>
            <c:numRef>
              <c:f>Sheet1!$B$2:$B$7</c:f>
              <c:numCache>
                <c:formatCode>General</c:formatCode>
                <c:ptCount val="6"/>
                <c:pt idx="0">
                  <c:v>1.136</c:v>
                </c:pt>
                <c:pt idx="1">
                  <c:v>0.595</c:v>
                </c:pt>
                <c:pt idx="2">
                  <c:v>0.067</c:v>
                </c:pt>
                <c:pt idx="3">
                  <c:v>-0.13</c:v>
                </c:pt>
                <c:pt idx="4">
                  <c:v>-0.173</c:v>
                </c:pt>
                <c:pt idx="5">
                  <c:v>-0.258</c:v>
                </c:pt>
              </c:numCache>
            </c:numRef>
          </c:val>
        </c:ser>
        <c:dLbls>
          <c:numFmt formatCode="+0.000;-0.000" sourceLinked="0"/>
          <c:txPr>
            <a:bodyPr/>
            <a:lstStyle/>
            <a:p>
              <a:pPr>
                <a:defRPr b="1" i="0" strike="noStrike" sz="1200" u="none">
                  <a:solidFill>
                    <a:srgbClr val="10243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43A"/>
                </a:solidFill>
                <a:latin typeface="+mn-lt"/>
              </a:defRPr>
            </a:pPr>
            <a:endParaRPr lang="en-US"/>
          </a:p>
        </c:txPr>
        <c:crossAx val="2094734552"/>
        <c:crosses val="autoZero"/>
        <c:auto val="1"/>
        <c:lblAlgn val="ctr"/>
        <c:noMultiLvlLbl val="1"/>
      </c:catAx>
      <c:valAx>
        <c:axId val="2094734552"/>
        <c:scaling>
          <c:orientation val="minMax"/>
          <c:max val="1.5"/>
          <c:min val="-0.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5626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project is Chronic Disease Management Analytics for diabetes. Diabetes care covers treatment, monitoring, access to care and the transition after a hospital stay, but no single dataset records all of that. So instead of forcing everything into one dataset, we ran two separate observational studies. Study A uses the UCI Diabetes 130-US Hospitals data and looks at recorded 30-day hospital readmission. Study B uses NHANES 2017 to 2018 and looks at measured HbA1c, which is a laboratory marker of blood glucose control. I want to stress early that these are different people, different time periods and different designs, so we never merge them at patient level. Today I will walk through why we chose these data, how we cleaned and analysed them, what we found, and, just as importantly, what we cannot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healthcare problem. Managing diabetes is not one event. It is treatment, monitoring, access to doctors and what happens after someone leaves hospital. The data we can actually get only capture slices of this, and they use proxies. For example, we never directly observe whether a patient takes their medicines. So we looked at two outcomes that capture two different slices. Hospital readmission within thirty days is something a hospital system sees and cares about, because it is costly and often a sign of unstable recovery. HbA1c is a lab measure of average blood glucose over about three months, so it tells us about glycemic status in the wider population. Neither one alone proves that management failed, and I will repeat that caveat throughout. Our job is to describe associations carefully, not to claim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framed two research questions, one per study. Research question A asks which recorded factors in the hospital data are associated with early readmission and which help predict it at the time of discharge. Research question B asks which socioeconomic, activity, treatment and monitoring factors are associated with measured HbA1c in adults who report diagnosed diabetes. Notice the units are different. In UCI the unit is a hospital encounter, and the same patient can appear many times. In NHANES the unit is a survey participant, and each person represents many others through survey weights. That difference drives our method choices later. The overall objective is not to build a deployable tool. It is to find which recorded factors carry signal, measure how much predictive power they give, and be honest about what these data cannot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two datasets side by side. On the left, UCI Diabetes 130-US Hospitals, covering 1999 to 2008. The raw file has 101,766 hospital encounters and 50 columns, from about 71,500 unique patients. After our exclusions the analysis cohort is 99,343 encounters from 69,990 patients. Remember, an encounter is a hospital visit, not a person. We chose it because it has a real readmission label and prior utilization counts. Its weakness is that there are no lifestyle or adherence measures. On the right, NHANES 2017 to 2018, a national health survey. It has 9,254 participants, of whom 804 are adults with diagnosed diabetes and a measured HbA1c. The first adjusted model uses 651 of those with complete data. NHANES adds a laboratory endpoint and management context, but it is cross-sectional, so it cannot track readmission. The amber box is the key rule: these are different people, so we do not merge or pool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workflow. We start from the problem and choose datasets, and then the project splits into two lanes. The teal lane is UCI. We audit and clean the raw file, engineer features such as prior visits and medication burden, explore the data and run hypothesis tests, fit an adjusted logistic regression, compare predictive models and finally stress-test the conclusions with robustness checks. The blue lane is NHANES. We acquired six official survey components, cleaned them while tracking why values were missing, built features, produced survey-weighted estimates, fitted a survey-aware regression and ran sensitivity checks. Notice that predictive modelling exists only in the UCI lane. We did not build a predictive model for NHANES. Both lanes then feed into insights and recommendations, and I will be careful to label the recommendations as ideas to evaluate, not tested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cleaning is where we made our key decisions. In UCI we removed 2,423 encounters with expired or hospice discharge codes. That is a scope decision, not a claim that those patients could never return. Weight was missing in 96.86 percent of records, so we dropped it rather than invent values, and we also dropped two drug columns that were constant. Missing values stored as question marks became an explicit Unknown category. Importantly, we kept repeated patients and extreme visit counts, because they are real information about cumulative hospital use. An earlier version of our deck said we imputed race and diagnosis codes with the mode and called Unknown specialty General Doctor. The repository does not do that, so I have corrected it. On the right, the NHANES flow goes from 9,254 people to adults, to those reporting diagnosed diabetes, to 804 with a measured HbA1c, and finally 651 with all predictors. We keep everyone in the file so survey variance is computed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engineering means creating variables that are easier to interpret than raw codes. For UCI we added 15 columns. The target readmitted_30d is one only when the original label is less than thirty days. Total previous visits adds outpatient, emergency and inpatient history. Medication burden bands split the count of inpatient medications into low, moderate and high. We grouped ICD-9 diagnosis codes into four broad groups. One subtle point is that the general medication change flag is not the same as an explicit dose increase or decrease: 19,102 encounters have the change flag without any drug marked up or down, so we keep both. For NHANES we converted glucose checking frequency to a common daily unit, summarised physical activity, and created treatment and care indicators and the HbA1c cut-off flags. Please note that the number of columns is not the number of predictors. IDs, outcomes and survey design fields are never used as predictors.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first look at the UCI results. The overall early readmission rate is 11.39 percent. The strongest pattern is prior inpatient visits. Patients with no previous inpatient visit had an 8.59 percent readmission rate, with one visit 13.25 percent, and with two or more 22.02 percent. That is roughly two and a half times higher. The middle chart shows medication burden: 7.61 percent for low, 10.28 for moderate and 12.70 for high. Careful here: this counts medications given during the stay, not long-term polypharmacy. Age shows a weaker pattern, with the oldest group at 12.47 percent. The intervals in the text are patient-clustered, which means they allow for the same patient appearing several times. These are crude rates with no adjustment, so they motivate the regression on the next slides, but they do not prove that prior visits or medications cause readmission.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hypothesis testing. A key design choice here: patients appear several times in the data, and standard tests assume independent observations. So for the exploratory tests we picked one random encounter per patient, using seed 42, which gives 69,990 encounters. We used chi-square tests for categorical variables and Mann-Whitney U tests for skewed count variables. Where expected cell counts were too small, we withheld the p-value instead of trusting it. Because we ran many tests, we applied the Benjamini-Hochberg correction, which controls the false discovery rate. The table shows adjusted p-values. Prior inpatient history, age, medication burden and insulin are all strongly associated with readmission. Note that number of procedures is not significant, so not everything is. Our earlier deck reported chi-square values like 209.17 for medication burden. Those numbers are arithmetically right but come from all encounters assuming independence, so we now present the patient-level versions. Remember, a very small p-value tells you an association exists, not that it is big.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adjusted analysis. We fitted a logistic regression for thirty-day readmission using all 99,343 encounters, with standard errors clustered by patient. It adjusts for utilization history, medication count, diagnoses, length of stay, age, race, primary diagnosis group, insulin, A1C result and medication change. Each dot is an adjusted odds ratio and the line is its 95 percent confidence interval. One means no association. Prior inpatient visits has an odds ratio of 1.309, interval 1.292 to 1.327. That means each extra prior inpatient visit is associated with about thirty-one percent higher odds, not a thirty-one percentage point jump in probability. Emergency visits, diagnosis count and length of stay are smaller but positive. Age eighty plus is 1.259. Please note the updated values compared with our earlier slide, which showed 1.219 for age eighty plus, because the repository's final specification differs. McFadden pseudo R-squared is just 0.0368, which is typical and does not mean the percentage of variance explained. Medication change at 0.941 looks protective, but the next robustness slide shows it is fragile.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prediction we split by patient, not by encounter. 20 percent of patients, 13,998 of them, were held out, and none of them appear in training, so the model cannot memorise a patient. We compared four things: a constant baseline that predicts the overall rate, the initial logistic model, an expanded regularised logistic model, and histogram gradient boosting. We report ROC-AUC, which measures how well the model ranks readmitted encounters above others and where 0.5 is chance, and average precision, which suits an outcome with only 11 percent positives and has to be compared with prevalence of 0.111. Gradient boosting is best, with AUC 0.668 and average precision 0.226, roughly double the baseline precision. But that is modest. The importance chart shows prior inpatient use and discharge disposition dominate. And we must say: the same holdout was looked at in earlier stages, so these are exploratory internal results. This is not clinically validated and not ready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Study B. We used NHANES with its official survey design: examination weights, strata and primary sampling units. This matters because NHANES oversamples some groups, so a simple average would describe the sample, not the population. With the design, the weighted mean HbA1c among adults with diagnosed diabetes and a measurement is 7.28 percent, interval 7.12 to 7.44, and 23.18 percent have HbA1c of eight or above, interval 19.51 to 27.32. The unweighted mean was 7.40, so weighting does change the picture. The chart is from a Gaussian regression, so coefficients are differences in HbA1c percentage points, not odds ratios. Insulin users have about 1.1 points higher HbA1c and pill users about 0.6 higher, but that is almost certainly because more severe or longer-duration disease gets more treatment. It is not evidence that medicine raises HbA1c. Age and income lean negative but are not strong after multiple-testing correction. With only five residual degrees of freedom, uncertainty is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checks ask whether our conclusions survive different reasonable choices. For UCI we reran the model with one encounter per patient, log-transformed visit counts, a larger adjustment set and a version including hospice discharges. Prior inpatient use stays positive and significant in all of them. By contrast, the medication change association drops to nearly one with one encounter per patient, and its interval includes one with expanded adjustment. So we cannot claim medication changes protect against readmission. For NHANES we ran six Gaussian fits and two logistic cut-off models. Insulin and pill coefficients stay positive and significant in every fit, with stable sizes. Age and income keep their direction but are statistically significant after correction in only two fits each. We also checked that weighted response coverage for HbA1c was about 97.65 percent. Importantly, these checks show stability within our choices. They do not remove confounding or prove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deliberately separates findings from proposals. On the left are results that we can point to in the repository outputs. Prior hospital use is the clearest signal: crude readmission rises from 8.59 to 22.02 percent and the adjusted odds ratio of 1.309 survives every sensitivity check. Discharge disposition also matters for prediction. Prediction is modest overall. In NHANES, the weighted mean HbA1c is 7.28 percent, nearly a quarter of adults in the domain are at or above eight, and treatment flags associate with higher HbA1c because of who gets treated. On the right are ideas, shown in amber, because they are not tested. Case-management outreach, medication reconciliation and coordinated follow-up are reasonable candidates to study for the groups our analysis flags, but this project did not test whether they work. Our old deck had priority protocols with a 48-hour phone call and a 7-day review. Those timings are not supported by data here, so I removed them. And please do not read the NHANES results as advice to change medication.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separate what is done from what is not. In the left column, completed work: the full UCI pipeline from audit to robustness, patient-separated prediction, and the NHANES weighted analysis with sensitivity checks. In the middle, the limitations, which I think are important to say out loud. The data are observational, so confounding is possible. UCI is from 1999 to 2008, has no hospital identifier and no usable dates, and a readmission is not necessarily a failure of diabetes management. A return to another hospital would not appear at all. Our test set was looked at in earlier stages, and we have no external validation. For NHANES, the design is cross-sectional so direction is unclear, the initial model has just 651 people and five residual degrees of freedom, and we did not adjust for item non-response. The right column is future work and is explicitly not done: grouped cross-validation, external validation, calibration and cost analysis, and better data on adherence and continuity of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First, across the hospital data, recorded prior inpatient use is the most consistent signal associated with thirty-day readmission. It has the largest adjusted association, it survives all sensitivity checks, and it leads the predictive rankings, but predictive performance is still modest, with a best AUC of 0.668. Second, NHANES gives a survey-weighted picture: mean HbA1c of 7.28 percent and nearly 23 percent at or above eight, with treatment associations that most likely reflect who receives treatment. Third, and most important, this is an exploratory observational project. We did not build a validated risk score and we did not test any intervention. Our next steps are external validation, calibration and threshold analysis, and data that measures adherence and continuity of care directly.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6F8"/>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0243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640080"/>
            <a:ext cx="8229600" cy="320040"/>
          </a:xfrm>
          <a:prstGeom prst="rect">
            <a:avLst/>
          </a:prstGeom>
          <a:noFill/>
          <a:ln/>
        </p:spPr>
        <p:txBody>
          <a:bodyPr wrap="square" lIns="0" tIns="0" rIns="0" bIns="0" rtlCol="0" anchor="t"/>
          <a:lstStyle/>
          <a:p>
            <a:pPr indent="0" marL="0">
              <a:buNone/>
            </a:pPr>
            <a:r>
              <a:rPr lang="en-US" sz="1300" b="1" dirty="0">
                <a:solidFill>
                  <a:srgbClr val="8FB8B2"/>
                </a:solidFill>
                <a:latin typeface="Calibri" pitchFamily="34" charset="0"/>
                <a:ea typeface="Calibri" pitchFamily="34" charset="-122"/>
                <a:cs typeface="Calibri" pitchFamily="34" charset="-120"/>
              </a:rPr>
              <a:t>FINTECH MDM DATA SCIENCE  ·  HEALTHCARE ANALYTICS</a:t>
            </a:r>
            <a:endParaRPr lang="en-US" sz="1300" dirty="0"/>
          </a:p>
        </p:txBody>
      </p:sp>
      <p:sp>
        <p:nvSpPr>
          <p:cNvPr id="3" name="Text 1"/>
          <p:cNvSpPr txBox="1"/>
          <p:nvPr/>
        </p:nvSpPr>
        <p:spPr>
          <a:xfrm>
            <a:off x="731520" y="1234440"/>
            <a:ext cx="10241280" cy="15544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Chronic Disease Management Analytics: Diabetes</a:t>
            </a:r>
            <a:endParaRPr lang="en-US" sz="4600" dirty="0"/>
          </a:p>
        </p:txBody>
      </p:sp>
      <p:sp>
        <p:nvSpPr>
          <p:cNvPr id="4" name="Text 2"/>
          <p:cNvSpPr txBox="1"/>
          <p:nvPr/>
        </p:nvSpPr>
        <p:spPr>
          <a:xfrm>
            <a:off x="731520" y="2880360"/>
            <a:ext cx="8778240" cy="822960"/>
          </a:xfrm>
          <a:prstGeom prst="rect">
            <a:avLst/>
          </a:prstGeom>
          <a:noFill/>
          <a:ln/>
        </p:spPr>
        <p:txBody>
          <a:bodyPr wrap="square" lIns="0" tIns="0" rIns="0" bIns="0" rtlCol="0" anchor="t"/>
          <a:lstStyle/>
          <a:p>
            <a:pPr indent="0" marL="0">
              <a:buNone/>
            </a:pPr>
            <a:r>
              <a:rPr lang="en-US" sz="2000" dirty="0">
                <a:solidFill>
                  <a:srgbClr val="CFE3E0"/>
                </a:solidFill>
                <a:latin typeface="Calibri" pitchFamily="34" charset="0"/>
                <a:ea typeface="Calibri" pitchFamily="34" charset="-122"/>
                <a:cs typeface="Calibri" pitchFamily="34" charset="-120"/>
              </a:rPr>
              <a:t>Two complementary studies: recorded 30-day hospital readmission (UCI) and measured glycemic status (NHANES)</a:t>
            </a:r>
            <a:endParaRPr lang="en-US" sz="2000" dirty="0"/>
          </a:p>
        </p:txBody>
      </p:sp>
      <p:sp>
        <p:nvSpPr>
          <p:cNvPr id="5" name="Shape 3"/>
          <p:cNvSpPr/>
          <p:nvPr/>
        </p:nvSpPr>
        <p:spPr>
          <a:xfrm>
            <a:off x="731520" y="3931920"/>
            <a:ext cx="3383280" cy="457200"/>
          </a:xfrm>
          <a:prstGeom prst="roundRect">
            <a:avLst>
              <a:gd name="adj" fmla="val 50000"/>
            </a:avLst>
          </a:prstGeom>
          <a:solidFill>
            <a:srgbClr val="0F766E"/>
          </a:solidFill>
          <a:ln w="12700">
            <a:solidFill>
              <a:srgbClr val="0F766E"/>
            </a:solidFill>
            <a:prstDash val="solid"/>
          </a:ln>
        </p:spPr>
      </p:sp>
      <p:sp>
        <p:nvSpPr>
          <p:cNvPr id="6" name="Text 4"/>
          <p:cNvSpPr txBox="1"/>
          <p:nvPr/>
        </p:nvSpPr>
        <p:spPr>
          <a:xfrm>
            <a:off x="731520" y="3931920"/>
            <a:ext cx="33832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Study A · UCI Diabetes 130-US Hospitals</a:t>
            </a:r>
            <a:endParaRPr lang="en-US" sz="1300" dirty="0"/>
          </a:p>
        </p:txBody>
      </p:sp>
      <p:sp>
        <p:nvSpPr>
          <p:cNvPr id="7" name="Shape 5"/>
          <p:cNvSpPr/>
          <p:nvPr/>
        </p:nvSpPr>
        <p:spPr>
          <a:xfrm>
            <a:off x="4297680" y="3931920"/>
            <a:ext cx="3383280" cy="457200"/>
          </a:xfrm>
          <a:prstGeom prst="roundRect">
            <a:avLst>
              <a:gd name="adj" fmla="val 50000"/>
            </a:avLst>
          </a:prstGeom>
          <a:solidFill>
            <a:srgbClr val="3949AB"/>
          </a:solidFill>
          <a:ln w="12700">
            <a:solidFill>
              <a:srgbClr val="3949AB"/>
            </a:solidFill>
            <a:prstDash val="solid"/>
          </a:ln>
        </p:spPr>
      </p:sp>
      <p:sp>
        <p:nvSpPr>
          <p:cNvPr id="8" name="Text 6"/>
          <p:cNvSpPr txBox="1"/>
          <p:nvPr/>
        </p:nvSpPr>
        <p:spPr>
          <a:xfrm>
            <a:off x="4297680" y="3931920"/>
            <a:ext cx="33832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Study B · NHANES 2017–2018</a:t>
            </a:r>
            <a:endParaRPr lang="en-US" sz="1300" dirty="0"/>
          </a:p>
        </p:txBody>
      </p:sp>
      <p:sp>
        <p:nvSpPr>
          <p:cNvPr id="9" name="Text 7"/>
          <p:cNvSpPr txBox="1"/>
          <p:nvPr/>
        </p:nvSpPr>
        <p:spPr>
          <a:xfrm>
            <a:off x="731520" y="4892040"/>
            <a:ext cx="2743200" cy="274320"/>
          </a:xfrm>
          <a:prstGeom prst="rect">
            <a:avLst/>
          </a:prstGeom>
          <a:noFill/>
          <a:ln/>
        </p:spPr>
        <p:txBody>
          <a:bodyPr wrap="square" lIns="0" tIns="0" rIns="0" bIns="0" rtlCol="0" anchor="t"/>
          <a:lstStyle/>
          <a:p>
            <a:pPr indent="0" marL="0">
              <a:buNone/>
            </a:pPr>
            <a:r>
              <a:rPr lang="en-US" sz="1100" b="1" dirty="0">
                <a:solidFill>
                  <a:srgbClr val="8FB8B2"/>
                </a:solidFill>
                <a:latin typeface="Calibri" pitchFamily="34" charset="0"/>
                <a:ea typeface="Calibri" pitchFamily="34" charset="-122"/>
                <a:cs typeface="Calibri" pitchFamily="34" charset="-120"/>
              </a:rPr>
              <a:t>PROJECT TEAM</a:t>
            </a:r>
            <a:endParaRPr lang="en-US" sz="1100" dirty="0"/>
          </a:p>
        </p:txBody>
      </p:sp>
      <p:sp>
        <p:nvSpPr>
          <p:cNvPr id="10" name="Text 8"/>
          <p:cNvSpPr txBox="1"/>
          <p:nvPr/>
        </p:nvSpPr>
        <p:spPr>
          <a:xfrm>
            <a:off x="731520" y="5212080"/>
            <a:ext cx="21031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Aaditya Shirke</a:t>
            </a:r>
            <a:endParaRPr lang="en-US" sz="1500" dirty="0"/>
          </a:p>
        </p:txBody>
      </p:sp>
      <p:sp>
        <p:nvSpPr>
          <p:cNvPr id="11" name="Text 9"/>
          <p:cNvSpPr txBox="1"/>
          <p:nvPr/>
        </p:nvSpPr>
        <p:spPr>
          <a:xfrm>
            <a:off x="731520" y="5504688"/>
            <a:ext cx="2103120" cy="256032"/>
          </a:xfrm>
          <a:prstGeom prst="rect">
            <a:avLst/>
          </a:prstGeom>
          <a:noFill/>
          <a:ln/>
        </p:spPr>
        <p:txBody>
          <a:bodyPr wrap="square" lIns="0" tIns="0" rIns="0" bIns="0" rtlCol="0" anchor="t"/>
          <a:lstStyle/>
          <a:p>
            <a:pPr indent="0" marL="0">
              <a:buNone/>
            </a:pPr>
            <a:r>
              <a:rPr lang="en-US" sz="1200" dirty="0">
                <a:solidFill>
                  <a:srgbClr val="AFC4C0"/>
                </a:solidFill>
                <a:latin typeface="Calibri" pitchFamily="34" charset="0"/>
                <a:ea typeface="Calibri" pitchFamily="34" charset="-122"/>
                <a:cs typeface="Calibri" pitchFamily="34" charset="-120"/>
              </a:rPr>
              <a:t>23610074</a:t>
            </a:r>
            <a:endParaRPr lang="en-US" sz="1200" dirty="0"/>
          </a:p>
        </p:txBody>
      </p:sp>
      <p:sp>
        <p:nvSpPr>
          <p:cNvPr id="12" name="Text 10"/>
          <p:cNvSpPr txBox="1"/>
          <p:nvPr/>
        </p:nvSpPr>
        <p:spPr>
          <a:xfrm>
            <a:off x="2926080" y="5212080"/>
            <a:ext cx="21031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Aditi Mittal</a:t>
            </a:r>
            <a:endParaRPr lang="en-US" sz="1500" dirty="0"/>
          </a:p>
        </p:txBody>
      </p:sp>
      <p:sp>
        <p:nvSpPr>
          <p:cNvPr id="13" name="Text 11"/>
          <p:cNvSpPr txBox="1"/>
          <p:nvPr/>
        </p:nvSpPr>
        <p:spPr>
          <a:xfrm>
            <a:off x="2926080" y="5504688"/>
            <a:ext cx="2103120" cy="256032"/>
          </a:xfrm>
          <a:prstGeom prst="rect">
            <a:avLst/>
          </a:prstGeom>
          <a:noFill/>
          <a:ln/>
        </p:spPr>
        <p:txBody>
          <a:bodyPr wrap="square" lIns="0" tIns="0" rIns="0" bIns="0" rtlCol="0" anchor="t"/>
          <a:lstStyle/>
          <a:p>
            <a:pPr indent="0" marL="0">
              <a:buNone/>
            </a:pPr>
            <a:r>
              <a:rPr lang="en-US" sz="1200" dirty="0">
                <a:solidFill>
                  <a:srgbClr val="AFC4C0"/>
                </a:solidFill>
                <a:latin typeface="Calibri" pitchFamily="34" charset="0"/>
                <a:ea typeface="Calibri" pitchFamily="34" charset="-122"/>
                <a:cs typeface="Calibri" pitchFamily="34" charset="-120"/>
              </a:rPr>
              <a:t>23610067</a:t>
            </a:r>
            <a:endParaRPr lang="en-US" sz="1200" dirty="0"/>
          </a:p>
        </p:txBody>
      </p:sp>
      <p:sp>
        <p:nvSpPr>
          <p:cNvPr id="14" name="Text 12"/>
          <p:cNvSpPr txBox="1"/>
          <p:nvPr/>
        </p:nvSpPr>
        <p:spPr>
          <a:xfrm>
            <a:off x="5120640" y="5212080"/>
            <a:ext cx="21031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Arth Rai</a:t>
            </a:r>
            <a:endParaRPr lang="en-US" sz="1500" dirty="0"/>
          </a:p>
        </p:txBody>
      </p:sp>
      <p:sp>
        <p:nvSpPr>
          <p:cNvPr id="15" name="Text 13"/>
          <p:cNvSpPr txBox="1"/>
          <p:nvPr/>
        </p:nvSpPr>
        <p:spPr>
          <a:xfrm>
            <a:off x="5120640" y="5504688"/>
            <a:ext cx="2103120" cy="256032"/>
          </a:xfrm>
          <a:prstGeom prst="rect">
            <a:avLst/>
          </a:prstGeom>
          <a:noFill/>
          <a:ln/>
        </p:spPr>
        <p:txBody>
          <a:bodyPr wrap="square" lIns="0" tIns="0" rIns="0" bIns="0" rtlCol="0" anchor="t"/>
          <a:lstStyle/>
          <a:p>
            <a:pPr indent="0" marL="0">
              <a:buNone/>
            </a:pPr>
            <a:r>
              <a:rPr lang="en-US" sz="1200" dirty="0">
                <a:solidFill>
                  <a:srgbClr val="AFC4C0"/>
                </a:solidFill>
                <a:latin typeface="Calibri" pitchFamily="34" charset="0"/>
                <a:ea typeface="Calibri" pitchFamily="34" charset="-122"/>
                <a:cs typeface="Calibri" pitchFamily="34" charset="-120"/>
              </a:rPr>
              <a:t>23510076</a:t>
            </a:r>
            <a:endParaRPr lang="en-US" sz="1200" dirty="0"/>
          </a:p>
        </p:txBody>
      </p:sp>
      <p:sp>
        <p:nvSpPr>
          <p:cNvPr id="16" name="Text 14"/>
          <p:cNvSpPr txBox="1"/>
          <p:nvPr/>
        </p:nvSpPr>
        <p:spPr>
          <a:xfrm>
            <a:off x="7315200" y="5212080"/>
            <a:ext cx="21031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Avinash Waykule</a:t>
            </a:r>
            <a:endParaRPr lang="en-US" sz="1500" dirty="0"/>
          </a:p>
        </p:txBody>
      </p:sp>
      <p:sp>
        <p:nvSpPr>
          <p:cNvPr id="17" name="Text 15"/>
          <p:cNvSpPr txBox="1"/>
          <p:nvPr/>
        </p:nvSpPr>
        <p:spPr>
          <a:xfrm>
            <a:off x="7315200" y="5504688"/>
            <a:ext cx="2103120" cy="256032"/>
          </a:xfrm>
          <a:prstGeom prst="rect">
            <a:avLst/>
          </a:prstGeom>
          <a:noFill/>
          <a:ln/>
        </p:spPr>
        <p:txBody>
          <a:bodyPr wrap="square" lIns="0" tIns="0" rIns="0" bIns="0" rtlCol="0" anchor="t"/>
          <a:lstStyle/>
          <a:p>
            <a:pPr indent="0" marL="0">
              <a:buNone/>
            </a:pPr>
            <a:r>
              <a:rPr lang="en-US" sz="1200" dirty="0">
                <a:solidFill>
                  <a:srgbClr val="AFC4C0"/>
                </a:solidFill>
                <a:latin typeface="Calibri" pitchFamily="34" charset="0"/>
                <a:ea typeface="Calibri" pitchFamily="34" charset="-122"/>
                <a:cs typeface="Calibri" pitchFamily="34" charset="-120"/>
              </a:rPr>
              <a:t>23610078</a:t>
            </a:r>
            <a:endParaRPr lang="en-US" sz="1200" dirty="0"/>
          </a:p>
        </p:txBody>
      </p:sp>
      <p:sp>
        <p:nvSpPr>
          <p:cNvPr id="18" name="Text 16"/>
          <p:cNvSpPr txBox="1"/>
          <p:nvPr/>
        </p:nvSpPr>
        <p:spPr>
          <a:xfrm>
            <a:off x="9509760" y="5212080"/>
            <a:ext cx="21031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Pranav Gujar</a:t>
            </a:r>
            <a:endParaRPr lang="en-US" sz="1500" dirty="0"/>
          </a:p>
        </p:txBody>
      </p:sp>
      <p:sp>
        <p:nvSpPr>
          <p:cNvPr id="19" name="Text 17"/>
          <p:cNvSpPr txBox="1"/>
          <p:nvPr/>
        </p:nvSpPr>
        <p:spPr>
          <a:xfrm>
            <a:off x="9509760" y="5504688"/>
            <a:ext cx="2103120" cy="256032"/>
          </a:xfrm>
          <a:prstGeom prst="rect">
            <a:avLst/>
          </a:prstGeom>
          <a:noFill/>
          <a:ln/>
        </p:spPr>
        <p:txBody>
          <a:bodyPr wrap="square" lIns="0" tIns="0" rIns="0" bIns="0" rtlCol="0" anchor="t"/>
          <a:lstStyle/>
          <a:p>
            <a:pPr indent="0" marL="0">
              <a:buNone/>
            </a:pPr>
            <a:r>
              <a:rPr lang="en-US" sz="1200" dirty="0">
                <a:solidFill>
                  <a:srgbClr val="AFC4C0"/>
                </a:solidFill>
                <a:latin typeface="Calibri" pitchFamily="34" charset="0"/>
                <a:ea typeface="Calibri" pitchFamily="34" charset="-122"/>
                <a:cs typeface="Calibri" pitchFamily="34" charset="-120"/>
              </a:rPr>
              <a:t>23510038</a:t>
            </a:r>
            <a:endParaRPr lang="en-US" sz="1200" dirty="0"/>
          </a:p>
        </p:txBody>
      </p:sp>
      <p:sp>
        <p:nvSpPr>
          <p:cNvPr id="20" name="Text 18"/>
          <p:cNvSpPr txBox="1"/>
          <p:nvPr/>
        </p:nvSpPr>
        <p:spPr>
          <a:xfrm>
            <a:off x="731520" y="6126480"/>
            <a:ext cx="10058400" cy="274320"/>
          </a:xfrm>
          <a:prstGeom prst="rect">
            <a:avLst/>
          </a:prstGeom>
          <a:noFill/>
          <a:ln/>
        </p:spPr>
        <p:txBody>
          <a:bodyPr wrap="square" lIns="0" tIns="0" rIns="0" bIns="0" rtlCol="0" anchor="t"/>
          <a:lstStyle/>
          <a:p>
            <a:pPr indent="0" marL="0">
              <a:buNone/>
            </a:pPr>
            <a:r>
              <a:rPr lang="en-US" sz="1200" dirty="0">
                <a:solidFill>
                  <a:srgbClr val="AFC4C0"/>
                </a:solidFill>
                <a:latin typeface="Calibri" pitchFamily="34" charset="0"/>
                <a:ea typeface="Calibri" pitchFamily="34" charset="-122"/>
                <a:cs typeface="Calibri" pitchFamily="34" charset="-120"/>
              </a:rPr>
              <a:t>Department of Information Technology  ·  Walchand College of Engineering, Sangli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Why diabetes management needs more than one lens</a:t>
            </a:r>
            <a:endParaRPr lang="en-US" sz="3000" dirty="0"/>
          </a:p>
        </p:txBody>
      </p:sp>
      <p:sp>
        <p:nvSpPr>
          <p:cNvPr id="3" name="point card"/>
          <p:cNvSpPr/>
          <p:nvPr/>
        </p:nvSpPr>
        <p:spPr>
          <a:xfrm>
            <a:off x="548640" y="1325880"/>
            <a:ext cx="5669280" cy="1371600"/>
          </a:xfrm>
          <a:prstGeom prst="roundRect">
            <a:avLst>
              <a:gd name="adj" fmla="val 5333"/>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4" name="Shape 2"/>
          <p:cNvSpPr/>
          <p:nvPr/>
        </p:nvSpPr>
        <p:spPr>
          <a:xfrm>
            <a:off x="777240" y="1691640"/>
            <a:ext cx="640080" cy="640080"/>
          </a:xfrm>
          <a:prstGeom prst="ellipse">
            <a:avLst/>
          </a:prstGeom>
          <a:solidFill>
            <a:srgbClr val="DCEFEC"/>
          </a:solidFill>
          <a:ln w="12700">
            <a:solidFill>
              <a:srgbClr val="DCEFEC"/>
            </a:solidFill>
            <a:prstDash val="solid"/>
          </a:ln>
        </p:spPr>
      </p:sp>
      <p:sp>
        <p:nvSpPr>
          <p:cNvPr id="5"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2400" b="1" dirty="0">
                <a:solidFill>
                  <a:srgbClr val="0F766E"/>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1645920" y="1508760"/>
            <a:ext cx="4389120" cy="365760"/>
          </a:xfrm>
          <a:prstGeom prst="rect">
            <a:avLst/>
          </a:prstGeom>
          <a:noFill/>
          <a:ln/>
        </p:spPr>
        <p:txBody>
          <a:bodyPr wrap="square" lIns="0" tIns="0" rIns="0" bIns="0" rtlCol="0" anchor="t"/>
          <a:lstStyle/>
          <a:p>
            <a:pPr indent="0" marL="0">
              <a:buNone/>
            </a:pPr>
            <a:r>
              <a:rPr lang="en-US" sz="1800" b="1" dirty="0">
                <a:solidFill>
                  <a:srgbClr val="10243A"/>
                </a:solidFill>
                <a:latin typeface="Calibri" pitchFamily="34" charset="0"/>
                <a:ea typeface="Calibri" pitchFamily="34" charset="-122"/>
                <a:cs typeface="Calibri" pitchFamily="34" charset="-120"/>
              </a:rPr>
              <a:t>Care is a process</a:t>
            </a:r>
            <a:endParaRPr lang="en-US" sz="1800" dirty="0"/>
          </a:p>
        </p:txBody>
      </p:sp>
      <p:sp>
        <p:nvSpPr>
          <p:cNvPr id="7" name="Text 5"/>
          <p:cNvSpPr txBox="1"/>
          <p:nvPr/>
        </p:nvSpPr>
        <p:spPr>
          <a:xfrm>
            <a:off x="1645920" y="1920240"/>
            <a:ext cx="4389120" cy="73152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Treatment, monitoring, access and post-discharge transitions all shape outcomes.</a:t>
            </a:r>
            <a:endParaRPr lang="en-US" sz="1400" dirty="0"/>
          </a:p>
        </p:txBody>
      </p:sp>
      <p:sp>
        <p:nvSpPr>
          <p:cNvPr id="8" name="point card"/>
          <p:cNvSpPr/>
          <p:nvPr/>
        </p:nvSpPr>
        <p:spPr>
          <a:xfrm>
            <a:off x="548640" y="2880360"/>
            <a:ext cx="5669280" cy="1371600"/>
          </a:xfrm>
          <a:prstGeom prst="roundRect">
            <a:avLst>
              <a:gd name="adj" fmla="val 5333"/>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9" name="Shape 7"/>
          <p:cNvSpPr/>
          <p:nvPr/>
        </p:nvSpPr>
        <p:spPr>
          <a:xfrm>
            <a:off x="777240" y="3246120"/>
            <a:ext cx="640080" cy="640080"/>
          </a:xfrm>
          <a:prstGeom prst="ellipse">
            <a:avLst/>
          </a:prstGeom>
          <a:solidFill>
            <a:srgbClr val="DCEFEC"/>
          </a:solidFill>
          <a:ln w="12700">
            <a:solidFill>
              <a:srgbClr val="DCEFEC"/>
            </a:solidFill>
            <a:prstDash val="solid"/>
          </a:ln>
        </p:spPr>
      </p:sp>
      <p:sp>
        <p:nvSpPr>
          <p:cNvPr id="10" name="Text 8"/>
          <p:cNvSpPr txBox="1"/>
          <p:nvPr/>
        </p:nvSpPr>
        <p:spPr>
          <a:xfrm>
            <a:off x="777240" y="3246120"/>
            <a:ext cx="640080" cy="640080"/>
          </a:xfrm>
          <a:prstGeom prst="rect">
            <a:avLst/>
          </a:prstGeom>
          <a:noFill/>
          <a:ln/>
        </p:spPr>
        <p:txBody>
          <a:bodyPr wrap="square" lIns="0" tIns="0" rIns="0" bIns="0" rtlCol="0" anchor="ctr"/>
          <a:lstStyle/>
          <a:p>
            <a:pPr algn="ctr" indent="0" marL="0">
              <a:buNone/>
            </a:pPr>
            <a:r>
              <a:rPr lang="en-US" sz="2400" b="1" dirty="0">
                <a:solidFill>
                  <a:srgbClr val="0F766E"/>
                </a:solidFill>
                <a:latin typeface="Cambria" pitchFamily="34" charset="0"/>
                <a:ea typeface="Cambria" pitchFamily="34" charset="-122"/>
                <a:cs typeface="Cambria" pitchFamily="34" charset="-120"/>
              </a:rPr>
              <a:t>2</a:t>
            </a:r>
            <a:endParaRPr lang="en-US" sz="2400" dirty="0"/>
          </a:p>
        </p:txBody>
      </p:sp>
      <p:sp>
        <p:nvSpPr>
          <p:cNvPr id="11" name="Text 9"/>
          <p:cNvSpPr txBox="1"/>
          <p:nvPr/>
        </p:nvSpPr>
        <p:spPr>
          <a:xfrm>
            <a:off x="1645920" y="3063240"/>
            <a:ext cx="4389120" cy="365760"/>
          </a:xfrm>
          <a:prstGeom prst="rect">
            <a:avLst/>
          </a:prstGeom>
          <a:noFill/>
          <a:ln/>
        </p:spPr>
        <p:txBody>
          <a:bodyPr wrap="square" lIns="0" tIns="0" rIns="0" bIns="0" rtlCol="0" anchor="t"/>
          <a:lstStyle/>
          <a:p>
            <a:pPr indent="0" marL="0">
              <a:buNone/>
            </a:pPr>
            <a:r>
              <a:rPr lang="en-US" sz="1800" b="1" dirty="0">
                <a:solidFill>
                  <a:srgbClr val="10243A"/>
                </a:solidFill>
                <a:latin typeface="Calibri" pitchFamily="34" charset="0"/>
                <a:ea typeface="Calibri" pitchFamily="34" charset="-122"/>
                <a:cs typeface="Calibri" pitchFamily="34" charset="-120"/>
              </a:rPr>
              <a:t>Records are partial</a:t>
            </a:r>
            <a:endParaRPr lang="en-US" sz="1800" dirty="0"/>
          </a:p>
        </p:txBody>
      </p:sp>
      <p:sp>
        <p:nvSpPr>
          <p:cNvPr id="12" name="Text 10"/>
          <p:cNvSpPr txBox="1"/>
          <p:nvPr/>
        </p:nvSpPr>
        <p:spPr>
          <a:xfrm>
            <a:off x="1645920" y="3474720"/>
            <a:ext cx="4389120" cy="73152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Each dataset captures only part of that process, with proxies instead of true adherence or lifestyle.</a:t>
            </a:r>
            <a:endParaRPr lang="en-US" sz="1400" dirty="0"/>
          </a:p>
        </p:txBody>
      </p:sp>
      <p:sp>
        <p:nvSpPr>
          <p:cNvPr id="13" name="point card"/>
          <p:cNvSpPr/>
          <p:nvPr/>
        </p:nvSpPr>
        <p:spPr>
          <a:xfrm>
            <a:off x="548640" y="4434840"/>
            <a:ext cx="5669280" cy="1371600"/>
          </a:xfrm>
          <a:prstGeom prst="roundRect">
            <a:avLst>
              <a:gd name="adj" fmla="val 5333"/>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14" name="Shape 12"/>
          <p:cNvSpPr/>
          <p:nvPr/>
        </p:nvSpPr>
        <p:spPr>
          <a:xfrm>
            <a:off x="777240" y="4800600"/>
            <a:ext cx="640080" cy="640080"/>
          </a:xfrm>
          <a:prstGeom prst="ellipse">
            <a:avLst/>
          </a:prstGeom>
          <a:solidFill>
            <a:srgbClr val="DCEFEC"/>
          </a:solidFill>
          <a:ln w="12700">
            <a:solidFill>
              <a:srgbClr val="DCEFEC"/>
            </a:solidFill>
            <a:prstDash val="solid"/>
          </a:ln>
        </p:spPr>
      </p:sp>
      <p:sp>
        <p:nvSpPr>
          <p:cNvPr id="15" name="Text 13"/>
          <p:cNvSpPr txBox="1"/>
          <p:nvPr/>
        </p:nvSpPr>
        <p:spPr>
          <a:xfrm>
            <a:off x="777240" y="4800600"/>
            <a:ext cx="640080" cy="640080"/>
          </a:xfrm>
          <a:prstGeom prst="rect">
            <a:avLst/>
          </a:prstGeom>
          <a:noFill/>
          <a:ln/>
        </p:spPr>
        <p:txBody>
          <a:bodyPr wrap="square" lIns="0" tIns="0" rIns="0" bIns="0" rtlCol="0" anchor="ctr"/>
          <a:lstStyle/>
          <a:p>
            <a:pPr algn="ctr" indent="0" marL="0">
              <a:buNone/>
            </a:pPr>
            <a:r>
              <a:rPr lang="en-US" sz="2400" b="1" dirty="0">
                <a:solidFill>
                  <a:srgbClr val="0F766E"/>
                </a:solidFill>
                <a:latin typeface="Cambria" pitchFamily="34" charset="0"/>
                <a:ea typeface="Cambria" pitchFamily="34" charset="-122"/>
                <a:cs typeface="Cambria" pitchFamily="34" charset="-120"/>
              </a:rPr>
              <a:t>3</a:t>
            </a:r>
            <a:endParaRPr lang="en-US" sz="2400" dirty="0"/>
          </a:p>
        </p:txBody>
      </p:sp>
      <p:sp>
        <p:nvSpPr>
          <p:cNvPr id="16" name="Text 14"/>
          <p:cNvSpPr txBox="1"/>
          <p:nvPr/>
        </p:nvSpPr>
        <p:spPr>
          <a:xfrm>
            <a:off x="1645920" y="4617720"/>
            <a:ext cx="4389120" cy="365760"/>
          </a:xfrm>
          <a:prstGeom prst="rect">
            <a:avLst/>
          </a:prstGeom>
          <a:noFill/>
          <a:ln/>
        </p:spPr>
        <p:txBody>
          <a:bodyPr wrap="square" lIns="0" tIns="0" rIns="0" bIns="0" rtlCol="0" anchor="t"/>
          <a:lstStyle/>
          <a:p>
            <a:pPr indent="0" marL="0">
              <a:buNone/>
            </a:pPr>
            <a:r>
              <a:rPr lang="en-US" sz="1800" b="1" dirty="0">
                <a:solidFill>
                  <a:srgbClr val="10243A"/>
                </a:solidFill>
                <a:latin typeface="Calibri" pitchFamily="34" charset="0"/>
                <a:ea typeface="Calibri" pitchFamily="34" charset="-122"/>
                <a:cs typeface="Calibri" pitchFamily="34" charset="-120"/>
              </a:rPr>
              <a:t>Outcomes differ</a:t>
            </a:r>
            <a:endParaRPr lang="en-US" sz="1800" dirty="0"/>
          </a:p>
        </p:txBody>
      </p:sp>
      <p:sp>
        <p:nvSpPr>
          <p:cNvPr id="17" name="Text 15"/>
          <p:cNvSpPr txBox="1"/>
          <p:nvPr/>
        </p:nvSpPr>
        <p:spPr>
          <a:xfrm>
            <a:off x="1645920" y="5029200"/>
            <a:ext cx="4389120" cy="73152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Readmission and HbA1c answer different questions; neither alone proves poor disease management.</a:t>
            </a:r>
            <a:endParaRPr lang="en-US" sz="1400" dirty="0"/>
          </a:p>
        </p:txBody>
      </p:sp>
      <p:sp>
        <p:nvSpPr>
          <p:cNvPr id="18" name="uci outcome"/>
          <p:cNvSpPr/>
          <p:nvPr/>
        </p:nvSpPr>
        <p:spPr>
          <a:xfrm>
            <a:off x="6583680" y="1325880"/>
            <a:ext cx="5074920" cy="2148840"/>
          </a:xfrm>
          <a:prstGeom prst="roundRect">
            <a:avLst>
              <a:gd name="adj" fmla="val 3404"/>
            </a:avLst>
          </a:prstGeom>
          <a:solidFill>
            <a:srgbClr val="DCEFEC"/>
          </a:solidFill>
          <a:ln w="6350">
            <a:solidFill>
              <a:srgbClr val="D5DCE1"/>
            </a:solidFill>
            <a:prstDash val="solid"/>
          </a:ln>
        </p:spPr>
      </p:sp>
      <p:sp>
        <p:nvSpPr>
          <p:cNvPr id="19" name="Text 17"/>
          <p:cNvSpPr txBox="1"/>
          <p:nvPr/>
        </p:nvSpPr>
        <p:spPr>
          <a:xfrm>
            <a:off x="6812280" y="1481328"/>
            <a:ext cx="4663440" cy="274320"/>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STUDY A · HOSPITAL SYSTEM VIEW</a:t>
            </a:r>
            <a:endParaRPr lang="en-US" sz="1100" dirty="0"/>
          </a:p>
        </p:txBody>
      </p:sp>
      <p:sp>
        <p:nvSpPr>
          <p:cNvPr id="20" name="Text 18"/>
          <p:cNvSpPr txBox="1"/>
          <p:nvPr/>
        </p:nvSpPr>
        <p:spPr>
          <a:xfrm>
            <a:off x="6812280" y="1783080"/>
            <a:ext cx="4663440" cy="411480"/>
          </a:xfrm>
          <a:prstGeom prst="rect">
            <a:avLst/>
          </a:prstGeom>
          <a:noFill/>
          <a:ln/>
        </p:spPr>
        <p:txBody>
          <a:bodyPr wrap="square" lIns="0" tIns="0" rIns="0" bIns="0" rtlCol="0" anchor="t"/>
          <a:lstStyle/>
          <a:p>
            <a:pPr indent="0" marL="0">
              <a:buNone/>
            </a:pPr>
            <a:r>
              <a:rPr lang="en-US" sz="2000" b="1" dirty="0">
                <a:solidFill>
                  <a:srgbClr val="10243A"/>
                </a:solidFill>
                <a:latin typeface="Cambria" pitchFamily="34" charset="0"/>
                <a:ea typeface="Cambria" pitchFamily="34" charset="-122"/>
                <a:cs typeface="Cambria" pitchFamily="34" charset="-120"/>
              </a:rPr>
              <a:t>Recorded readmission within 30 days</a:t>
            </a:r>
            <a:endParaRPr lang="en-US" sz="2000" dirty="0"/>
          </a:p>
        </p:txBody>
      </p:sp>
      <p:sp>
        <p:nvSpPr>
          <p:cNvPr id="21" name="Text 19"/>
          <p:cNvSpPr txBox="1"/>
          <p:nvPr/>
        </p:nvSpPr>
        <p:spPr>
          <a:xfrm>
            <a:off x="6812280" y="2286000"/>
            <a:ext cx="4663440" cy="1097280"/>
          </a:xfrm>
          <a:prstGeom prst="rect">
            <a:avLst/>
          </a:prstGeom>
          <a:noFill/>
          <a:ln/>
        </p:spPr>
        <p:txBody>
          <a:bodyPr wrap="square" lIns="0" tIns="0" rIns="0" bIns="0" rtlCol="0" anchor="t"/>
          <a:lstStyle/>
          <a:p>
            <a:pPr indent="0" marL="0">
              <a:buNone/>
            </a:pPr>
            <a:r>
              <a:rPr lang="en-US" sz="1400" dirty="0">
                <a:solidFill>
                  <a:srgbClr val="10243A"/>
                </a:solidFill>
                <a:latin typeface="Calibri" pitchFamily="34" charset="0"/>
                <a:ea typeface="Calibri" pitchFamily="34" charset="-122"/>
                <a:cs typeface="Calibri" pitchFamily="34" charset="-120"/>
              </a:rPr>
              <a:t>Which recorded patient, treatment and utilization factors are associated with early return, and help predict it at discharge?</a:t>
            </a:r>
            <a:endParaRPr lang="en-US" sz="1400" dirty="0"/>
          </a:p>
        </p:txBody>
      </p:sp>
      <p:sp>
        <p:nvSpPr>
          <p:cNvPr id="22" name="nhanes outcome"/>
          <p:cNvSpPr/>
          <p:nvPr/>
        </p:nvSpPr>
        <p:spPr>
          <a:xfrm>
            <a:off x="6583680" y="3657600"/>
            <a:ext cx="5074920" cy="2148840"/>
          </a:xfrm>
          <a:prstGeom prst="roundRect">
            <a:avLst>
              <a:gd name="adj" fmla="val 3404"/>
            </a:avLst>
          </a:prstGeom>
          <a:solidFill>
            <a:srgbClr val="E3E6F6"/>
          </a:solidFill>
          <a:ln w="6350">
            <a:solidFill>
              <a:srgbClr val="D5DCE1"/>
            </a:solidFill>
            <a:prstDash val="solid"/>
          </a:ln>
        </p:spPr>
      </p:sp>
      <p:sp>
        <p:nvSpPr>
          <p:cNvPr id="23" name="Text 21"/>
          <p:cNvSpPr txBox="1"/>
          <p:nvPr/>
        </p:nvSpPr>
        <p:spPr>
          <a:xfrm>
            <a:off x="6812280" y="3813048"/>
            <a:ext cx="4663440" cy="274320"/>
          </a:xfrm>
          <a:prstGeom prst="rect">
            <a:avLst/>
          </a:prstGeom>
          <a:noFill/>
          <a:ln/>
        </p:spPr>
        <p:txBody>
          <a:bodyPr wrap="square" lIns="0" tIns="0" rIns="0" bIns="0" rtlCol="0" anchor="t"/>
          <a:lstStyle/>
          <a:p>
            <a:pPr indent="0" marL="0">
              <a:buNone/>
            </a:pPr>
            <a:r>
              <a:rPr lang="en-US" sz="1100" b="1" dirty="0">
                <a:solidFill>
                  <a:srgbClr val="3949AB"/>
                </a:solidFill>
                <a:latin typeface="Calibri" pitchFamily="34" charset="0"/>
                <a:ea typeface="Calibri" pitchFamily="34" charset="-122"/>
                <a:cs typeface="Calibri" pitchFamily="34" charset="-120"/>
              </a:rPr>
              <a:t>STUDY B · POPULATION SURVEY VIEW</a:t>
            </a:r>
            <a:endParaRPr lang="en-US" sz="1100" dirty="0"/>
          </a:p>
        </p:txBody>
      </p:sp>
      <p:sp>
        <p:nvSpPr>
          <p:cNvPr id="24" name="Text 22"/>
          <p:cNvSpPr txBox="1"/>
          <p:nvPr/>
        </p:nvSpPr>
        <p:spPr>
          <a:xfrm>
            <a:off x="6812280" y="4114800"/>
            <a:ext cx="4663440" cy="411480"/>
          </a:xfrm>
          <a:prstGeom prst="rect">
            <a:avLst/>
          </a:prstGeom>
          <a:noFill/>
          <a:ln/>
        </p:spPr>
        <p:txBody>
          <a:bodyPr wrap="square" lIns="0" tIns="0" rIns="0" bIns="0" rtlCol="0" anchor="t"/>
          <a:lstStyle/>
          <a:p>
            <a:pPr indent="0" marL="0">
              <a:buNone/>
            </a:pPr>
            <a:r>
              <a:rPr lang="en-US" sz="2000" b="1" dirty="0">
                <a:solidFill>
                  <a:srgbClr val="10243A"/>
                </a:solidFill>
                <a:latin typeface="Cambria" pitchFamily="34" charset="0"/>
                <a:ea typeface="Cambria" pitchFamily="34" charset="-122"/>
                <a:cs typeface="Cambria" pitchFamily="34" charset="-120"/>
              </a:rPr>
              <a:t>Measured HbA1c (glycemic status)</a:t>
            </a:r>
            <a:endParaRPr lang="en-US" sz="2000" dirty="0"/>
          </a:p>
        </p:txBody>
      </p:sp>
      <p:sp>
        <p:nvSpPr>
          <p:cNvPr id="25" name="Text 23"/>
          <p:cNvSpPr txBox="1"/>
          <p:nvPr/>
        </p:nvSpPr>
        <p:spPr>
          <a:xfrm>
            <a:off x="6812280" y="4617720"/>
            <a:ext cx="4663440" cy="1097280"/>
          </a:xfrm>
          <a:prstGeom prst="rect">
            <a:avLst/>
          </a:prstGeom>
          <a:noFill/>
          <a:ln/>
        </p:spPr>
        <p:txBody>
          <a:bodyPr wrap="square" lIns="0" tIns="0" rIns="0" bIns="0" rtlCol="0" anchor="t"/>
          <a:lstStyle/>
          <a:p>
            <a:pPr indent="0" marL="0">
              <a:buNone/>
            </a:pPr>
            <a:r>
              <a:rPr lang="en-US" sz="1400" dirty="0">
                <a:solidFill>
                  <a:srgbClr val="10243A"/>
                </a:solidFill>
                <a:latin typeface="Calibri" pitchFamily="34" charset="0"/>
                <a:ea typeface="Calibri" pitchFamily="34" charset="-122"/>
                <a:cs typeface="Calibri" pitchFamily="34" charset="-120"/>
              </a:rPr>
              <a:t>Which treatment, monitoring, activity and socioeconomic characteristics are associated with measured HbA1c in adults with diagnosed diabetes?</a:t>
            </a:r>
            <a:endParaRPr lang="en-US" sz="1400" dirty="0"/>
          </a:p>
        </p:txBody>
      </p:sp>
      <p:sp>
        <p:nvSpPr>
          <p:cNvPr id="26" name="Text 24"/>
          <p:cNvSpPr txBox="1"/>
          <p:nvPr/>
        </p:nvSpPr>
        <p:spPr>
          <a:xfrm>
            <a:off x="548640" y="5989320"/>
            <a:ext cx="10972800" cy="320040"/>
          </a:xfrm>
          <a:prstGeom prst="rect">
            <a:avLst/>
          </a:prstGeom>
          <a:noFill/>
          <a:ln/>
        </p:spPr>
        <p:txBody>
          <a:bodyPr wrap="square" lIns="0" tIns="0" rIns="0" bIns="0" rtlCol="0" anchor="t"/>
          <a:lstStyle/>
          <a:p>
            <a:pPr indent="0" marL="0">
              <a:buNone/>
            </a:pPr>
            <a:r>
              <a:rPr lang="en-US" sz="1400" i="1" dirty="0">
                <a:solidFill>
                  <a:srgbClr val="55626C"/>
                </a:solidFill>
                <a:latin typeface="Calibri" pitchFamily="34" charset="0"/>
                <a:ea typeface="Calibri" pitchFamily="34" charset="-122"/>
                <a:cs typeface="Calibri" pitchFamily="34" charset="-120"/>
              </a:rPr>
              <a:t>Observational associations only: no causal or intervention claims.</a:t>
            </a:r>
            <a:endParaRPr lang="en-US" sz="14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Objectives and research questions</a:t>
            </a:r>
            <a:endParaRPr lang="en-US" sz="3000" dirty="0"/>
          </a:p>
        </p:txBody>
      </p:sp>
      <p:sp>
        <p:nvSpPr>
          <p:cNvPr id="3" name="rq a"/>
          <p:cNvSpPr/>
          <p:nvPr/>
        </p:nvSpPr>
        <p:spPr>
          <a:xfrm>
            <a:off x="548640" y="1280160"/>
            <a:ext cx="5440680" cy="3246120"/>
          </a:xfrm>
          <a:prstGeom prst="roundRect">
            <a:avLst>
              <a:gd name="adj" fmla="val 2254"/>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4" name="Text 2"/>
          <p:cNvSpPr txBox="1"/>
          <p:nvPr/>
        </p:nvSpPr>
        <p:spPr>
          <a:xfrm>
            <a:off x="777240" y="1444752"/>
            <a:ext cx="2743200"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RQ A · UCI</a:t>
            </a:r>
            <a:endParaRPr lang="en-US" sz="1200" dirty="0"/>
          </a:p>
        </p:txBody>
      </p:sp>
      <p:sp>
        <p:nvSpPr>
          <p:cNvPr id="5" name="Text 3"/>
          <p:cNvSpPr txBox="1"/>
          <p:nvPr/>
        </p:nvSpPr>
        <p:spPr>
          <a:xfrm>
            <a:off x="777240" y="1783080"/>
            <a:ext cx="4983480" cy="1371600"/>
          </a:xfrm>
          <a:prstGeom prst="rect">
            <a:avLst/>
          </a:prstGeom>
          <a:noFill/>
          <a:ln/>
        </p:spPr>
        <p:txBody>
          <a:bodyPr wrap="square" lIns="0" tIns="0" rIns="0" bIns="0" rtlCol="0" anchor="t"/>
          <a:lstStyle/>
          <a:p>
            <a:pPr indent="0" marL="0">
              <a:buNone/>
            </a:pPr>
            <a:r>
              <a:rPr lang="en-US" sz="1800" b="1" dirty="0">
                <a:solidFill>
                  <a:srgbClr val="10243A"/>
                </a:solidFill>
                <a:latin typeface="Cambria" pitchFamily="34" charset="0"/>
                <a:ea typeface="Cambria" pitchFamily="34" charset="-122"/>
                <a:cs typeface="Cambria" pitchFamily="34" charset="-120"/>
              </a:rPr>
              <a:t>Which recorded clinical, treatment, utilization and discharge variables are associated with 30-day readmission, and which help predict it at discharge?</a:t>
            </a:r>
            <a:endParaRPr lang="en-US" sz="1800" dirty="0"/>
          </a:p>
        </p:txBody>
      </p:sp>
      <p:sp>
        <p:nvSpPr>
          <p:cNvPr id="6" name="Text 4"/>
          <p:cNvSpPr txBox="1"/>
          <p:nvPr/>
        </p:nvSpPr>
        <p:spPr>
          <a:xfrm>
            <a:off x="777240" y="3291840"/>
            <a:ext cx="4983480" cy="109728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Unit: hospital encounter (patients repeat)</a:t>
            </a:r>
            <a:endParaRPr lang="en-US" sz="1400" dirty="0"/>
          </a:p>
          <a:p>
            <a:pPr indent="0" marL="0">
              <a:buNone/>
            </a:pPr>
            <a:r>
              <a:rPr lang="en-US" sz="1400" dirty="0">
                <a:solidFill>
                  <a:srgbClr val="55626C"/>
                </a:solidFill>
                <a:latin typeface="Calibri" pitchFamily="34" charset="0"/>
                <a:ea typeface="Calibri" pitchFamily="34" charset="-122"/>
                <a:cs typeface="Calibri" pitchFamily="34" charset="-120"/>
              </a:rPr>
              <a:t>Methods: clustered logistic regression, patient-separated prediction</a:t>
            </a:r>
            <a:endParaRPr lang="en-US" sz="1400" dirty="0"/>
          </a:p>
        </p:txBody>
      </p:sp>
      <p:sp>
        <p:nvSpPr>
          <p:cNvPr id="7" name="rq b"/>
          <p:cNvSpPr/>
          <p:nvPr/>
        </p:nvSpPr>
        <p:spPr>
          <a:xfrm>
            <a:off x="6199632" y="1280160"/>
            <a:ext cx="5440680" cy="3246120"/>
          </a:xfrm>
          <a:prstGeom prst="roundRect">
            <a:avLst>
              <a:gd name="adj" fmla="val 2254"/>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8" name="Text 6"/>
          <p:cNvSpPr txBox="1"/>
          <p:nvPr/>
        </p:nvSpPr>
        <p:spPr>
          <a:xfrm>
            <a:off x="6428232" y="1444752"/>
            <a:ext cx="2743200" cy="274320"/>
          </a:xfrm>
          <a:prstGeom prst="rect">
            <a:avLst/>
          </a:prstGeom>
          <a:noFill/>
          <a:ln/>
        </p:spPr>
        <p:txBody>
          <a:bodyPr wrap="square" lIns="0" tIns="0" rIns="0" bIns="0" rtlCol="0" anchor="t"/>
          <a:lstStyle/>
          <a:p>
            <a:pPr indent="0" marL="0">
              <a:buNone/>
            </a:pPr>
            <a:r>
              <a:rPr lang="en-US" sz="1200" b="1" dirty="0">
                <a:solidFill>
                  <a:srgbClr val="3949AB"/>
                </a:solidFill>
                <a:latin typeface="Calibri" pitchFamily="34" charset="0"/>
                <a:ea typeface="Calibri" pitchFamily="34" charset="-122"/>
                <a:cs typeface="Calibri" pitchFamily="34" charset="-120"/>
              </a:rPr>
              <a:t>RQ B · NHANES</a:t>
            </a:r>
            <a:endParaRPr lang="en-US" sz="1200" dirty="0"/>
          </a:p>
        </p:txBody>
      </p:sp>
      <p:sp>
        <p:nvSpPr>
          <p:cNvPr id="9" name="Text 7"/>
          <p:cNvSpPr txBox="1"/>
          <p:nvPr/>
        </p:nvSpPr>
        <p:spPr>
          <a:xfrm>
            <a:off x="6428232" y="1783080"/>
            <a:ext cx="4983480" cy="1371600"/>
          </a:xfrm>
          <a:prstGeom prst="rect">
            <a:avLst/>
          </a:prstGeom>
          <a:noFill/>
          <a:ln/>
        </p:spPr>
        <p:txBody>
          <a:bodyPr wrap="square" lIns="0" tIns="0" rIns="0" bIns="0" rtlCol="0" anchor="t"/>
          <a:lstStyle/>
          <a:p>
            <a:pPr indent="0" marL="0">
              <a:buNone/>
            </a:pPr>
            <a:r>
              <a:rPr lang="en-US" sz="1800" b="1" dirty="0">
                <a:solidFill>
                  <a:srgbClr val="10243A"/>
                </a:solidFill>
                <a:latin typeface="Cambria" pitchFamily="34" charset="0"/>
                <a:ea typeface="Cambria" pitchFamily="34" charset="-122"/>
                <a:cs typeface="Cambria" pitchFamily="34" charset="-120"/>
              </a:rPr>
              <a:t>Which socioeconomic, activity, treatment and monitoring characteristics are associated with measured HbA1c among adults reporting diagnosed diabetes?</a:t>
            </a:r>
            <a:endParaRPr lang="en-US" sz="1800" dirty="0"/>
          </a:p>
        </p:txBody>
      </p:sp>
      <p:sp>
        <p:nvSpPr>
          <p:cNvPr id="10" name="Text 8"/>
          <p:cNvSpPr txBox="1"/>
          <p:nvPr/>
        </p:nvSpPr>
        <p:spPr>
          <a:xfrm>
            <a:off x="6428232" y="3291840"/>
            <a:ext cx="4983480" cy="109728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Unit: survey participant (weighted, clustered)</a:t>
            </a:r>
            <a:endParaRPr lang="en-US" sz="1400" dirty="0"/>
          </a:p>
          <a:p>
            <a:pPr indent="0" marL="0">
              <a:buNone/>
            </a:pPr>
            <a:r>
              <a:rPr lang="en-US" sz="1400" dirty="0">
                <a:solidFill>
                  <a:srgbClr val="55626C"/>
                </a:solidFill>
                <a:latin typeface="Calibri" pitchFamily="34" charset="0"/>
                <a:ea typeface="Calibri" pitchFamily="34" charset="-122"/>
                <a:cs typeface="Calibri" pitchFamily="34" charset="-120"/>
              </a:rPr>
              <a:t>Methods: survey-weighted estimates, Gaussian regression</a:t>
            </a:r>
            <a:endParaRPr lang="en-US" sz="1400" dirty="0"/>
          </a:p>
        </p:txBody>
      </p:sp>
      <p:sp>
        <p:nvSpPr>
          <p:cNvPr id="11" name="overall objective"/>
          <p:cNvSpPr/>
          <p:nvPr/>
        </p:nvSpPr>
        <p:spPr>
          <a:xfrm>
            <a:off x="548640" y="4754880"/>
            <a:ext cx="11091672" cy="1463040"/>
          </a:xfrm>
          <a:prstGeom prst="roundRect">
            <a:avLst>
              <a:gd name="adj" fmla="val 5000"/>
            </a:avLst>
          </a:prstGeom>
          <a:solidFill>
            <a:srgbClr val="10243A"/>
          </a:solidFill>
          <a:ln w="6350">
            <a:solidFill>
              <a:srgbClr val="D5DCE1"/>
            </a:solidFill>
            <a:prstDash val="solid"/>
          </a:ln>
        </p:spPr>
      </p:sp>
      <p:sp>
        <p:nvSpPr>
          <p:cNvPr id="12" name="Text 10"/>
          <p:cNvSpPr txBox="1"/>
          <p:nvPr/>
        </p:nvSpPr>
        <p:spPr>
          <a:xfrm>
            <a:off x="822960" y="4892040"/>
            <a:ext cx="3657600" cy="274320"/>
          </a:xfrm>
          <a:prstGeom prst="rect">
            <a:avLst/>
          </a:prstGeom>
          <a:noFill/>
          <a:ln/>
        </p:spPr>
        <p:txBody>
          <a:bodyPr wrap="square" lIns="0" tIns="0" rIns="0" bIns="0" rtlCol="0" anchor="t"/>
          <a:lstStyle/>
          <a:p>
            <a:pPr indent="0" marL="0">
              <a:buNone/>
            </a:pPr>
            <a:r>
              <a:rPr lang="en-US" sz="1100" b="1" dirty="0">
                <a:solidFill>
                  <a:srgbClr val="8FB8B2"/>
                </a:solidFill>
                <a:latin typeface="Calibri" pitchFamily="34" charset="0"/>
                <a:ea typeface="Calibri" pitchFamily="34" charset="-122"/>
                <a:cs typeface="Calibri" pitchFamily="34" charset="-120"/>
              </a:rPr>
              <a:t>OVERALL OBJECTIVE</a:t>
            </a:r>
            <a:endParaRPr lang="en-US" sz="1100" dirty="0"/>
          </a:p>
        </p:txBody>
      </p:sp>
      <p:sp>
        <p:nvSpPr>
          <p:cNvPr id="13" name="Text 11"/>
          <p:cNvSpPr txBox="1"/>
          <p:nvPr/>
        </p:nvSpPr>
        <p:spPr>
          <a:xfrm>
            <a:off x="822960" y="5212080"/>
            <a:ext cx="1051560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Identify which recorded factors are associated with each outcome, quantify how well they predict readmission, and separate useful signals from unmeasured mechanisms and unsupported causal claims.</a:t>
            </a:r>
            <a:endParaRPr lang="en-US" sz="16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Two datasets, two designs, never merged</a:t>
            </a:r>
            <a:endParaRPr lang="en-US" sz="3000" dirty="0"/>
          </a:p>
        </p:txBody>
      </p:sp>
      <p:sp>
        <p:nvSpPr>
          <p:cNvPr id="3" name="uci card"/>
          <p:cNvSpPr/>
          <p:nvPr/>
        </p:nvSpPr>
        <p:spPr>
          <a:xfrm>
            <a:off x="548640" y="1234440"/>
            <a:ext cx="5486400" cy="4663440"/>
          </a:xfrm>
          <a:prstGeom prst="roundRect">
            <a:avLst>
              <a:gd name="adj" fmla="val 1569"/>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4" name="Text 2"/>
          <p:cNvSpPr txBox="1"/>
          <p:nvPr/>
        </p:nvSpPr>
        <p:spPr>
          <a:xfrm>
            <a:off x="777240" y="1371600"/>
            <a:ext cx="5029200" cy="274320"/>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STUDY A · UCI DIABETES 130-US HOSPITALS, 1999–2008</a:t>
            </a:r>
            <a:endParaRPr lang="en-US" sz="1100" dirty="0"/>
          </a:p>
        </p:txBody>
      </p:sp>
      <p:sp>
        <p:nvSpPr>
          <p:cNvPr id="5" name="stat"/>
          <p:cNvSpPr/>
          <p:nvPr/>
        </p:nvSpPr>
        <p:spPr>
          <a:xfrm>
            <a:off x="777240" y="1737360"/>
            <a:ext cx="1554480" cy="1188720"/>
          </a:xfrm>
          <a:prstGeom prst="roundRect">
            <a:avLst>
              <a:gd name="adj" fmla="val 6154"/>
            </a:avLst>
          </a:prstGeom>
          <a:solidFill>
            <a:srgbClr val="DCEFEC"/>
          </a:solidFill>
          <a:ln w="6350">
            <a:solidFill>
              <a:srgbClr val="D5DCE1"/>
            </a:solidFill>
            <a:prstDash val="solid"/>
          </a:ln>
        </p:spPr>
      </p:sp>
      <p:sp>
        <p:nvSpPr>
          <p:cNvPr id="6" name="Text 4"/>
          <p:cNvSpPr txBox="1"/>
          <p:nvPr/>
        </p:nvSpPr>
        <p:spPr>
          <a:xfrm>
            <a:off x="914400" y="1828800"/>
            <a:ext cx="1280160" cy="594360"/>
          </a:xfrm>
          <a:prstGeom prst="rect">
            <a:avLst/>
          </a:prstGeom>
          <a:noFill/>
          <a:ln/>
        </p:spPr>
        <p:txBody>
          <a:bodyPr wrap="square" lIns="0" tIns="0" rIns="0" bIns="0" rtlCol="0" anchor="ctr"/>
          <a:lstStyle/>
          <a:p>
            <a:pPr indent="0" marL="0">
              <a:buNone/>
            </a:pPr>
            <a:r>
              <a:rPr lang="en-US" sz="2400" b="1" dirty="0">
                <a:solidFill>
                  <a:srgbClr val="0F766E"/>
                </a:solidFill>
                <a:latin typeface="Cambria" pitchFamily="34" charset="0"/>
                <a:ea typeface="Cambria" pitchFamily="34" charset="-122"/>
                <a:cs typeface="Cambria" pitchFamily="34" charset="-120"/>
              </a:rPr>
              <a:t>101,766</a:t>
            </a:r>
            <a:endParaRPr lang="en-US" sz="2400" dirty="0"/>
          </a:p>
        </p:txBody>
      </p:sp>
      <p:sp>
        <p:nvSpPr>
          <p:cNvPr id="7" name="Text 5"/>
          <p:cNvSpPr txBox="1"/>
          <p:nvPr/>
        </p:nvSpPr>
        <p:spPr>
          <a:xfrm>
            <a:off x="914400" y="2391156"/>
            <a:ext cx="1280160" cy="499262"/>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encounters, 50 columns</a:t>
            </a:r>
            <a:endParaRPr lang="en-US" sz="1200" dirty="0"/>
          </a:p>
        </p:txBody>
      </p:sp>
      <p:sp>
        <p:nvSpPr>
          <p:cNvPr id="8" name="stat"/>
          <p:cNvSpPr/>
          <p:nvPr/>
        </p:nvSpPr>
        <p:spPr>
          <a:xfrm>
            <a:off x="2423160" y="1737360"/>
            <a:ext cx="1554480" cy="1188720"/>
          </a:xfrm>
          <a:prstGeom prst="roundRect">
            <a:avLst>
              <a:gd name="adj" fmla="val 6154"/>
            </a:avLst>
          </a:prstGeom>
          <a:solidFill>
            <a:srgbClr val="DCEFEC"/>
          </a:solidFill>
          <a:ln w="6350">
            <a:solidFill>
              <a:srgbClr val="D5DCE1"/>
            </a:solidFill>
            <a:prstDash val="solid"/>
          </a:ln>
        </p:spPr>
      </p:sp>
      <p:sp>
        <p:nvSpPr>
          <p:cNvPr id="9" name="Text 7"/>
          <p:cNvSpPr txBox="1"/>
          <p:nvPr/>
        </p:nvSpPr>
        <p:spPr>
          <a:xfrm>
            <a:off x="2560320" y="1828800"/>
            <a:ext cx="1280160" cy="594360"/>
          </a:xfrm>
          <a:prstGeom prst="rect">
            <a:avLst/>
          </a:prstGeom>
          <a:noFill/>
          <a:ln/>
        </p:spPr>
        <p:txBody>
          <a:bodyPr wrap="square" lIns="0" tIns="0" rIns="0" bIns="0" rtlCol="0" anchor="ctr"/>
          <a:lstStyle/>
          <a:p>
            <a:pPr indent="0" marL="0">
              <a:buNone/>
            </a:pPr>
            <a:r>
              <a:rPr lang="en-US" sz="2400" b="1" dirty="0">
                <a:solidFill>
                  <a:srgbClr val="0F766E"/>
                </a:solidFill>
                <a:latin typeface="Cambria" pitchFamily="34" charset="0"/>
                <a:ea typeface="Cambria" pitchFamily="34" charset="-122"/>
                <a:cs typeface="Cambria" pitchFamily="34" charset="-120"/>
              </a:rPr>
              <a:t>71,518</a:t>
            </a:r>
            <a:endParaRPr lang="en-US" sz="2400" dirty="0"/>
          </a:p>
        </p:txBody>
      </p:sp>
      <p:sp>
        <p:nvSpPr>
          <p:cNvPr id="10" name="Text 8"/>
          <p:cNvSpPr txBox="1"/>
          <p:nvPr/>
        </p:nvSpPr>
        <p:spPr>
          <a:xfrm>
            <a:off x="2560320" y="2391156"/>
            <a:ext cx="1280160" cy="499262"/>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unique patients (raw)</a:t>
            </a:r>
            <a:endParaRPr lang="en-US" sz="1200" dirty="0"/>
          </a:p>
        </p:txBody>
      </p:sp>
      <p:sp>
        <p:nvSpPr>
          <p:cNvPr id="11" name="stat"/>
          <p:cNvSpPr/>
          <p:nvPr/>
        </p:nvSpPr>
        <p:spPr>
          <a:xfrm>
            <a:off x="4069080" y="1737360"/>
            <a:ext cx="1783080" cy="1188720"/>
          </a:xfrm>
          <a:prstGeom prst="roundRect">
            <a:avLst>
              <a:gd name="adj" fmla="val 6154"/>
            </a:avLst>
          </a:prstGeom>
          <a:solidFill>
            <a:srgbClr val="DCEFEC"/>
          </a:solidFill>
          <a:ln w="6350">
            <a:solidFill>
              <a:srgbClr val="D5DCE1"/>
            </a:solidFill>
            <a:prstDash val="solid"/>
          </a:ln>
        </p:spPr>
      </p:sp>
      <p:sp>
        <p:nvSpPr>
          <p:cNvPr id="12" name="Text 10"/>
          <p:cNvSpPr txBox="1"/>
          <p:nvPr/>
        </p:nvSpPr>
        <p:spPr>
          <a:xfrm>
            <a:off x="4206240" y="1828800"/>
            <a:ext cx="1508760" cy="594360"/>
          </a:xfrm>
          <a:prstGeom prst="rect">
            <a:avLst/>
          </a:prstGeom>
          <a:noFill/>
          <a:ln/>
        </p:spPr>
        <p:txBody>
          <a:bodyPr wrap="square" lIns="0" tIns="0" rIns="0" bIns="0" rtlCol="0" anchor="ctr"/>
          <a:lstStyle/>
          <a:p>
            <a:pPr indent="0" marL="0">
              <a:buNone/>
            </a:pPr>
            <a:r>
              <a:rPr lang="en-US" sz="2400" b="1" dirty="0">
                <a:solidFill>
                  <a:srgbClr val="0F766E"/>
                </a:solidFill>
                <a:latin typeface="Cambria" pitchFamily="34" charset="0"/>
                <a:ea typeface="Cambria" pitchFamily="34" charset="-122"/>
                <a:cs typeface="Cambria" pitchFamily="34" charset="-120"/>
              </a:rPr>
              <a:t>99,343</a:t>
            </a:r>
            <a:endParaRPr lang="en-US" sz="2400" dirty="0"/>
          </a:p>
        </p:txBody>
      </p:sp>
      <p:sp>
        <p:nvSpPr>
          <p:cNvPr id="13" name="Text 11"/>
          <p:cNvSpPr txBox="1"/>
          <p:nvPr/>
        </p:nvSpPr>
        <p:spPr>
          <a:xfrm>
            <a:off x="4206240" y="2391156"/>
            <a:ext cx="1508760" cy="499262"/>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encounters analysed (69,990 pts)</a:t>
            </a:r>
            <a:endParaRPr lang="en-US" sz="1200" dirty="0"/>
          </a:p>
        </p:txBody>
      </p:sp>
      <p:sp>
        <p:nvSpPr>
          <p:cNvPr id="14" name="Text 12"/>
          <p:cNvSpPr txBox="1"/>
          <p:nvPr/>
        </p:nvSpPr>
        <p:spPr>
          <a:xfrm>
            <a:off x="777240" y="306324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Why chosen</a:t>
            </a:r>
            <a:endParaRPr lang="en-US" sz="1400" dirty="0"/>
          </a:p>
        </p:txBody>
      </p:sp>
      <p:sp>
        <p:nvSpPr>
          <p:cNvPr id="15" name="Text 13"/>
          <p:cNvSpPr txBox="1"/>
          <p:nvPr/>
        </p:nvSpPr>
        <p:spPr>
          <a:xfrm>
            <a:off x="777240" y="3364992"/>
            <a:ext cx="5029200" cy="82296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Real hospital encounters with a readmission label, clinical records and prior-utilization counts across 130 hospitals.</a:t>
            </a:r>
            <a:endParaRPr lang="en-US" sz="1400" dirty="0"/>
          </a:p>
        </p:txBody>
      </p:sp>
      <p:sp>
        <p:nvSpPr>
          <p:cNvPr id="16" name="Text 14"/>
          <p:cNvSpPr txBox="1"/>
          <p:nvPr/>
        </p:nvSpPr>
        <p:spPr>
          <a:xfrm>
            <a:off x="777240" y="425196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Outcome</a:t>
            </a:r>
            <a:endParaRPr lang="en-US" sz="1400" dirty="0"/>
          </a:p>
        </p:txBody>
      </p:sp>
      <p:sp>
        <p:nvSpPr>
          <p:cNvPr id="17" name="Text 15"/>
          <p:cNvSpPr txBox="1"/>
          <p:nvPr/>
        </p:nvSpPr>
        <p:spPr>
          <a:xfrm>
            <a:off x="777240" y="4553712"/>
            <a:ext cx="5029200" cy="36576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Recorded readmission within 30 days (11.39%).</a:t>
            </a:r>
            <a:endParaRPr lang="en-US" sz="1400" dirty="0"/>
          </a:p>
        </p:txBody>
      </p:sp>
      <p:sp>
        <p:nvSpPr>
          <p:cNvPr id="18" name="Text 16"/>
          <p:cNvSpPr txBox="1"/>
          <p:nvPr/>
        </p:nvSpPr>
        <p:spPr>
          <a:xfrm>
            <a:off x="777240" y="498348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Gap</a:t>
            </a:r>
            <a:endParaRPr lang="en-US" sz="1400" dirty="0"/>
          </a:p>
        </p:txBody>
      </p:sp>
      <p:sp>
        <p:nvSpPr>
          <p:cNvPr id="19" name="Text 17"/>
          <p:cNvSpPr txBox="1"/>
          <p:nvPr/>
        </p:nvSpPr>
        <p:spPr>
          <a:xfrm>
            <a:off x="777240" y="5285232"/>
            <a:ext cx="5029200" cy="54864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No lifestyle or adherence measures; no hospital ID or usable dates.</a:t>
            </a:r>
            <a:endParaRPr lang="en-US" sz="1400" dirty="0"/>
          </a:p>
        </p:txBody>
      </p:sp>
      <p:sp>
        <p:nvSpPr>
          <p:cNvPr id="20" name="nhanes card"/>
          <p:cNvSpPr/>
          <p:nvPr/>
        </p:nvSpPr>
        <p:spPr>
          <a:xfrm>
            <a:off x="6153912" y="1234440"/>
            <a:ext cx="5486400" cy="4663440"/>
          </a:xfrm>
          <a:prstGeom prst="roundRect">
            <a:avLst>
              <a:gd name="adj" fmla="val 1569"/>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21" name="Text 19"/>
          <p:cNvSpPr txBox="1"/>
          <p:nvPr/>
        </p:nvSpPr>
        <p:spPr>
          <a:xfrm>
            <a:off x="6382512" y="1371600"/>
            <a:ext cx="5029200" cy="274320"/>
          </a:xfrm>
          <a:prstGeom prst="rect">
            <a:avLst/>
          </a:prstGeom>
          <a:noFill/>
          <a:ln/>
        </p:spPr>
        <p:txBody>
          <a:bodyPr wrap="square" lIns="0" tIns="0" rIns="0" bIns="0" rtlCol="0" anchor="t"/>
          <a:lstStyle/>
          <a:p>
            <a:pPr indent="0" marL="0">
              <a:buNone/>
            </a:pPr>
            <a:r>
              <a:rPr lang="en-US" sz="1100" b="1" dirty="0">
                <a:solidFill>
                  <a:srgbClr val="3949AB"/>
                </a:solidFill>
                <a:latin typeface="Calibri" pitchFamily="34" charset="0"/>
                <a:ea typeface="Calibri" pitchFamily="34" charset="-122"/>
                <a:cs typeface="Calibri" pitchFamily="34" charset="-120"/>
              </a:rPr>
              <a:t>STUDY B · NHANES 2017–2018</a:t>
            </a:r>
            <a:endParaRPr lang="en-US" sz="1100" dirty="0"/>
          </a:p>
        </p:txBody>
      </p:sp>
      <p:sp>
        <p:nvSpPr>
          <p:cNvPr id="22" name="stat"/>
          <p:cNvSpPr/>
          <p:nvPr/>
        </p:nvSpPr>
        <p:spPr>
          <a:xfrm>
            <a:off x="6382512" y="1737360"/>
            <a:ext cx="1554480" cy="1188720"/>
          </a:xfrm>
          <a:prstGeom prst="roundRect">
            <a:avLst>
              <a:gd name="adj" fmla="val 6154"/>
            </a:avLst>
          </a:prstGeom>
          <a:solidFill>
            <a:srgbClr val="E3E6F6"/>
          </a:solidFill>
          <a:ln w="6350">
            <a:solidFill>
              <a:srgbClr val="D5DCE1"/>
            </a:solidFill>
            <a:prstDash val="solid"/>
          </a:ln>
        </p:spPr>
      </p:sp>
      <p:sp>
        <p:nvSpPr>
          <p:cNvPr id="23" name="Text 21"/>
          <p:cNvSpPr txBox="1"/>
          <p:nvPr/>
        </p:nvSpPr>
        <p:spPr>
          <a:xfrm>
            <a:off x="6519672" y="1828800"/>
            <a:ext cx="1280160" cy="594360"/>
          </a:xfrm>
          <a:prstGeom prst="rect">
            <a:avLst/>
          </a:prstGeom>
          <a:noFill/>
          <a:ln/>
        </p:spPr>
        <p:txBody>
          <a:bodyPr wrap="square" lIns="0" tIns="0" rIns="0" bIns="0" rtlCol="0" anchor="ctr"/>
          <a:lstStyle/>
          <a:p>
            <a:pPr indent="0" marL="0">
              <a:buNone/>
            </a:pPr>
            <a:r>
              <a:rPr lang="en-US" sz="2400" b="1" dirty="0">
                <a:solidFill>
                  <a:srgbClr val="3949AB"/>
                </a:solidFill>
                <a:latin typeface="Cambria" pitchFamily="34" charset="0"/>
                <a:ea typeface="Cambria" pitchFamily="34" charset="-122"/>
                <a:cs typeface="Cambria" pitchFamily="34" charset="-120"/>
              </a:rPr>
              <a:t>9,254</a:t>
            </a:r>
            <a:endParaRPr lang="en-US" sz="2400" dirty="0"/>
          </a:p>
        </p:txBody>
      </p:sp>
      <p:sp>
        <p:nvSpPr>
          <p:cNvPr id="24" name="Text 22"/>
          <p:cNvSpPr txBox="1"/>
          <p:nvPr/>
        </p:nvSpPr>
        <p:spPr>
          <a:xfrm>
            <a:off x="6519672" y="2391156"/>
            <a:ext cx="1280160" cy="499262"/>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survey participants</a:t>
            </a:r>
            <a:endParaRPr lang="en-US" sz="1200" dirty="0"/>
          </a:p>
        </p:txBody>
      </p:sp>
      <p:sp>
        <p:nvSpPr>
          <p:cNvPr id="25" name="stat"/>
          <p:cNvSpPr/>
          <p:nvPr/>
        </p:nvSpPr>
        <p:spPr>
          <a:xfrm>
            <a:off x="8028432" y="1737360"/>
            <a:ext cx="1554480" cy="1188720"/>
          </a:xfrm>
          <a:prstGeom prst="roundRect">
            <a:avLst>
              <a:gd name="adj" fmla="val 6154"/>
            </a:avLst>
          </a:prstGeom>
          <a:solidFill>
            <a:srgbClr val="E3E6F6"/>
          </a:solidFill>
          <a:ln w="6350">
            <a:solidFill>
              <a:srgbClr val="D5DCE1"/>
            </a:solidFill>
            <a:prstDash val="solid"/>
          </a:ln>
        </p:spPr>
      </p:sp>
      <p:sp>
        <p:nvSpPr>
          <p:cNvPr id="26" name="Text 24"/>
          <p:cNvSpPr txBox="1"/>
          <p:nvPr/>
        </p:nvSpPr>
        <p:spPr>
          <a:xfrm>
            <a:off x="8165592" y="1828800"/>
            <a:ext cx="1280160" cy="594360"/>
          </a:xfrm>
          <a:prstGeom prst="rect">
            <a:avLst/>
          </a:prstGeom>
          <a:noFill/>
          <a:ln/>
        </p:spPr>
        <p:txBody>
          <a:bodyPr wrap="square" lIns="0" tIns="0" rIns="0" bIns="0" rtlCol="0" anchor="ctr"/>
          <a:lstStyle/>
          <a:p>
            <a:pPr indent="0" marL="0">
              <a:buNone/>
            </a:pPr>
            <a:r>
              <a:rPr lang="en-US" sz="2400" b="1" dirty="0">
                <a:solidFill>
                  <a:srgbClr val="3949AB"/>
                </a:solidFill>
                <a:latin typeface="Cambria" pitchFamily="34" charset="0"/>
                <a:ea typeface="Cambria" pitchFamily="34" charset="-122"/>
                <a:cs typeface="Cambria" pitchFamily="34" charset="-120"/>
              </a:rPr>
              <a:t>804</a:t>
            </a:r>
            <a:endParaRPr lang="en-US" sz="2400" dirty="0"/>
          </a:p>
        </p:txBody>
      </p:sp>
      <p:sp>
        <p:nvSpPr>
          <p:cNvPr id="27" name="Text 25"/>
          <p:cNvSpPr txBox="1"/>
          <p:nvPr/>
        </p:nvSpPr>
        <p:spPr>
          <a:xfrm>
            <a:off x="8165592" y="2391156"/>
            <a:ext cx="1280160" cy="499262"/>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adults with diabetes and HbA1c</a:t>
            </a:r>
            <a:endParaRPr lang="en-US" sz="1200" dirty="0"/>
          </a:p>
        </p:txBody>
      </p:sp>
      <p:sp>
        <p:nvSpPr>
          <p:cNvPr id="28" name="stat"/>
          <p:cNvSpPr/>
          <p:nvPr/>
        </p:nvSpPr>
        <p:spPr>
          <a:xfrm>
            <a:off x="9674352" y="1737360"/>
            <a:ext cx="1783080" cy="1188720"/>
          </a:xfrm>
          <a:prstGeom prst="roundRect">
            <a:avLst>
              <a:gd name="adj" fmla="val 6154"/>
            </a:avLst>
          </a:prstGeom>
          <a:solidFill>
            <a:srgbClr val="E3E6F6"/>
          </a:solidFill>
          <a:ln w="6350">
            <a:solidFill>
              <a:srgbClr val="D5DCE1"/>
            </a:solidFill>
            <a:prstDash val="solid"/>
          </a:ln>
        </p:spPr>
      </p:sp>
      <p:sp>
        <p:nvSpPr>
          <p:cNvPr id="29" name="Text 27"/>
          <p:cNvSpPr txBox="1"/>
          <p:nvPr/>
        </p:nvSpPr>
        <p:spPr>
          <a:xfrm>
            <a:off x="9811512" y="1828800"/>
            <a:ext cx="1508760" cy="594360"/>
          </a:xfrm>
          <a:prstGeom prst="rect">
            <a:avLst/>
          </a:prstGeom>
          <a:noFill/>
          <a:ln/>
        </p:spPr>
        <p:txBody>
          <a:bodyPr wrap="square" lIns="0" tIns="0" rIns="0" bIns="0" rtlCol="0" anchor="ctr"/>
          <a:lstStyle/>
          <a:p>
            <a:pPr indent="0" marL="0">
              <a:buNone/>
            </a:pPr>
            <a:r>
              <a:rPr lang="en-US" sz="2400" b="1" dirty="0">
                <a:solidFill>
                  <a:srgbClr val="3949AB"/>
                </a:solidFill>
                <a:latin typeface="Cambria" pitchFamily="34" charset="0"/>
                <a:ea typeface="Cambria" pitchFamily="34" charset="-122"/>
                <a:cs typeface="Cambria" pitchFamily="34" charset="-120"/>
              </a:rPr>
              <a:t>651</a:t>
            </a:r>
            <a:endParaRPr lang="en-US" sz="2400" dirty="0"/>
          </a:p>
        </p:txBody>
      </p:sp>
      <p:sp>
        <p:nvSpPr>
          <p:cNvPr id="30" name="Text 28"/>
          <p:cNvSpPr txBox="1"/>
          <p:nvPr/>
        </p:nvSpPr>
        <p:spPr>
          <a:xfrm>
            <a:off x="9811512" y="2391156"/>
            <a:ext cx="1508760" cy="499262"/>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complete cases in adjusted model</a:t>
            </a:r>
            <a:endParaRPr lang="en-US" sz="1200" dirty="0"/>
          </a:p>
        </p:txBody>
      </p:sp>
      <p:sp>
        <p:nvSpPr>
          <p:cNvPr id="31" name="Text 29"/>
          <p:cNvSpPr txBox="1"/>
          <p:nvPr/>
        </p:nvSpPr>
        <p:spPr>
          <a:xfrm>
            <a:off x="6382512" y="306324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Why chosen</a:t>
            </a:r>
            <a:endParaRPr lang="en-US" sz="1400" dirty="0"/>
          </a:p>
        </p:txBody>
      </p:sp>
      <p:sp>
        <p:nvSpPr>
          <p:cNvPr id="32" name="Text 30"/>
          <p:cNvSpPr txBox="1"/>
          <p:nvPr/>
        </p:nvSpPr>
        <p:spPr>
          <a:xfrm>
            <a:off x="6382512" y="3364992"/>
            <a:ext cx="5029200" cy="82296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Measured HbA1c plus examination, activity, socioeconomic and diabetes-monitoring data in one complete pre-pandemic cycle.</a:t>
            </a:r>
            <a:endParaRPr lang="en-US" sz="1400" dirty="0"/>
          </a:p>
        </p:txBody>
      </p:sp>
      <p:sp>
        <p:nvSpPr>
          <p:cNvPr id="33" name="Text 31"/>
          <p:cNvSpPr txBox="1"/>
          <p:nvPr/>
        </p:nvSpPr>
        <p:spPr>
          <a:xfrm>
            <a:off x="6382512" y="425196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Outcome</a:t>
            </a:r>
            <a:endParaRPr lang="en-US" sz="1400" dirty="0"/>
          </a:p>
        </p:txBody>
      </p:sp>
      <p:sp>
        <p:nvSpPr>
          <p:cNvPr id="34" name="Text 32"/>
          <p:cNvSpPr txBox="1"/>
          <p:nvPr/>
        </p:nvSpPr>
        <p:spPr>
          <a:xfrm>
            <a:off x="6382512" y="4553712"/>
            <a:ext cx="5029200" cy="36576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Continuous HbA1c; secondary flags at ≥8% and ≥7%.</a:t>
            </a:r>
            <a:endParaRPr lang="en-US" sz="1400" dirty="0"/>
          </a:p>
        </p:txBody>
      </p:sp>
      <p:sp>
        <p:nvSpPr>
          <p:cNvPr id="35" name="Text 33"/>
          <p:cNvSpPr txBox="1"/>
          <p:nvPr/>
        </p:nvSpPr>
        <p:spPr>
          <a:xfrm>
            <a:off x="6382512" y="498348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Gap</a:t>
            </a:r>
            <a:endParaRPr lang="en-US" sz="1400" dirty="0"/>
          </a:p>
        </p:txBody>
      </p:sp>
      <p:sp>
        <p:nvSpPr>
          <p:cNvPr id="36" name="Text 34"/>
          <p:cNvSpPr txBox="1"/>
          <p:nvPr/>
        </p:nvSpPr>
        <p:spPr>
          <a:xfrm>
            <a:off x="6382512" y="5285232"/>
            <a:ext cx="5029200" cy="54864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Cross-sectional; no 30-day readmission tracking.</a:t>
            </a:r>
            <a:endParaRPr lang="en-US" sz="1400" dirty="0"/>
          </a:p>
        </p:txBody>
      </p:sp>
      <p:sp>
        <p:nvSpPr>
          <p:cNvPr id="37" name="no merge note"/>
          <p:cNvSpPr/>
          <p:nvPr/>
        </p:nvSpPr>
        <p:spPr>
          <a:xfrm>
            <a:off x="548640" y="6035040"/>
            <a:ext cx="11091672" cy="365760"/>
          </a:xfrm>
          <a:prstGeom prst="roundRect">
            <a:avLst>
              <a:gd name="adj" fmla="val 20000"/>
            </a:avLst>
          </a:prstGeom>
          <a:solidFill>
            <a:srgbClr val="FBF0D9"/>
          </a:solidFill>
          <a:ln w="6350">
            <a:solidFill>
              <a:srgbClr val="D5DCE1"/>
            </a:solidFill>
            <a:prstDash val="solid"/>
          </a:ln>
        </p:spPr>
      </p:sp>
      <p:sp>
        <p:nvSpPr>
          <p:cNvPr id="38" name="Text 36"/>
          <p:cNvSpPr txBox="1"/>
          <p:nvPr/>
        </p:nvSpPr>
        <p:spPr>
          <a:xfrm>
            <a:off x="731520" y="6035040"/>
            <a:ext cx="10789920" cy="3657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Different people, periods and sampling schemes: no patient-level merge, pooled estimate or cross-validation between the studies.</a:t>
            </a:r>
            <a:endParaRPr lang="en-US" sz="13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End-to-end methodology: two analytical branches</a:t>
            </a:r>
            <a:endParaRPr lang="en-US" sz="3000" dirty="0"/>
          </a:p>
        </p:txBody>
      </p:sp>
      <p:sp>
        <p:nvSpPr>
          <p:cNvPr id="3" name="Shape 1"/>
          <p:cNvSpPr/>
          <p:nvPr/>
        </p:nvSpPr>
        <p:spPr>
          <a:xfrm>
            <a:off x="2926080" y="1188720"/>
            <a:ext cx="2651760" cy="594360"/>
          </a:xfrm>
          <a:prstGeom prst="roundRect">
            <a:avLst>
              <a:gd name="adj" fmla="val 12308"/>
            </a:avLst>
          </a:prstGeom>
          <a:solidFill>
            <a:srgbClr val="10243A"/>
          </a:solidFill>
          <a:ln w="12700">
            <a:solidFill>
              <a:srgbClr val="10243A"/>
            </a:solidFill>
            <a:prstDash val="solid"/>
          </a:ln>
        </p:spPr>
      </p:sp>
      <p:sp>
        <p:nvSpPr>
          <p:cNvPr id="4" name="Text 2"/>
          <p:cNvSpPr txBox="1"/>
          <p:nvPr/>
        </p:nvSpPr>
        <p:spPr>
          <a:xfrm>
            <a:off x="2971800" y="1188720"/>
            <a:ext cx="256032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Problem identification</a:t>
            </a:r>
            <a:endParaRPr lang="en-US" sz="1400" dirty="0"/>
          </a:p>
        </p:txBody>
      </p:sp>
      <p:sp>
        <p:nvSpPr>
          <p:cNvPr id="5" name="Text 3"/>
          <p:cNvSpPr txBox="1"/>
          <p:nvPr/>
        </p:nvSpPr>
        <p:spPr>
          <a:xfrm>
            <a:off x="5577840" y="1170432"/>
            <a:ext cx="228600" cy="640080"/>
          </a:xfrm>
          <a:prstGeom prst="rect">
            <a:avLst/>
          </a:prstGeom>
          <a:noFill/>
          <a:ln/>
        </p:spPr>
        <p:txBody>
          <a:bodyPr wrap="square" lIns="0" tIns="0" rIns="0" bIns="0" rtlCol="0" anchor="ctr"/>
          <a:lstStyle/>
          <a:p>
            <a:pPr algn="ctr" indent="0" marL="0">
              <a:buNone/>
            </a:pPr>
            <a:r>
              <a:rPr lang="en-US" sz="2400" b="1" dirty="0">
                <a:solidFill>
                  <a:srgbClr val="55626C"/>
                </a:solidFill>
                <a:latin typeface="Calibri" pitchFamily="34" charset="0"/>
                <a:ea typeface="Calibri" pitchFamily="34" charset="-122"/>
                <a:cs typeface="Calibri" pitchFamily="34" charset="-120"/>
              </a:rPr>
              <a:t>›</a:t>
            </a:r>
            <a:endParaRPr lang="en-US" sz="2400" dirty="0"/>
          </a:p>
        </p:txBody>
      </p:sp>
      <p:sp>
        <p:nvSpPr>
          <p:cNvPr id="6" name="Shape 4"/>
          <p:cNvSpPr/>
          <p:nvPr/>
        </p:nvSpPr>
        <p:spPr>
          <a:xfrm>
            <a:off x="5806440" y="1188720"/>
            <a:ext cx="2651760" cy="594360"/>
          </a:xfrm>
          <a:prstGeom prst="roundRect">
            <a:avLst>
              <a:gd name="adj" fmla="val 12308"/>
            </a:avLst>
          </a:prstGeom>
          <a:solidFill>
            <a:srgbClr val="10243A"/>
          </a:solidFill>
          <a:ln w="12700">
            <a:solidFill>
              <a:srgbClr val="10243A"/>
            </a:solidFill>
            <a:prstDash val="solid"/>
          </a:ln>
        </p:spPr>
      </p:sp>
      <p:sp>
        <p:nvSpPr>
          <p:cNvPr id="7" name="Text 5"/>
          <p:cNvSpPr txBox="1"/>
          <p:nvPr/>
        </p:nvSpPr>
        <p:spPr>
          <a:xfrm>
            <a:off x="5852160" y="1188720"/>
            <a:ext cx="256032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Dataset selection</a:t>
            </a:r>
            <a:endParaRPr lang="en-US" sz="1400" dirty="0"/>
          </a:p>
        </p:txBody>
      </p:sp>
      <p:sp>
        <p:nvSpPr>
          <p:cNvPr id="8" name="Text 6"/>
          <p:cNvSpPr txBox="1"/>
          <p:nvPr/>
        </p:nvSpPr>
        <p:spPr>
          <a:xfrm>
            <a:off x="5806440" y="1783080"/>
            <a:ext cx="548640" cy="27432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548640" y="2103120"/>
            <a:ext cx="11091672" cy="1325880"/>
          </a:xfrm>
          <a:prstGeom prst="roundRect">
            <a:avLst>
              <a:gd name="adj" fmla="val 6897"/>
            </a:avLst>
          </a:prstGeom>
          <a:solidFill>
            <a:srgbClr val="DCEFEC"/>
          </a:solidFill>
          <a:ln w="12700">
            <a:solidFill>
              <a:srgbClr val="DCEFEC"/>
            </a:solidFill>
            <a:prstDash val="solid"/>
          </a:ln>
        </p:spPr>
      </p:sp>
      <p:sp>
        <p:nvSpPr>
          <p:cNvPr id="10" name="Text 8"/>
          <p:cNvSpPr txBox="1"/>
          <p:nvPr/>
        </p:nvSpPr>
        <p:spPr>
          <a:xfrm>
            <a:off x="731520" y="2194560"/>
            <a:ext cx="2743200" cy="274320"/>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STUDY A · UCI (hospital encounters)</a:t>
            </a:r>
            <a:endParaRPr lang="en-US" sz="1100" dirty="0"/>
          </a:p>
        </p:txBody>
      </p:sp>
      <p:sp>
        <p:nvSpPr>
          <p:cNvPr id="11" name="Shape 9"/>
          <p:cNvSpPr/>
          <p:nvPr/>
        </p:nvSpPr>
        <p:spPr>
          <a:xfrm>
            <a:off x="731520" y="2560320"/>
            <a:ext cx="1569720" cy="685800"/>
          </a:xfrm>
          <a:prstGeom prst="roundRect">
            <a:avLst>
              <a:gd name="adj" fmla="val 10667"/>
            </a:avLst>
          </a:prstGeom>
          <a:solidFill>
            <a:srgbClr val="0F766E"/>
          </a:solidFill>
          <a:ln w="12700">
            <a:solidFill>
              <a:srgbClr val="0F766E"/>
            </a:solidFill>
            <a:prstDash val="solid"/>
          </a:ln>
        </p:spPr>
      </p:sp>
      <p:sp>
        <p:nvSpPr>
          <p:cNvPr id="12" name="Text 10"/>
          <p:cNvSpPr txBox="1"/>
          <p:nvPr/>
        </p:nvSpPr>
        <p:spPr>
          <a:xfrm>
            <a:off x="777240" y="2560320"/>
            <a:ext cx="147828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Audit and clean</a:t>
            </a:r>
            <a:endParaRPr lang="en-US" sz="1200" dirty="0"/>
          </a:p>
        </p:txBody>
      </p:sp>
      <p:sp>
        <p:nvSpPr>
          <p:cNvPr id="13" name="Text 11"/>
          <p:cNvSpPr txBox="1"/>
          <p:nvPr/>
        </p:nvSpPr>
        <p:spPr>
          <a:xfrm>
            <a:off x="2301240" y="2560320"/>
            <a:ext cx="256032" cy="685800"/>
          </a:xfrm>
          <a:prstGeom prst="rect">
            <a:avLst/>
          </a:prstGeom>
          <a:noFill/>
          <a:ln/>
        </p:spPr>
        <p:txBody>
          <a:bodyPr wrap="square" lIns="0" tIns="0" rIns="0" bIns="0" rtlCol="0" anchor="ctr"/>
          <a:lstStyle/>
          <a:p>
            <a:pPr algn="ctr" indent="0" marL="0">
              <a:buNone/>
            </a:pPr>
            <a:r>
              <a:rPr lang="en-US" sz="2000" b="1" dirty="0">
                <a:solidFill>
                  <a:srgbClr val="55626C"/>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2557272" y="2560320"/>
            <a:ext cx="1569720" cy="685800"/>
          </a:xfrm>
          <a:prstGeom prst="roundRect">
            <a:avLst>
              <a:gd name="adj" fmla="val 10667"/>
            </a:avLst>
          </a:prstGeom>
          <a:solidFill>
            <a:srgbClr val="0F766E"/>
          </a:solidFill>
          <a:ln w="12700">
            <a:solidFill>
              <a:srgbClr val="0F766E"/>
            </a:solidFill>
            <a:prstDash val="solid"/>
          </a:ln>
        </p:spPr>
      </p:sp>
      <p:sp>
        <p:nvSpPr>
          <p:cNvPr id="15" name="Text 13"/>
          <p:cNvSpPr txBox="1"/>
          <p:nvPr/>
        </p:nvSpPr>
        <p:spPr>
          <a:xfrm>
            <a:off x="2602992" y="2560320"/>
            <a:ext cx="147828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 engineering</a:t>
            </a:r>
            <a:endParaRPr lang="en-US" sz="1200" dirty="0"/>
          </a:p>
        </p:txBody>
      </p:sp>
      <p:sp>
        <p:nvSpPr>
          <p:cNvPr id="16" name="Text 14"/>
          <p:cNvSpPr txBox="1"/>
          <p:nvPr/>
        </p:nvSpPr>
        <p:spPr>
          <a:xfrm>
            <a:off x="4126992" y="2560320"/>
            <a:ext cx="256032" cy="685800"/>
          </a:xfrm>
          <a:prstGeom prst="rect">
            <a:avLst/>
          </a:prstGeom>
          <a:noFill/>
          <a:ln/>
        </p:spPr>
        <p:txBody>
          <a:bodyPr wrap="square" lIns="0" tIns="0" rIns="0" bIns="0" rtlCol="0" anchor="ctr"/>
          <a:lstStyle/>
          <a:p>
            <a:pPr algn="ctr" indent="0" marL="0">
              <a:buNone/>
            </a:pPr>
            <a:r>
              <a:rPr lang="en-US" sz="2000" b="1" dirty="0">
                <a:solidFill>
                  <a:srgbClr val="55626C"/>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4383024" y="2560320"/>
            <a:ext cx="1569720" cy="685800"/>
          </a:xfrm>
          <a:prstGeom prst="roundRect">
            <a:avLst>
              <a:gd name="adj" fmla="val 10667"/>
            </a:avLst>
          </a:prstGeom>
          <a:solidFill>
            <a:srgbClr val="0F766E"/>
          </a:solidFill>
          <a:ln w="12700">
            <a:solidFill>
              <a:srgbClr val="0F766E"/>
            </a:solidFill>
            <a:prstDash val="solid"/>
          </a:ln>
        </p:spPr>
      </p:sp>
      <p:sp>
        <p:nvSpPr>
          <p:cNvPr id="18" name="Text 16"/>
          <p:cNvSpPr txBox="1"/>
          <p:nvPr/>
        </p:nvSpPr>
        <p:spPr>
          <a:xfrm>
            <a:off x="4428744" y="2560320"/>
            <a:ext cx="147828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EDA and hypothesis tests</a:t>
            </a:r>
            <a:endParaRPr lang="en-US" sz="1200" dirty="0"/>
          </a:p>
        </p:txBody>
      </p:sp>
      <p:sp>
        <p:nvSpPr>
          <p:cNvPr id="19" name="Text 17"/>
          <p:cNvSpPr txBox="1"/>
          <p:nvPr/>
        </p:nvSpPr>
        <p:spPr>
          <a:xfrm>
            <a:off x="5952744" y="2560320"/>
            <a:ext cx="256032" cy="685800"/>
          </a:xfrm>
          <a:prstGeom prst="rect">
            <a:avLst/>
          </a:prstGeom>
          <a:noFill/>
          <a:ln/>
        </p:spPr>
        <p:txBody>
          <a:bodyPr wrap="square" lIns="0" tIns="0" rIns="0" bIns="0" rtlCol="0" anchor="ctr"/>
          <a:lstStyle/>
          <a:p>
            <a:pPr algn="ctr" indent="0" marL="0">
              <a:buNone/>
            </a:pPr>
            <a:r>
              <a:rPr lang="en-US" sz="2000" b="1" dirty="0">
                <a:solidFill>
                  <a:srgbClr val="55626C"/>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208776" y="2560320"/>
            <a:ext cx="1569720" cy="685800"/>
          </a:xfrm>
          <a:prstGeom prst="roundRect">
            <a:avLst>
              <a:gd name="adj" fmla="val 10667"/>
            </a:avLst>
          </a:prstGeom>
          <a:solidFill>
            <a:srgbClr val="0F766E"/>
          </a:solidFill>
          <a:ln w="12700">
            <a:solidFill>
              <a:srgbClr val="0F766E"/>
            </a:solidFill>
            <a:prstDash val="solid"/>
          </a:ln>
        </p:spPr>
      </p:sp>
      <p:sp>
        <p:nvSpPr>
          <p:cNvPr id="21" name="Text 19"/>
          <p:cNvSpPr txBox="1"/>
          <p:nvPr/>
        </p:nvSpPr>
        <p:spPr>
          <a:xfrm>
            <a:off x="6254496" y="2560320"/>
            <a:ext cx="147828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Adjusted logistic regression</a:t>
            </a:r>
            <a:endParaRPr lang="en-US" sz="1200" dirty="0"/>
          </a:p>
        </p:txBody>
      </p:sp>
      <p:sp>
        <p:nvSpPr>
          <p:cNvPr id="22" name="Text 20"/>
          <p:cNvSpPr txBox="1"/>
          <p:nvPr/>
        </p:nvSpPr>
        <p:spPr>
          <a:xfrm>
            <a:off x="7778496" y="2560320"/>
            <a:ext cx="256032" cy="685800"/>
          </a:xfrm>
          <a:prstGeom prst="rect">
            <a:avLst/>
          </a:prstGeom>
          <a:noFill/>
          <a:ln/>
        </p:spPr>
        <p:txBody>
          <a:bodyPr wrap="square" lIns="0" tIns="0" rIns="0" bIns="0" rtlCol="0" anchor="ctr"/>
          <a:lstStyle/>
          <a:p>
            <a:pPr algn="ctr" indent="0" marL="0">
              <a:buNone/>
            </a:pPr>
            <a:r>
              <a:rPr lang="en-US" sz="2000" b="1" dirty="0">
                <a:solidFill>
                  <a:srgbClr val="55626C"/>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8034528" y="2560320"/>
            <a:ext cx="1569720" cy="685800"/>
          </a:xfrm>
          <a:prstGeom prst="roundRect">
            <a:avLst>
              <a:gd name="adj" fmla="val 10667"/>
            </a:avLst>
          </a:prstGeom>
          <a:solidFill>
            <a:srgbClr val="0F766E"/>
          </a:solidFill>
          <a:ln w="12700">
            <a:solidFill>
              <a:srgbClr val="0F766E"/>
            </a:solidFill>
            <a:prstDash val="solid"/>
          </a:ln>
        </p:spPr>
      </p:sp>
      <p:sp>
        <p:nvSpPr>
          <p:cNvPr id="24" name="Text 22"/>
          <p:cNvSpPr txBox="1"/>
          <p:nvPr/>
        </p:nvSpPr>
        <p:spPr>
          <a:xfrm>
            <a:off x="8080248" y="2560320"/>
            <a:ext cx="147828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Predictive models</a:t>
            </a:r>
            <a:endParaRPr lang="en-US" sz="1200" dirty="0"/>
          </a:p>
        </p:txBody>
      </p:sp>
      <p:sp>
        <p:nvSpPr>
          <p:cNvPr id="25" name="Text 23"/>
          <p:cNvSpPr txBox="1"/>
          <p:nvPr/>
        </p:nvSpPr>
        <p:spPr>
          <a:xfrm>
            <a:off x="9604248" y="2560320"/>
            <a:ext cx="256032" cy="685800"/>
          </a:xfrm>
          <a:prstGeom prst="rect">
            <a:avLst/>
          </a:prstGeom>
          <a:noFill/>
          <a:ln/>
        </p:spPr>
        <p:txBody>
          <a:bodyPr wrap="square" lIns="0" tIns="0" rIns="0" bIns="0" rtlCol="0" anchor="ctr"/>
          <a:lstStyle/>
          <a:p>
            <a:pPr algn="ctr" indent="0" marL="0">
              <a:buNone/>
            </a:pPr>
            <a:r>
              <a:rPr lang="en-US" sz="2000" b="1" dirty="0">
                <a:solidFill>
                  <a:srgbClr val="55626C"/>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9860280" y="2560320"/>
            <a:ext cx="1569720" cy="685800"/>
          </a:xfrm>
          <a:prstGeom prst="roundRect">
            <a:avLst>
              <a:gd name="adj" fmla="val 10667"/>
            </a:avLst>
          </a:prstGeom>
          <a:solidFill>
            <a:srgbClr val="0F766E"/>
          </a:solidFill>
          <a:ln w="12700">
            <a:solidFill>
              <a:srgbClr val="0F766E"/>
            </a:solidFill>
            <a:prstDash val="solid"/>
          </a:ln>
        </p:spPr>
      </p:sp>
      <p:sp>
        <p:nvSpPr>
          <p:cNvPr id="27" name="Text 25"/>
          <p:cNvSpPr txBox="1"/>
          <p:nvPr/>
        </p:nvSpPr>
        <p:spPr>
          <a:xfrm>
            <a:off x="9906000" y="2560320"/>
            <a:ext cx="147828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Robustness checks</a:t>
            </a:r>
            <a:endParaRPr lang="en-US" sz="1200" dirty="0"/>
          </a:p>
        </p:txBody>
      </p:sp>
      <p:sp>
        <p:nvSpPr>
          <p:cNvPr id="28" name="Shape 26"/>
          <p:cNvSpPr/>
          <p:nvPr/>
        </p:nvSpPr>
        <p:spPr>
          <a:xfrm>
            <a:off x="548640" y="3611880"/>
            <a:ext cx="11091672" cy="1325880"/>
          </a:xfrm>
          <a:prstGeom prst="roundRect">
            <a:avLst>
              <a:gd name="adj" fmla="val 6897"/>
            </a:avLst>
          </a:prstGeom>
          <a:solidFill>
            <a:srgbClr val="E3E6F6"/>
          </a:solidFill>
          <a:ln w="12700">
            <a:solidFill>
              <a:srgbClr val="E3E6F6"/>
            </a:solidFill>
            <a:prstDash val="solid"/>
          </a:ln>
        </p:spPr>
      </p:sp>
      <p:sp>
        <p:nvSpPr>
          <p:cNvPr id="29" name="Text 27"/>
          <p:cNvSpPr txBox="1"/>
          <p:nvPr/>
        </p:nvSpPr>
        <p:spPr>
          <a:xfrm>
            <a:off x="731520" y="3703320"/>
            <a:ext cx="2743200" cy="274320"/>
          </a:xfrm>
          <a:prstGeom prst="rect">
            <a:avLst/>
          </a:prstGeom>
          <a:noFill/>
          <a:ln/>
        </p:spPr>
        <p:txBody>
          <a:bodyPr wrap="square" lIns="0" tIns="0" rIns="0" bIns="0" rtlCol="0" anchor="t"/>
          <a:lstStyle/>
          <a:p>
            <a:pPr indent="0" marL="0">
              <a:buNone/>
            </a:pPr>
            <a:r>
              <a:rPr lang="en-US" sz="1100" b="1" dirty="0">
                <a:solidFill>
                  <a:srgbClr val="3949AB"/>
                </a:solidFill>
                <a:latin typeface="Calibri" pitchFamily="34" charset="0"/>
                <a:ea typeface="Calibri" pitchFamily="34" charset="-122"/>
                <a:cs typeface="Calibri" pitchFamily="34" charset="-120"/>
              </a:rPr>
              <a:t>STUDY B · NHANES (survey participants)</a:t>
            </a:r>
            <a:endParaRPr lang="en-US" sz="1100" dirty="0"/>
          </a:p>
        </p:txBody>
      </p:sp>
      <p:sp>
        <p:nvSpPr>
          <p:cNvPr id="30" name="Shape 28"/>
          <p:cNvSpPr/>
          <p:nvPr/>
        </p:nvSpPr>
        <p:spPr>
          <a:xfrm>
            <a:off x="731520" y="4069080"/>
            <a:ext cx="1934870" cy="685800"/>
          </a:xfrm>
          <a:prstGeom prst="roundRect">
            <a:avLst>
              <a:gd name="adj" fmla="val 10667"/>
            </a:avLst>
          </a:prstGeom>
          <a:solidFill>
            <a:srgbClr val="3949AB"/>
          </a:solidFill>
          <a:ln w="12700">
            <a:solidFill>
              <a:srgbClr val="3949AB"/>
            </a:solidFill>
            <a:prstDash val="solid"/>
          </a:ln>
        </p:spPr>
      </p:sp>
      <p:sp>
        <p:nvSpPr>
          <p:cNvPr id="31" name="Text 29"/>
          <p:cNvSpPr txBox="1"/>
          <p:nvPr/>
        </p:nvSpPr>
        <p:spPr>
          <a:xfrm>
            <a:off x="777240" y="4069080"/>
            <a:ext cx="184343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Acquire six components, audit, clean</a:t>
            </a:r>
            <a:endParaRPr lang="en-US" sz="1200" dirty="0"/>
          </a:p>
        </p:txBody>
      </p:sp>
      <p:sp>
        <p:nvSpPr>
          <p:cNvPr id="32" name="Text 30"/>
          <p:cNvSpPr txBox="1"/>
          <p:nvPr/>
        </p:nvSpPr>
        <p:spPr>
          <a:xfrm>
            <a:off x="2666390" y="4069080"/>
            <a:ext cx="256032" cy="685800"/>
          </a:xfrm>
          <a:prstGeom prst="rect">
            <a:avLst/>
          </a:prstGeom>
          <a:noFill/>
          <a:ln/>
        </p:spPr>
        <p:txBody>
          <a:bodyPr wrap="square" lIns="0" tIns="0" rIns="0" bIns="0" rtlCol="0" anchor="ctr"/>
          <a:lstStyle/>
          <a:p>
            <a:pPr algn="ctr" indent="0" marL="0">
              <a:buNone/>
            </a:pPr>
            <a:r>
              <a:rPr lang="en-US" sz="2000" b="1" dirty="0">
                <a:solidFill>
                  <a:srgbClr val="55626C"/>
                </a:solidFill>
                <a:latin typeface="Calibri" pitchFamily="34" charset="0"/>
                <a:ea typeface="Calibri" pitchFamily="34" charset="-122"/>
                <a:cs typeface="Calibri" pitchFamily="34" charset="-120"/>
              </a:rPr>
              <a:t>›</a:t>
            </a:r>
            <a:endParaRPr lang="en-US" sz="2000" dirty="0"/>
          </a:p>
        </p:txBody>
      </p:sp>
      <p:sp>
        <p:nvSpPr>
          <p:cNvPr id="33" name="Shape 31"/>
          <p:cNvSpPr/>
          <p:nvPr/>
        </p:nvSpPr>
        <p:spPr>
          <a:xfrm>
            <a:off x="2922422" y="4069080"/>
            <a:ext cx="1934870" cy="685800"/>
          </a:xfrm>
          <a:prstGeom prst="roundRect">
            <a:avLst>
              <a:gd name="adj" fmla="val 10667"/>
            </a:avLst>
          </a:prstGeom>
          <a:solidFill>
            <a:srgbClr val="3949AB"/>
          </a:solidFill>
          <a:ln w="12700">
            <a:solidFill>
              <a:srgbClr val="3949AB"/>
            </a:solidFill>
            <a:prstDash val="solid"/>
          </a:ln>
        </p:spPr>
      </p:sp>
      <p:sp>
        <p:nvSpPr>
          <p:cNvPr id="34" name="Text 32"/>
          <p:cNvSpPr txBox="1"/>
          <p:nvPr/>
        </p:nvSpPr>
        <p:spPr>
          <a:xfrm>
            <a:off x="2968142" y="4069080"/>
            <a:ext cx="184343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 engineering</a:t>
            </a:r>
            <a:endParaRPr lang="en-US" sz="1200" dirty="0"/>
          </a:p>
        </p:txBody>
      </p:sp>
      <p:sp>
        <p:nvSpPr>
          <p:cNvPr id="35" name="Text 33"/>
          <p:cNvSpPr txBox="1"/>
          <p:nvPr/>
        </p:nvSpPr>
        <p:spPr>
          <a:xfrm>
            <a:off x="4857293" y="4069080"/>
            <a:ext cx="256032" cy="685800"/>
          </a:xfrm>
          <a:prstGeom prst="rect">
            <a:avLst/>
          </a:prstGeom>
          <a:noFill/>
          <a:ln/>
        </p:spPr>
        <p:txBody>
          <a:bodyPr wrap="square" lIns="0" tIns="0" rIns="0" bIns="0" rtlCol="0" anchor="ctr"/>
          <a:lstStyle/>
          <a:p>
            <a:pPr algn="ctr" indent="0" marL="0">
              <a:buNone/>
            </a:pPr>
            <a:r>
              <a:rPr lang="en-US" sz="2000" b="1" dirty="0">
                <a:solidFill>
                  <a:srgbClr val="55626C"/>
                </a:solidFill>
                <a:latin typeface="Calibri" pitchFamily="34" charset="0"/>
                <a:ea typeface="Calibri" pitchFamily="34" charset="-122"/>
                <a:cs typeface="Calibri" pitchFamily="34" charset="-120"/>
              </a:rPr>
              <a:t>›</a:t>
            </a:r>
            <a:endParaRPr lang="en-US" sz="2000" dirty="0"/>
          </a:p>
        </p:txBody>
      </p:sp>
      <p:sp>
        <p:nvSpPr>
          <p:cNvPr id="36" name="Shape 34"/>
          <p:cNvSpPr/>
          <p:nvPr/>
        </p:nvSpPr>
        <p:spPr>
          <a:xfrm>
            <a:off x="5113325" y="4069080"/>
            <a:ext cx="1934870" cy="685800"/>
          </a:xfrm>
          <a:prstGeom prst="roundRect">
            <a:avLst>
              <a:gd name="adj" fmla="val 10667"/>
            </a:avLst>
          </a:prstGeom>
          <a:solidFill>
            <a:srgbClr val="3949AB"/>
          </a:solidFill>
          <a:ln w="12700">
            <a:solidFill>
              <a:srgbClr val="3949AB"/>
            </a:solidFill>
            <a:prstDash val="solid"/>
          </a:ln>
        </p:spPr>
      </p:sp>
      <p:sp>
        <p:nvSpPr>
          <p:cNvPr id="37" name="Text 35"/>
          <p:cNvSpPr txBox="1"/>
          <p:nvPr/>
        </p:nvSpPr>
        <p:spPr>
          <a:xfrm>
            <a:off x="5159045" y="4069080"/>
            <a:ext cx="184343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Weighted estimates</a:t>
            </a:r>
            <a:endParaRPr lang="en-US" sz="1200" dirty="0"/>
          </a:p>
        </p:txBody>
      </p:sp>
      <p:sp>
        <p:nvSpPr>
          <p:cNvPr id="38" name="Text 36"/>
          <p:cNvSpPr txBox="1"/>
          <p:nvPr/>
        </p:nvSpPr>
        <p:spPr>
          <a:xfrm>
            <a:off x="7048195" y="4069080"/>
            <a:ext cx="256032" cy="685800"/>
          </a:xfrm>
          <a:prstGeom prst="rect">
            <a:avLst/>
          </a:prstGeom>
          <a:noFill/>
          <a:ln/>
        </p:spPr>
        <p:txBody>
          <a:bodyPr wrap="square" lIns="0" tIns="0" rIns="0" bIns="0" rtlCol="0" anchor="ctr"/>
          <a:lstStyle/>
          <a:p>
            <a:pPr algn="ctr" indent="0" marL="0">
              <a:buNone/>
            </a:pPr>
            <a:r>
              <a:rPr lang="en-US" sz="2000" b="1" dirty="0">
                <a:solidFill>
                  <a:srgbClr val="55626C"/>
                </a:solidFill>
                <a:latin typeface="Calibri" pitchFamily="34" charset="0"/>
                <a:ea typeface="Calibri" pitchFamily="34" charset="-122"/>
                <a:cs typeface="Calibri" pitchFamily="34" charset="-120"/>
              </a:rPr>
              <a:t>›</a:t>
            </a:r>
            <a:endParaRPr lang="en-US" sz="2000" dirty="0"/>
          </a:p>
        </p:txBody>
      </p:sp>
      <p:sp>
        <p:nvSpPr>
          <p:cNvPr id="39" name="Shape 37"/>
          <p:cNvSpPr/>
          <p:nvPr/>
        </p:nvSpPr>
        <p:spPr>
          <a:xfrm>
            <a:off x="7304227" y="4069080"/>
            <a:ext cx="1934870" cy="685800"/>
          </a:xfrm>
          <a:prstGeom prst="roundRect">
            <a:avLst>
              <a:gd name="adj" fmla="val 10667"/>
            </a:avLst>
          </a:prstGeom>
          <a:solidFill>
            <a:srgbClr val="3949AB"/>
          </a:solidFill>
          <a:ln w="12700">
            <a:solidFill>
              <a:srgbClr val="3949AB"/>
            </a:solidFill>
            <a:prstDash val="solid"/>
          </a:ln>
        </p:spPr>
      </p:sp>
      <p:sp>
        <p:nvSpPr>
          <p:cNvPr id="40" name="Text 38"/>
          <p:cNvSpPr txBox="1"/>
          <p:nvPr/>
        </p:nvSpPr>
        <p:spPr>
          <a:xfrm>
            <a:off x="7349947" y="4069080"/>
            <a:ext cx="184343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Survey Gaussian regression</a:t>
            </a:r>
            <a:endParaRPr lang="en-US" sz="1200" dirty="0"/>
          </a:p>
        </p:txBody>
      </p:sp>
      <p:sp>
        <p:nvSpPr>
          <p:cNvPr id="41" name="Text 39"/>
          <p:cNvSpPr txBox="1"/>
          <p:nvPr/>
        </p:nvSpPr>
        <p:spPr>
          <a:xfrm>
            <a:off x="9239098" y="4069080"/>
            <a:ext cx="256032" cy="685800"/>
          </a:xfrm>
          <a:prstGeom prst="rect">
            <a:avLst/>
          </a:prstGeom>
          <a:noFill/>
          <a:ln/>
        </p:spPr>
        <p:txBody>
          <a:bodyPr wrap="square" lIns="0" tIns="0" rIns="0" bIns="0" rtlCol="0" anchor="ctr"/>
          <a:lstStyle/>
          <a:p>
            <a:pPr algn="ctr" indent="0" marL="0">
              <a:buNone/>
            </a:pPr>
            <a:r>
              <a:rPr lang="en-US" sz="2000" b="1" dirty="0">
                <a:solidFill>
                  <a:srgbClr val="55626C"/>
                </a:solidFill>
                <a:latin typeface="Calibri" pitchFamily="34" charset="0"/>
                <a:ea typeface="Calibri" pitchFamily="34" charset="-122"/>
                <a:cs typeface="Calibri" pitchFamily="34" charset="-120"/>
              </a:rPr>
              <a:t>›</a:t>
            </a:r>
            <a:endParaRPr lang="en-US" sz="2000" dirty="0"/>
          </a:p>
        </p:txBody>
      </p:sp>
      <p:sp>
        <p:nvSpPr>
          <p:cNvPr id="42" name="Shape 40"/>
          <p:cNvSpPr/>
          <p:nvPr/>
        </p:nvSpPr>
        <p:spPr>
          <a:xfrm>
            <a:off x="9495130" y="4069080"/>
            <a:ext cx="1934870" cy="685800"/>
          </a:xfrm>
          <a:prstGeom prst="roundRect">
            <a:avLst>
              <a:gd name="adj" fmla="val 10667"/>
            </a:avLst>
          </a:prstGeom>
          <a:solidFill>
            <a:srgbClr val="3949AB"/>
          </a:solidFill>
          <a:ln w="12700">
            <a:solidFill>
              <a:srgbClr val="3949AB"/>
            </a:solidFill>
            <a:prstDash val="solid"/>
          </a:ln>
        </p:spPr>
      </p:sp>
      <p:sp>
        <p:nvSpPr>
          <p:cNvPr id="43" name="Text 41"/>
          <p:cNvSpPr txBox="1"/>
          <p:nvPr/>
        </p:nvSpPr>
        <p:spPr>
          <a:xfrm>
            <a:off x="9540850" y="4069080"/>
            <a:ext cx="184343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Robustness checks</a:t>
            </a:r>
            <a:endParaRPr lang="en-US" sz="1200" dirty="0"/>
          </a:p>
        </p:txBody>
      </p:sp>
      <p:sp>
        <p:nvSpPr>
          <p:cNvPr id="44" name="Text 42"/>
          <p:cNvSpPr txBox="1"/>
          <p:nvPr/>
        </p:nvSpPr>
        <p:spPr>
          <a:xfrm>
            <a:off x="5806440" y="4983480"/>
            <a:ext cx="548640" cy="274320"/>
          </a:xfrm>
          <a:prstGeom prst="rect">
            <a:avLst/>
          </a:prstGeom>
          <a:noFill/>
          <a:ln/>
        </p:spPr>
        <p:txBody>
          <a:bodyPr wrap="square" lIns="0" tIns="0" rIns="0" bIns="0" rtlCol="0" anchor="t"/>
          <a:lstStyle/>
          <a:p>
            <a:pPr indent="0" marL="0">
              <a:buNone/>
            </a:pPr>
            <a:r>
              <a:rPr lang="en-US" sz="1400" dirty="0">
                <a:solidFill>
                  <a:srgbClr val="55626C"/>
                </a:solidFill>
                <a:latin typeface="Calibri" pitchFamily="34" charset="0"/>
                <a:ea typeface="Calibri" pitchFamily="34" charset="-122"/>
                <a:cs typeface="Calibri" pitchFamily="34" charset="-120"/>
              </a:rPr>
              <a:t>▼</a:t>
            </a:r>
            <a:endParaRPr lang="en-US" sz="1400" dirty="0"/>
          </a:p>
        </p:txBody>
      </p:sp>
      <p:sp>
        <p:nvSpPr>
          <p:cNvPr id="45" name="Shape 43"/>
          <p:cNvSpPr/>
          <p:nvPr/>
        </p:nvSpPr>
        <p:spPr>
          <a:xfrm>
            <a:off x="2926080" y="5303520"/>
            <a:ext cx="2651760" cy="640080"/>
          </a:xfrm>
          <a:prstGeom prst="roundRect">
            <a:avLst>
              <a:gd name="adj" fmla="val 11429"/>
            </a:avLst>
          </a:prstGeom>
          <a:solidFill>
            <a:srgbClr val="10243A"/>
          </a:solidFill>
          <a:ln w="12700">
            <a:solidFill>
              <a:srgbClr val="10243A"/>
            </a:solidFill>
            <a:prstDash val="solid"/>
          </a:ln>
        </p:spPr>
      </p:sp>
      <p:sp>
        <p:nvSpPr>
          <p:cNvPr id="46" name="Text 44"/>
          <p:cNvSpPr txBox="1"/>
          <p:nvPr/>
        </p:nvSpPr>
        <p:spPr>
          <a:xfrm>
            <a:off x="2971800" y="5303520"/>
            <a:ext cx="25603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Insights</a:t>
            </a:r>
            <a:endParaRPr lang="en-US" sz="1400" dirty="0"/>
          </a:p>
        </p:txBody>
      </p:sp>
      <p:sp>
        <p:nvSpPr>
          <p:cNvPr id="47" name="Text 45"/>
          <p:cNvSpPr txBox="1"/>
          <p:nvPr/>
        </p:nvSpPr>
        <p:spPr>
          <a:xfrm>
            <a:off x="5577840" y="5285232"/>
            <a:ext cx="228600" cy="640080"/>
          </a:xfrm>
          <a:prstGeom prst="rect">
            <a:avLst/>
          </a:prstGeom>
          <a:noFill/>
          <a:ln/>
        </p:spPr>
        <p:txBody>
          <a:bodyPr wrap="square" lIns="0" tIns="0" rIns="0" bIns="0" rtlCol="0" anchor="ctr"/>
          <a:lstStyle/>
          <a:p>
            <a:pPr algn="ctr" indent="0" marL="0">
              <a:buNone/>
            </a:pPr>
            <a:r>
              <a:rPr lang="en-US" sz="2400" b="1" dirty="0">
                <a:solidFill>
                  <a:srgbClr val="55626C"/>
                </a:solidFill>
                <a:latin typeface="Calibri" pitchFamily="34" charset="0"/>
                <a:ea typeface="Calibri" pitchFamily="34" charset="-122"/>
                <a:cs typeface="Calibri" pitchFamily="34" charset="-120"/>
              </a:rPr>
              <a:t>›</a:t>
            </a:r>
            <a:endParaRPr lang="en-US" sz="2400" dirty="0"/>
          </a:p>
        </p:txBody>
      </p:sp>
      <p:sp>
        <p:nvSpPr>
          <p:cNvPr id="48" name="Shape 46"/>
          <p:cNvSpPr/>
          <p:nvPr/>
        </p:nvSpPr>
        <p:spPr>
          <a:xfrm>
            <a:off x="5806440" y="5303520"/>
            <a:ext cx="2651760" cy="640080"/>
          </a:xfrm>
          <a:prstGeom prst="roundRect">
            <a:avLst>
              <a:gd name="adj" fmla="val 11429"/>
            </a:avLst>
          </a:prstGeom>
          <a:solidFill>
            <a:srgbClr val="10243A"/>
          </a:solidFill>
          <a:ln w="12700">
            <a:solidFill>
              <a:srgbClr val="10243A"/>
            </a:solidFill>
            <a:prstDash val="solid"/>
          </a:ln>
        </p:spPr>
      </p:sp>
      <p:sp>
        <p:nvSpPr>
          <p:cNvPr id="49" name="Text 47"/>
          <p:cNvSpPr txBox="1"/>
          <p:nvPr/>
        </p:nvSpPr>
        <p:spPr>
          <a:xfrm>
            <a:off x="5852160" y="5303520"/>
            <a:ext cx="25603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Recommendations (to be evaluated)</a:t>
            </a:r>
            <a:endParaRPr lang="en-US" sz="1400" dirty="0"/>
          </a:p>
        </p:txBody>
      </p:sp>
      <p:sp>
        <p:nvSpPr>
          <p:cNvPr id="50" name="Text 48"/>
          <p:cNvSpPr txBox="1"/>
          <p:nvPr/>
        </p:nvSpPr>
        <p:spPr>
          <a:xfrm>
            <a:off x="548640" y="6446520"/>
            <a:ext cx="10515600" cy="274320"/>
          </a:xfrm>
          <a:prstGeom prst="rect">
            <a:avLst/>
          </a:prstGeom>
          <a:noFill/>
          <a:ln/>
        </p:spPr>
        <p:txBody>
          <a:bodyPr wrap="square" lIns="0" tIns="0" rIns="0" bIns="0" rtlCol="0" anchor="t"/>
          <a:lstStyle/>
          <a:p>
            <a:pPr indent="0" marL="0">
              <a:buNone/>
            </a:pPr>
            <a:r>
              <a:rPr lang="en-US" sz="1000" dirty="0">
                <a:solidFill>
                  <a:srgbClr val="55626C"/>
                </a:solidFill>
                <a:latin typeface="Calibri" pitchFamily="34" charset="0"/>
                <a:ea typeface="Calibri" pitchFamily="34" charset="-122"/>
                <a:cs typeface="Calibri" pitchFamily="34" charset="-120"/>
              </a:rPr>
              <a:t>Source: repository pipeline stages 01–06 for each study. Predictive modelling was performed for UCI only.</a:t>
            </a:r>
            <a:endParaRPr lang="en-US" sz="10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Data cleaning: what was removed, kept and why</a:t>
            </a:r>
            <a:endParaRPr lang="en-US" sz="3000" dirty="0"/>
          </a:p>
        </p:txBody>
      </p:sp>
      <p:sp>
        <p:nvSpPr>
          <p:cNvPr id="3" name="Text 1"/>
          <p:cNvSpPr txBox="1"/>
          <p:nvPr/>
        </p:nvSpPr>
        <p:spPr>
          <a:xfrm>
            <a:off x="548640" y="1188720"/>
            <a:ext cx="2743200"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STUDY A · UCI</a:t>
            </a:r>
            <a:endParaRPr lang="en-US" sz="1200" dirty="0"/>
          </a:p>
        </p:txBody>
      </p:sp>
      <p:sp>
        <p:nvSpPr>
          <p:cNvPr id="4" name="stat"/>
          <p:cNvSpPr/>
          <p:nvPr/>
        </p:nvSpPr>
        <p:spPr>
          <a:xfrm>
            <a:off x="548640" y="1508760"/>
            <a:ext cx="1828800" cy="1097280"/>
          </a:xfrm>
          <a:prstGeom prst="roundRect">
            <a:avLst>
              <a:gd name="adj" fmla="val 6667"/>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5" name="Text 3"/>
          <p:cNvSpPr txBox="1"/>
          <p:nvPr/>
        </p:nvSpPr>
        <p:spPr>
          <a:xfrm>
            <a:off x="685800" y="1600200"/>
            <a:ext cx="1554480" cy="548640"/>
          </a:xfrm>
          <a:prstGeom prst="rect">
            <a:avLst/>
          </a:prstGeom>
          <a:noFill/>
          <a:ln/>
        </p:spPr>
        <p:txBody>
          <a:bodyPr wrap="square" lIns="0" tIns="0" rIns="0" bIns="0" rtlCol="0" anchor="ctr"/>
          <a:lstStyle/>
          <a:p>
            <a:pPr indent="0" marL="0">
              <a:buNone/>
            </a:pPr>
            <a:r>
              <a:rPr lang="en-US" sz="2600" b="1" dirty="0">
                <a:solidFill>
                  <a:srgbClr val="0F766E"/>
                </a:solidFill>
                <a:latin typeface="Cambria" pitchFamily="34" charset="0"/>
                <a:ea typeface="Cambria" pitchFamily="34" charset="-122"/>
                <a:cs typeface="Cambria" pitchFamily="34" charset="-120"/>
              </a:rPr>
              <a:t>−2,423</a:t>
            </a:r>
            <a:endParaRPr lang="en-US" sz="2600" dirty="0"/>
          </a:p>
        </p:txBody>
      </p:sp>
      <p:sp>
        <p:nvSpPr>
          <p:cNvPr id="6" name="Text 4"/>
          <p:cNvSpPr txBox="1"/>
          <p:nvPr/>
        </p:nvSpPr>
        <p:spPr>
          <a:xfrm>
            <a:off x="685800" y="2112264"/>
            <a:ext cx="1554480" cy="460858"/>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expired/hospice excluded (→ 99,343)</a:t>
            </a:r>
            <a:endParaRPr lang="en-US" sz="1200" dirty="0"/>
          </a:p>
        </p:txBody>
      </p:sp>
      <p:sp>
        <p:nvSpPr>
          <p:cNvPr id="7" name="stat"/>
          <p:cNvSpPr/>
          <p:nvPr/>
        </p:nvSpPr>
        <p:spPr>
          <a:xfrm>
            <a:off x="2514600" y="1508760"/>
            <a:ext cx="1783080" cy="1097280"/>
          </a:xfrm>
          <a:prstGeom prst="roundRect">
            <a:avLst>
              <a:gd name="adj" fmla="val 6667"/>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8" name="Text 6"/>
          <p:cNvSpPr txBox="1"/>
          <p:nvPr/>
        </p:nvSpPr>
        <p:spPr>
          <a:xfrm>
            <a:off x="2651760" y="1600200"/>
            <a:ext cx="1508760" cy="548640"/>
          </a:xfrm>
          <a:prstGeom prst="rect">
            <a:avLst/>
          </a:prstGeom>
          <a:noFill/>
          <a:ln/>
        </p:spPr>
        <p:txBody>
          <a:bodyPr wrap="square" lIns="0" tIns="0" rIns="0" bIns="0" rtlCol="0" anchor="ctr"/>
          <a:lstStyle/>
          <a:p>
            <a:pPr indent="0" marL="0">
              <a:buNone/>
            </a:pPr>
            <a:r>
              <a:rPr lang="en-US" sz="2600" b="1" dirty="0">
                <a:solidFill>
                  <a:srgbClr val="0F766E"/>
                </a:solidFill>
                <a:latin typeface="Cambria" pitchFamily="34" charset="0"/>
                <a:ea typeface="Cambria" pitchFamily="34" charset="-122"/>
                <a:cs typeface="Cambria" pitchFamily="34" charset="-120"/>
              </a:rPr>
              <a:t>−3 cols</a:t>
            </a:r>
            <a:endParaRPr lang="en-US" sz="2600" dirty="0"/>
          </a:p>
        </p:txBody>
      </p:sp>
      <p:sp>
        <p:nvSpPr>
          <p:cNvPr id="9" name="Text 7"/>
          <p:cNvSpPr txBox="1"/>
          <p:nvPr/>
        </p:nvSpPr>
        <p:spPr>
          <a:xfrm>
            <a:off x="2651760" y="2112264"/>
            <a:ext cx="1508760" cy="460858"/>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weight + 2 constant drug columns (→ 47)</a:t>
            </a:r>
            <a:endParaRPr lang="en-US" sz="1200" dirty="0"/>
          </a:p>
        </p:txBody>
      </p:sp>
      <p:graphicFrame>
        <p:nvGraphicFramePr>
          <p:cNvPr id="10" name="Chart 0" descr=""/>
          <p:cNvGraphicFramePr/>
          <p:nvPr/>
        </p:nvGraphicFramePr>
        <p:xfrm>
          <a:off x="548640" y="2743200"/>
          <a:ext cx="3749040" cy="269748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548640" y="5532120"/>
            <a:ext cx="3749040" cy="868680"/>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 and blanks → "Unknown". Lab 'None' kept as not recorded. 16,341 repeat patients and extreme visit counts retained.</a:t>
            </a:r>
            <a:endParaRPr lang="en-US" sz="1200" dirty="0"/>
          </a:p>
        </p:txBody>
      </p:sp>
      <p:sp>
        <p:nvSpPr>
          <p:cNvPr id="12" name="Text 9"/>
          <p:cNvSpPr txBox="1"/>
          <p:nvPr/>
        </p:nvSpPr>
        <p:spPr>
          <a:xfrm>
            <a:off x="4754880" y="1188720"/>
            <a:ext cx="4572000" cy="274320"/>
          </a:xfrm>
          <a:prstGeom prst="rect">
            <a:avLst/>
          </a:prstGeom>
          <a:noFill/>
          <a:ln/>
        </p:spPr>
        <p:txBody>
          <a:bodyPr wrap="square" lIns="0" tIns="0" rIns="0" bIns="0" rtlCol="0" anchor="t"/>
          <a:lstStyle/>
          <a:p>
            <a:pPr indent="0" marL="0">
              <a:buNone/>
            </a:pPr>
            <a:r>
              <a:rPr lang="en-US" sz="1200" b="1" dirty="0">
                <a:solidFill>
                  <a:srgbClr val="3949AB"/>
                </a:solidFill>
                <a:latin typeface="Calibri" pitchFamily="34" charset="0"/>
                <a:ea typeface="Calibri" pitchFamily="34" charset="-122"/>
                <a:cs typeface="Calibri" pitchFamily="34" charset="-120"/>
              </a:rPr>
              <a:t>STUDY B · NHANES COHORT FLOW</a:t>
            </a:r>
            <a:endParaRPr lang="en-US" sz="1200" dirty="0"/>
          </a:p>
        </p:txBody>
      </p:sp>
      <p:sp>
        <p:nvSpPr>
          <p:cNvPr id="13" name="Shape 10"/>
          <p:cNvSpPr/>
          <p:nvPr/>
        </p:nvSpPr>
        <p:spPr>
          <a:xfrm>
            <a:off x="4754880" y="1554480"/>
            <a:ext cx="6766560" cy="603504"/>
          </a:xfrm>
          <a:prstGeom prst="roundRect">
            <a:avLst>
              <a:gd name="adj" fmla="val 9091"/>
            </a:avLst>
          </a:prstGeom>
          <a:solidFill>
            <a:srgbClr val="3949AB"/>
          </a:solidFill>
          <a:ln w="12700">
            <a:solidFill>
              <a:srgbClr val="3949AB"/>
            </a:solidFill>
            <a:prstDash val="solid"/>
          </a:ln>
        </p:spPr>
      </p:sp>
      <p:sp>
        <p:nvSpPr>
          <p:cNvPr id="14" name="Text 11"/>
          <p:cNvSpPr txBox="1"/>
          <p:nvPr/>
        </p:nvSpPr>
        <p:spPr>
          <a:xfrm>
            <a:off x="4846320" y="1554480"/>
            <a:ext cx="6583680"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9,254  </a:t>
            </a:r>
            <a:pPr algn="ctr" indent="0" marL="0">
              <a:buNone/>
            </a:pPr>
            <a:r>
              <a:rPr lang="en-US" sz="1300" dirty="0">
                <a:solidFill>
                  <a:srgbClr val="FFFFFF"/>
                </a:solidFill>
                <a:latin typeface="Calibri" pitchFamily="34" charset="0"/>
                <a:ea typeface="Calibri" pitchFamily="34" charset="-122"/>
                <a:cs typeface="Calibri" pitchFamily="34" charset="-120"/>
              </a:rPr>
              <a:t>Survey universe</a:t>
            </a:r>
            <a:endParaRPr lang="en-US" sz="1400" dirty="0"/>
          </a:p>
        </p:txBody>
      </p:sp>
      <p:sp>
        <p:nvSpPr>
          <p:cNvPr id="15" name="Shape 12"/>
          <p:cNvSpPr/>
          <p:nvPr/>
        </p:nvSpPr>
        <p:spPr>
          <a:xfrm>
            <a:off x="5212080" y="2304288"/>
            <a:ext cx="5852160" cy="603504"/>
          </a:xfrm>
          <a:prstGeom prst="roundRect">
            <a:avLst>
              <a:gd name="adj" fmla="val 9091"/>
            </a:avLst>
          </a:prstGeom>
          <a:solidFill>
            <a:srgbClr val="3949AB"/>
          </a:solidFill>
          <a:ln w="12700">
            <a:solidFill>
              <a:srgbClr val="3949AB"/>
            </a:solidFill>
            <a:prstDash val="solid"/>
          </a:ln>
        </p:spPr>
      </p:sp>
      <p:sp>
        <p:nvSpPr>
          <p:cNvPr id="16" name="Text 13"/>
          <p:cNvSpPr txBox="1"/>
          <p:nvPr/>
        </p:nvSpPr>
        <p:spPr>
          <a:xfrm>
            <a:off x="5303520" y="2304288"/>
            <a:ext cx="5669280"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5,569  </a:t>
            </a:r>
            <a:pPr algn="ctr" indent="0" marL="0">
              <a:buNone/>
            </a:pPr>
            <a:r>
              <a:rPr lang="en-US" sz="1300" dirty="0">
                <a:solidFill>
                  <a:srgbClr val="FFFFFF"/>
                </a:solidFill>
                <a:latin typeface="Calibri" pitchFamily="34" charset="0"/>
                <a:ea typeface="Calibri" pitchFamily="34" charset="-122"/>
                <a:cs typeface="Calibri" pitchFamily="34" charset="-120"/>
              </a:rPr>
              <a:t>Adults aged 20+</a:t>
            </a:r>
            <a:endParaRPr lang="en-US" sz="1400" dirty="0"/>
          </a:p>
        </p:txBody>
      </p:sp>
      <p:sp>
        <p:nvSpPr>
          <p:cNvPr id="17" name="Shape 14"/>
          <p:cNvSpPr/>
          <p:nvPr/>
        </p:nvSpPr>
        <p:spPr>
          <a:xfrm>
            <a:off x="5669280" y="3054096"/>
            <a:ext cx="4937760" cy="603504"/>
          </a:xfrm>
          <a:prstGeom prst="roundRect">
            <a:avLst>
              <a:gd name="adj" fmla="val 9091"/>
            </a:avLst>
          </a:prstGeom>
          <a:solidFill>
            <a:srgbClr val="3949AB"/>
          </a:solidFill>
          <a:ln w="12700">
            <a:solidFill>
              <a:srgbClr val="3949AB"/>
            </a:solidFill>
            <a:prstDash val="solid"/>
          </a:ln>
        </p:spPr>
      </p:sp>
      <p:sp>
        <p:nvSpPr>
          <p:cNvPr id="18" name="Text 15"/>
          <p:cNvSpPr txBox="1"/>
          <p:nvPr/>
        </p:nvSpPr>
        <p:spPr>
          <a:xfrm>
            <a:off x="5760720" y="3054096"/>
            <a:ext cx="4754880"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876  </a:t>
            </a:r>
            <a:pPr algn="ctr" indent="0" marL="0">
              <a:buNone/>
            </a:pPr>
            <a:r>
              <a:rPr lang="en-US" sz="1300" dirty="0">
                <a:solidFill>
                  <a:srgbClr val="FFFFFF"/>
                </a:solidFill>
                <a:latin typeface="Calibri" pitchFamily="34" charset="0"/>
                <a:ea typeface="Calibri" pitchFamily="34" charset="-122"/>
                <a:cs typeface="Calibri" pitchFamily="34" charset="-120"/>
              </a:rPr>
              <a:t>Self-reported diagnosed diabetes</a:t>
            </a:r>
            <a:endParaRPr lang="en-US" sz="1400" dirty="0"/>
          </a:p>
        </p:txBody>
      </p:sp>
      <p:sp>
        <p:nvSpPr>
          <p:cNvPr id="19" name="Shape 16"/>
          <p:cNvSpPr/>
          <p:nvPr/>
        </p:nvSpPr>
        <p:spPr>
          <a:xfrm>
            <a:off x="6126480" y="3803904"/>
            <a:ext cx="4023360" cy="603504"/>
          </a:xfrm>
          <a:prstGeom prst="roundRect">
            <a:avLst>
              <a:gd name="adj" fmla="val 9091"/>
            </a:avLst>
          </a:prstGeom>
          <a:solidFill>
            <a:srgbClr val="3949AB"/>
          </a:solidFill>
          <a:ln w="12700">
            <a:solidFill>
              <a:srgbClr val="3949AB"/>
            </a:solidFill>
            <a:prstDash val="solid"/>
          </a:ln>
        </p:spPr>
      </p:sp>
      <p:sp>
        <p:nvSpPr>
          <p:cNvPr id="20" name="Text 17"/>
          <p:cNvSpPr txBox="1"/>
          <p:nvPr/>
        </p:nvSpPr>
        <p:spPr>
          <a:xfrm>
            <a:off x="6217920" y="3803904"/>
            <a:ext cx="3840480"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804  </a:t>
            </a:r>
            <a:pPr algn="ctr" indent="0" marL="0">
              <a:buNone/>
            </a:pPr>
            <a:r>
              <a:rPr lang="en-US" sz="1300" dirty="0">
                <a:solidFill>
                  <a:srgbClr val="FFFFFF"/>
                </a:solidFill>
                <a:latin typeface="Calibri" pitchFamily="34" charset="0"/>
                <a:ea typeface="Calibri" pitchFamily="34" charset="-122"/>
                <a:cs typeface="Calibri" pitchFamily="34" charset="-120"/>
              </a:rPr>
              <a:t>Measured HbA1c (primary domain)</a:t>
            </a:r>
            <a:endParaRPr lang="en-US" sz="1400" dirty="0"/>
          </a:p>
        </p:txBody>
      </p:sp>
      <p:sp>
        <p:nvSpPr>
          <p:cNvPr id="21" name="Shape 18"/>
          <p:cNvSpPr/>
          <p:nvPr/>
        </p:nvSpPr>
        <p:spPr>
          <a:xfrm>
            <a:off x="6583680" y="4553712"/>
            <a:ext cx="3108960" cy="603504"/>
          </a:xfrm>
          <a:prstGeom prst="roundRect">
            <a:avLst>
              <a:gd name="adj" fmla="val 9091"/>
            </a:avLst>
          </a:prstGeom>
          <a:solidFill>
            <a:srgbClr val="B7791F"/>
          </a:solidFill>
          <a:ln w="12700">
            <a:solidFill>
              <a:srgbClr val="B7791F"/>
            </a:solidFill>
            <a:prstDash val="solid"/>
          </a:ln>
        </p:spPr>
      </p:sp>
      <p:sp>
        <p:nvSpPr>
          <p:cNvPr id="22" name="Text 19"/>
          <p:cNvSpPr txBox="1"/>
          <p:nvPr/>
        </p:nvSpPr>
        <p:spPr>
          <a:xfrm>
            <a:off x="6675120" y="4553712"/>
            <a:ext cx="2926080"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651  </a:t>
            </a:r>
            <a:pPr algn="ctr" indent="0" marL="0">
              <a:buNone/>
            </a:pPr>
            <a:r>
              <a:rPr lang="en-US" sz="1300" dirty="0">
                <a:solidFill>
                  <a:srgbClr val="FFFFFF"/>
                </a:solidFill>
                <a:latin typeface="Calibri" pitchFamily="34" charset="0"/>
                <a:ea typeface="Calibri" pitchFamily="34" charset="-122"/>
                <a:cs typeface="Calibri" pitchFamily="34" charset="-120"/>
              </a:rPr>
              <a:t>Complete cases, adjusted model</a:t>
            </a:r>
            <a:endParaRPr lang="en-US" sz="1400" dirty="0"/>
          </a:p>
        </p:txBody>
      </p:sp>
      <p:sp>
        <p:nvSpPr>
          <p:cNvPr id="23" name="nhanes note"/>
          <p:cNvSpPr/>
          <p:nvPr/>
        </p:nvSpPr>
        <p:spPr>
          <a:xfrm>
            <a:off x="4754880" y="5349240"/>
            <a:ext cx="6885432" cy="1005840"/>
          </a:xfrm>
          <a:prstGeom prst="roundRect">
            <a:avLst>
              <a:gd name="adj" fmla="val 7273"/>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24" name="Text 21"/>
          <p:cNvSpPr txBox="1"/>
          <p:nvPr/>
        </p:nvSpPr>
        <p:spPr>
          <a:xfrm>
            <a:off x="4937760" y="5394960"/>
            <a:ext cx="6537960" cy="914400"/>
          </a:xfrm>
          <a:prstGeom prst="rect">
            <a:avLst/>
          </a:prstGeom>
          <a:noFill/>
          <a:ln/>
        </p:spPr>
        <p:txBody>
          <a:bodyPr wrap="square" lIns="0" tIns="0" rIns="0" bIns="0" rtlCol="0" anchor="ctr"/>
          <a:lstStyle/>
          <a:p>
            <a:pPr indent="0" marL="0">
              <a:buNone/>
            </a:pPr>
            <a:r>
              <a:rPr lang="en-US" sz="1300" dirty="0">
                <a:solidFill>
                  <a:srgbClr val="55626C"/>
                </a:solidFill>
                <a:latin typeface="Calibri" pitchFamily="34" charset="0"/>
                <a:ea typeface="Calibri" pitchFamily="34" charset="-122"/>
                <a:cs typeface="Calibri" pitchFamily="34" charset="-120"/>
              </a:rPr>
              <a:t>All 9,254 people stay in the cleaned file so survey variance uses the full design. No missing HbA1c is set to normal; skips, refusals and top codes are tracked separately.</a:t>
            </a:r>
            <a:endParaRPr lang="en-US" sz="13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Feature engineering: turning records into interpretable signals</a:t>
            </a:r>
            <a:endParaRPr lang="en-US" sz="3000" dirty="0"/>
          </a:p>
        </p:txBody>
      </p:sp>
      <p:sp>
        <p:nvSpPr>
          <p:cNvPr id="3" name="Text 1"/>
          <p:cNvSpPr txBox="1"/>
          <p:nvPr/>
        </p:nvSpPr>
        <p:spPr>
          <a:xfrm>
            <a:off x="548640" y="1188720"/>
            <a:ext cx="6400800"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STUDY A · UCI: 15 derived columns (47 → 62 total)</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949440" cy="914400"/>
        </p:xfrm>
        <a:graphic>
          <a:graphicData uri="http://schemas.openxmlformats.org/drawingml/2006/table">
            <a:tbl>
              <a:tblPr/>
              <a:tblGrid>
                <a:gridCol w="1920240"/>
                <a:gridCol w="3017520"/>
                <a:gridCol w="2011680"/>
              </a:tblGrid>
              <a:tr h="53035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useful</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0F766E"/>
                    </a:solidFill>
                  </a:tcPr>
                </a:tc>
              </a:tr>
              <a:tr h="530352">
                <a:tc>
                  <a:txBody>
                    <a:bodyPr/>
                    <a:lstStyle/>
                    <a:p>
                      <a:pPr indent="0" marL="0">
                        <a:buNone/>
                      </a:pPr>
                      <a:r>
                        <a:rPr lang="en-US" sz="1200" b="1" dirty="0">
                          <a:solidFill>
                            <a:srgbClr val="10243A"/>
                          </a:solidFill>
                          <a:latin typeface="Calibri" pitchFamily="34" charset="0"/>
                          <a:ea typeface="Calibri" pitchFamily="34" charset="-122"/>
                          <a:cs typeface="Calibri" pitchFamily="34" charset="-120"/>
                        </a:rPr>
                        <a:t>readmitted_30d</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 if readmitted &lt;30 days, else 0</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Outcome (11,314 cases)</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0243A"/>
                          </a:solidFill>
                          <a:latin typeface="Calibri" pitchFamily="34" charset="0"/>
                          <a:ea typeface="Calibri" pitchFamily="34" charset="-122"/>
                          <a:cs typeface="Calibri" pitchFamily="34" charset="-120"/>
                        </a:rPr>
                        <a:t>total_previous_visits</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Outpatient + emergency + inpatient prior visits</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Cumulative system use</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0243A"/>
                          </a:solidFill>
                          <a:latin typeface="Calibri" pitchFamily="34" charset="0"/>
                          <a:ea typeface="Calibri" pitchFamily="34" charset="-122"/>
                          <a:cs typeface="Calibri" pitchFamily="34" charset="-120"/>
                        </a:rPr>
                        <a:t>medication_burden_band</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Low 0–5, Moderate 6–14, High 15+ meds</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Inpatient medication load</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0243A"/>
                          </a:solidFill>
                          <a:latin typeface="Calibri" pitchFamily="34" charset="0"/>
                          <a:ea typeface="Calibri" pitchFamily="34" charset="-122"/>
                          <a:cs typeface="Calibri" pitchFamily="34" charset="-120"/>
                        </a:rPr>
                        <a:t>diag_1_group</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ICD-9 → Diabetes, Circulatory, Respiratory, Other</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Collapses sparse codes</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0243A"/>
                          </a:solidFill>
                          <a:latin typeface="Calibri" pitchFamily="34" charset="0"/>
                          <a:ea typeface="Calibri" pitchFamily="34" charset="-122"/>
                          <a:cs typeface="Calibri" pitchFamily="34" charset="-120"/>
                        </a:rPr>
                        <a:t>medication_changed</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Recorded regimen-change flag (Ch)</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19,102 encounters differ from any dose Up/Down</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0243A"/>
                          </a:solidFill>
                          <a:latin typeface="Calibri" pitchFamily="34" charset="0"/>
                          <a:ea typeface="Calibri" pitchFamily="34" charset="-122"/>
                          <a:cs typeface="Calibri" pitchFamily="34" charset="-120"/>
                        </a:rPr>
                        <a:t>age_group</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Under 40, 40–59, 60–79, 80+</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Stable age bands</a:t>
                      </a:r>
                      <a:endParaRPr lang="en-US" sz="1200" dirty="0">
                        <a:latin typeface="Calibri" charset="0"/>
                        <a:ea typeface="Calibri" charset="0"/>
                        <a:cs typeface="Calibri" charset="0"/>
                      </a:endParaRPr>
                    </a:p>
                  </a:txBody>
                  <a:tcPr marL="73152" marR="73152" marT="36576" marB="36576"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7863840" y="1188720"/>
            <a:ext cx="3840480" cy="274320"/>
          </a:xfrm>
          <a:prstGeom prst="rect">
            <a:avLst/>
          </a:prstGeom>
          <a:noFill/>
          <a:ln/>
        </p:spPr>
        <p:txBody>
          <a:bodyPr wrap="square" lIns="0" tIns="0" rIns="0" bIns="0" rtlCol="0" anchor="t"/>
          <a:lstStyle/>
          <a:p>
            <a:pPr indent="0" marL="0">
              <a:buNone/>
            </a:pPr>
            <a:r>
              <a:rPr lang="en-US" sz="1200" b="1" dirty="0">
                <a:solidFill>
                  <a:srgbClr val="3949AB"/>
                </a:solidFill>
                <a:latin typeface="Calibri" pitchFamily="34" charset="0"/>
                <a:ea typeface="Calibri" pitchFamily="34" charset="-122"/>
                <a:cs typeface="Calibri" pitchFamily="34" charset="-120"/>
              </a:rPr>
              <a:t>STUDY B · NHANES: 27 derived columns (52 → 79 total)</a:t>
            </a:r>
            <a:endParaRPr lang="en-US" sz="1200" dirty="0"/>
          </a:p>
        </p:txBody>
      </p:sp>
      <p:sp>
        <p:nvSpPr>
          <p:cNvPr id="6" name="nhanes feature"/>
          <p:cNvSpPr/>
          <p:nvPr/>
        </p:nvSpPr>
        <p:spPr>
          <a:xfrm>
            <a:off x="7863840" y="1508760"/>
            <a:ext cx="3776472" cy="932688"/>
          </a:xfrm>
          <a:prstGeom prst="roundRect">
            <a:avLst>
              <a:gd name="adj" fmla="val 7843"/>
            </a:avLst>
          </a:prstGeom>
          <a:solidFill>
            <a:srgbClr val="E3E6F6"/>
          </a:solidFill>
          <a:ln w="6350">
            <a:solidFill>
              <a:srgbClr val="D5DCE1"/>
            </a:solidFill>
            <a:prstDash val="solid"/>
          </a:ln>
        </p:spPr>
      </p:sp>
      <p:sp>
        <p:nvSpPr>
          <p:cNvPr id="7" name="Text 4"/>
          <p:cNvSpPr txBox="1"/>
          <p:nvPr/>
        </p:nvSpPr>
        <p:spPr>
          <a:xfrm>
            <a:off x="8028432" y="1581912"/>
            <a:ext cx="3474720" cy="274320"/>
          </a:xfrm>
          <a:prstGeom prst="rect">
            <a:avLst/>
          </a:prstGeom>
          <a:noFill/>
          <a:ln/>
        </p:spPr>
        <p:txBody>
          <a:bodyPr wrap="square" lIns="0" tIns="0" rIns="0" bIns="0" rtlCol="0" anchor="t"/>
          <a:lstStyle/>
          <a:p>
            <a:pPr indent="0" marL="0">
              <a:buNone/>
            </a:pPr>
            <a:r>
              <a:rPr lang="en-US" sz="1400" b="1" dirty="0">
                <a:solidFill>
                  <a:srgbClr val="3949AB"/>
                </a:solidFill>
                <a:latin typeface="Calibri" pitchFamily="34" charset="0"/>
                <a:ea typeface="Calibri" pitchFamily="34" charset="-122"/>
                <a:cs typeface="Calibri" pitchFamily="34" charset="-120"/>
              </a:rPr>
              <a:t>Glucose-check frequency</a:t>
            </a:r>
            <a:endParaRPr lang="en-US" sz="1400" dirty="0"/>
          </a:p>
        </p:txBody>
      </p:sp>
      <p:sp>
        <p:nvSpPr>
          <p:cNvPr id="8" name="Text 5"/>
          <p:cNvSpPr txBox="1"/>
          <p:nvPr/>
        </p:nvSpPr>
        <p:spPr>
          <a:xfrm>
            <a:off x="8028432" y="1874520"/>
            <a:ext cx="3474720" cy="548640"/>
          </a:xfrm>
          <a:prstGeom prst="rect">
            <a:avLst/>
          </a:prstGeom>
          <a:noFill/>
          <a:ln/>
        </p:spPr>
        <p:txBody>
          <a:bodyPr wrap="square" lIns="0" tIns="0" rIns="0" bIns="0" rtlCol="0" anchor="t"/>
          <a:lstStyle/>
          <a:p>
            <a:pPr indent="0" marL="0">
              <a:buNone/>
            </a:pPr>
            <a:r>
              <a:rPr lang="en-US" sz="1200" dirty="0">
                <a:solidFill>
                  <a:srgbClr val="10243A"/>
                </a:solidFill>
                <a:latin typeface="Calibri" pitchFamily="34" charset="0"/>
                <a:ea typeface="Calibri" pitchFamily="34" charset="-122"/>
                <a:cs typeface="Calibri" pitchFamily="34" charset="-120"/>
              </a:rPr>
              <a:t>Daily, weekly, monthly and yearly units converted to one daily scale</a:t>
            </a:r>
            <a:endParaRPr lang="en-US" sz="1200" dirty="0"/>
          </a:p>
        </p:txBody>
      </p:sp>
      <p:sp>
        <p:nvSpPr>
          <p:cNvPr id="9" name="nhanes feature"/>
          <p:cNvSpPr/>
          <p:nvPr/>
        </p:nvSpPr>
        <p:spPr>
          <a:xfrm>
            <a:off x="7863840" y="2560320"/>
            <a:ext cx="3776472" cy="932688"/>
          </a:xfrm>
          <a:prstGeom prst="roundRect">
            <a:avLst>
              <a:gd name="adj" fmla="val 7843"/>
            </a:avLst>
          </a:prstGeom>
          <a:solidFill>
            <a:srgbClr val="E3E6F6"/>
          </a:solidFill>
          <a:ln w="6350">
            <a:solidFill>
              <a:srgbClr val="D5DCE1"/>
            </a:solidFill>
            <a:prstDash val="solid"/>
          </a:ln>
        </p:spPr>
      </p:sp>
      <p:sp>
        <p:nvSpPr>
          <p:cNvPr id="10" name="Text 7"/>
          <p:cNvSpPr txBox="1"/>
          <p:nvPr/>
        </p:nvSpPr>
        <p:spPr>
          <a:xfrm>
            <a:off x="8028432" y="2633472"/>
            <a:ext cx="3474720" cy="274320"/>
          </a:xfrm>
          <a:prstGeom prst="rect">
            <a:avLst/>
          </a:prstGeom>
          <a:noFill/>
          <a:ln/>
        </p:spPr>
        <p:txBody>
          <a:bodyPr wrap="square" lIns="0" tIns="0" rIns="0" bIns="0" rtlCol="0" anchor="t"/>
          <a:lstStyle/>
          <a:p>
            <a:pPr indent="0" marL="0">
              <a:buNone/>
            </a:pPr>
            <a:r>
              <a:rPr lang="en-US" sz="1400" b="1" dirty="0">
                <a:solidFill>
                  <a:srgbClr val="3949AB"/>
                </a:solidFill>
                <a:latin typeface="Calibri" pitchFamily="34" charset="0"/>
                <a:ea typeface="Calibri" pitchFamily="34" charset="-122"/>
                <a:cs typeface="Calibri" pitchFamily="34" charset="-120"/>
              </a:rPr>
              <a:t>Weekly activity summaries</a:t>
            </a:r>
            <a:endParaRPr lang="en-US" sz="1400" dirty="0"/>
          </a:p>
        </p:txBody>
      </p:sp>
      <p:sp>
        <p:nvSpPr>
          <p:cNvPr id="11" name="Text 8"/>
          <p:cNvSpPr txBox="1"/>
          <p:nvPr/>
        </p:nvSpPr>
        <p:spPr>
          <a:xfrm>
            <a:off x="8028432" y="2926080"/>
            <a:ext cx="3474720" cy="548640"/>
          </a:xfrm>
          <a:prstGeom prst="rect">
            <a:avLst/>
          </a:prstGeom>
          <a:noFill/>
          <a:ln/>
        </p:spPr>
        <p:txBody>
          <a:bodyPr wrap="square" lIns="0" tIns="0" rIns="0" bIns="0" rtlCol="0" anchor="t"/>
          <a:lstStyle/>
          <a:p>
            <a:pPr indent="0" marL="0">
              <a:buNone/>
            </a:pPr>
            <a:r>
              <a:rPr lang="en-US" sz="1200" dirty="0">
                <a:solidFill>
                  <a:srgbClr val="10243A"/>
                </a:solidFill>
                <a:latin typeface="Calibri" pitchFamily="34" charset="0"/>
                <a:ea typeface="Calibri" pitchFamily="34" charset="-122"/>
                <a:cs typeface="Calibri" pitchFamily="34" charset="-120"/>
              </a:rPr>
              <a:t>Five activity quantities with MET and equivalent-minute totals</a:t>
            </a:r>
            <a:endParaRPr lang="en-US" sz="1200" dirty="0"/>
          </a:p>
        </p:txBody>
      </p:sp>
      <p:sp>
        <p:nvSpPr>
          <p:cNvPr id="12" name="nhanes feature"/>
          <p:cNvSpPr/>
          <p:nvPr/>
        </p:nvSpPr>
        <p:spPr>
          <a:xfrm>
            <a:off x="7863840" y="3611880"/>
            <a:ext cx="3776472" cy="932688"/>
          </a:xfrm>
          <a:prstGeom prst="roundRect">
            <a:avLst>
              <a:gd name="adj" fmla="val 7843"/>
            </a:avLst>
          </a:prstGeom>
          <a:solidFill>
            <a:srgbClr val="E3E6F6"/>
          </a:solidFill>
          <a:ln w="6350">
            <a:solidFill>
              <a:srgbClr val="D5DCE1"/>
            </a:solidFill>
            <a:prstDash val="solid"/>
          </a:ln>
        </p:spPr>
      </p:sp>
      <p:sp>
        <p:nvSpPr>
          <p:cNvPr id="13" name="Text 10"/>
          <p:cNvSpPr txBox="1"/>
          <p:nvPr/>
        </p:nvSpPr>
        <p:spPr>
          <a:xfrm>
            <a:off x="8028432" y="3685032"/>
            <a:ext cx="3474720" cy="274320"/>
          </a:xfrm>
          <a:prstGeom prst="rect">
            <a:avLst/>
          </a:prstGeom>
          <a:noFill/>
          <a:ln/>
        </p:spPr>
        <p:txBody>
          <a:bodyPr wrap="square" lIns="0" tIns="0" rIns="0" bIns="0" rtlCol="0" anchor="t"/>
          <a:lstStyle/>
          <a:p>
            <a:pPr indent="0" marL="0">
              <a:buNone/>
            </a:pPr>
            <a:r>
              <a:rPr lang="en-US" sz="1400" b="1" dirty="0">
                <a:solidFill>
                  <a:srgbClr val="3949AB"/>
                </a:solidFill>
                <a:latin typeface="Calibri" pitchFamily="34" charset="0"/>
                <a:ea typeface="Calibri" pitchFamily="34" charset="-122"/>
                <a:cs typeface="Calibri" pitchFamily="34" charset="-120"/>
              </a:rPr>
              <a:t>Treatment and care flags</a:t>
            </a:r>
            <a:endParaRPr lang="en-US" sz="1400" dirty="0"/>
          </a:p>
        </p:txBody>
      </p:sp>
      <p:sp>
        <p:nvSpPr>
          <p:cNvPr id="14" name="Text 11"/>
          <p:cNvSpPr txBox="1"/>
          <p:nvPr/>
        </p:nvSpPr>
        <p:spPr>
          <a:xfrm>
            <a:off x="8028432" y="3977640"/>
            <a:ext cx="3474720" cy="548640"/>
          </a:xfrm>
          <a:prstGeom prst="rect">
            <a:avLst/>
          </a:prstGeom>
          <a:noFill/>
          <a:ln/>
        </p:spPr>
        <p:txBody>
          <a:bodyPr wrap="square" lIns="0" tIns="0" rIns="0" bIns="0" rtlCol="0" anchor="t"/>
          <a:lstStyle/>
          <a:p>
            <a:pPr indent="0" marL="0">
              <a:buNone/>
            </a:pPr>
            <a:r>
              <a:rPr lang="en-US" sz="1200" dirty="0">
                <a:solidFill>
                  <a:srgbClr val="10243A"/>
                </a:solidFill>
                <a:latin typeface="Calibri" pitchFamily="34" charset="0"/>
                <a:ea typeface="Calibri" pitchFamily="34" charset="-122"/>
                <a:cs typeface="Calibri" pitchFamily="34" charset="-120"/>
              </a:rPr>
              <a:t>Insulin, pills, usual diabetes professional, past-year A1C test</a:t>
            </a:r>
            <a:endParaRPr lang="en-US" sz="1200" dirty="0"/>
          </a:p>
        </p:txBody>
      </p:sp>
      <p:sp>
        <p:nvSpPr>
          <p:cNvPr id="15" name="nhanes feature"/>
          <p:cNvSpPr/>
          <p:nvPr/>
        </p:nvSpPr>
        <p:spPr>
          <a:xfrm>
            <a:off x="7863840" y="4663440"/>
            <a:ext cx="3776472" cy="932688"/>
          </a:xfrm>
          <a:prstGeom prst="roundRect">
            <a:avLst>
              <a:gd name="adj" fmla="val 7843"/>
            </a:avLst>
          </a:prstGeom>
          <a:solidFill>
            <a:srgbClr val="E3E6F6"/>
          </a:solidFill>
          <a:ln w="6350">
            <a:solidFill>
              <a:srgbClr val="D5DCE1"/>
            </a:solidFill>
            <a:prstDash val="solid"/>
          </a:ln>
        </p:spPr>
      </p:sp>
      <p:sp>
        <p:nvSpPr>
          <p:cNvPr id="16" name="Text 13"/>
          <p:cNvSpPr txBox="1"/>
          <p:nvPr/>
        </p:nvSpPr>
        <p:spPr>
          <a:xfrm>
            <a:off x="8028432" y="4736592"/>
            <a:ext cx="3474720" cy="274320"/>
          </a:xfrm>
          <a:prstGeom prst="rect">
            <a:avLst/>
          </a:prstGeom>
          <a:noFill/>
          <a:ln/>
        </p:spPr>
        <p:txBody>
          <a:bodyPr wrap="square" lIns="0" tIns="0" rIns="0" bIns="0" rtlCol="0" anchor="t"/>
          <a:lstStyle/>
          <a:p>
            <a:pPr indent="0" marL="0">
              <a:buNone/>
            </a:pPr>
            <a:r>
              <a:rPr lang="en-US" sz="1400" b="1" dirty="0">
                <a:solidFill>
                  <a:srgbClr val="3949AB"/>
                </a:solidFill>
                <a:latin typeface="Calibri" pitchFamily="34" charset="0"/>
                <a:ea typeface="Calibri" pitchFamily="34" charset="-122"/>
                <a:cs typeface="Calibri" pitchFamily="34" charset="-120"/>
              </a:rPr>
              <a:t>HbA1c ≥8% and ≥7% flags</a:t>
            </a:r>
            <a:endParaRPr lang="en-US" sz="1400" dirty="0"/>
          </a:p>
        </p:txBody>
      </p:sp>
      <p:sp>
        <p:nvSpPr>
          <p:cNvPr id="17" name="Text 14"/>
          <p:cNvSpPr txBox="1"/>
          <p:nvPr/>
        </p:nvSpPr>
        <p:spPr>
          <a:xfrm>
            <a:off x="8028432" y="5029200"/>
            <a:ext cx="3474720" cy="548640"/>
          </a:xfrm>
          <a:prstGeom prst="rect">
            <a:avLst/>
          </a:prstGeom>
          <a:noFill/>
          <a:ln/>
        </p:spPr>
        <p:txBody>
          <a:bodyPr wrap="square" lIns="0" tIns="0" rIns="0" bIns="0" rtlCol="0" anchor="t"/>
          <a:lstStyle/>
          <a:p>
            <a:pPr indent="0" marL="0">
              <a:buNone/>
            </a:pPr>
            <a:r>
              <a:rPr lang="en-US" sz="1200" dirty="0">
                <a:solidFill>
                  <a:srgbClr val="10243A"/>
                </a:solidFill>
                <a:latin typeface="Calibri" pitchFamily="34" charset="0"/>
                <a:ea typeface="Calibri" pitchFamily="34" charset="-122"/>
                <a:cs typeface="Calibri" pitchFamily="34" charset="-120"/>
              </a:rPr>
              <a:t>Secondary outcomes, kept apart from predictors</a:t>
            </a:r>
            <a:endParaRPr lang="en-US" sz="1200" dirty="0"/>
          </a:p>
        </p:txBody>
      </p:sp>
      <p:sp>
        <p:nvSpPr>
          <p:cNvPr id="18" name="Text 15"/>
          <p:cNvSpPr txBox="1"/>
          <p:nvPr/>
        </p:nvSpPr>
        <p:spPr>
          <a:xfrm>
            <a:off x="548640" y="5486400"/>
            <a:ext cx="6949440" cy="731520"/>
          </a:xfrm>
          <a:prstGeom prst="rect">
            <a:avLst/>
          </a:prstGeom>
          <a:noFill/>
          <a:ln/>
        </p:spPr>
        <p:txBody>
          <a:bodyPr wrap="square" lIns="0" tIns="0" rIns="0" bIns="0" rtlCol="0" anchor="t"/>
          <a:lstStyle/>
          <a:p>
            <a:pPr indent="0" marL="0">
              <a:buNone/>
            </a:pPr>
            <a:r>
              <a:rPr lang="en-US" sz="1300" i="1" dirty="0">
                <a:solidFill>
                  <a:srgbClr val="55626C"/>
                </a:solidFill>
                <a:latin typeface="Calibri" pitchFamily="34" charset="0"/>
                <a:ea typeface="Calibri" pitchFamily="34" charset="-122"/>
                <a:cs typeface="Calibri" pitchFamily="34" charset="-120"/>
              </a:rPr>
              <a:t>Column counts are not predictor counts. IDs, outcomes, survey-design fields and duplicate representations are excluded from predictor sets.</a:t>
            </a:r>
            <a:endParaRPr lang="en-US" sz="13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932688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UCI EDA: readmission rises with prior use</a:t>
            </a:r>
            <a:endParaRPr lang="en-US" sz="3000" dirty="0"/>
          </a:p>
        </p:txBody>
      </p:sp>
      <p:sp>
        <p:nvSpPr>
          <p:cNvPr id="3" name="study chip"/>
          <p:cNvSpPr/>
          <p:nvPr/>
        </p:nvSpPr>
        <p:spPr>
          <a:xfrm>
            <a:off x="10012680" y="384048"/>
            <a:ext cx="1737360" cy="310896"/>
          </a:xfrm>
          <a:prstGeom prst="roundRect">
            <a:avLst>
              <a:gd name="adj" fmla="val 50000"/>
            </a:avLst>
          </a:prstGeom>
          <a:solidFill>
            <a:srgbClr val="0F766E"/>
          </a:solidFill>
          <a:ln w="12700">
            <a:solidFill>
              <a:srgbClr val="0F766E"/>
            </a:solidFill>
            <a:prstDash val="solid"/>
          </a:ln>
        </p:spPr>
      </p:sp>
      <p:sp>
        <p:nvSpPr>
          <p:cNvPr id="4" name="Text 2"/>
          <p:cNvSpPr txBox="1"/>
          <p:nvPr/>
        </p:nvSpPr>
        <p:spPr>
          <a:xfrm>
            <a:off x="10012680" y="384048"/>
            <a:ext cx="17373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STUDY A · UCI</a:t>
            </a:r>
            <a:endParaRPr lang="en-US" sz="1100" dirty="0"/>
          </a:p>
        </p:txBody>
      </p:sp>
      <p:sp>
        <p:nvSpPr>
          <p:cNvPr id="5" name="chart card"/>
          <p:cNvSpPr/>
          <p:nvPr/>
        </p:nvSpPr>
        <p:spPr>
          <a:xfrm>
            <a:off x="548640" y="1234440"/>
            <a:ext cx="3611880" cy="3794760"/>
          </a:xfrm>
          <a:prstGeom prst="roundRect">
            <a:avLst>
              <a:gd name="adj" fmla="val 2025"/>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graphicFrame>
        <p:nvGraphicFramePr>
          <p:cNvPr id="6" name="Chart 0" descr=""/>
          <p:cNvGraphicFramePr/>
          <p:nvPr/>
        </p:nvGraphicFramePr>
        <p:xfrm>
          <a:off x="640080" y="1325880"/>
          <a:ext cx="3429000" cy="28803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31520" y="4251960"/>
            <a:ext cx="3246120" cy="731520"/>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66,245 / 18,984 / 14,114 encounters. Rate ≈2.6× higher at 2+ visits.</a:t>
            </a:r>
            <a:endParaRPr lang="en-US" sz="1200" dirty="0"/>
          </a:p>
        </p:txBody>
      </p:sp>
      <p:sp>
        <p:nvSpPr>
          <p:cNvPr id="8" name="chart card"/>
          <p:cNvSpPr/>
          <p:nvPr/>
        </p:nvSpPr>
        <p:spPr>
          <a:xfrm>
            <a:off x="4288536" y="1234440"/>
            <a:ext cx="3611880" cy="3794760"/>
          </a:xfrm>
          <a:prstGeom prst="roundRect">
            <a:avLst>
              <a:gd name="adj" fmla="val 2025"/>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graphicFrame>
        <p:nvGraphicFramePr>
          <p:cNvPr id="9" name="Chart 1" descr=""/>
          <p:cNvGraphicFramePr/>
          <p:nvPr/>
        </p:nvGraphicFramePr>
        <p:xfrm>
          <a:off x="4379976" y="1325880"/>
          <a:ext cx="3429000" cy="288036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4471416" y="4251960"/>
            <a:ext cx="3246120" cy="731520"/>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4,938 / 43,526 / 50,879 encounters. Counts inpatient medications.</a:t>
            </a:r>
            <a:endParaRPr lang="en-US" sz="1200" dirty="0"/>
          </a:p>
        </p:txBody>
      </p:sp>
      <p:sp>
        <p:nvSpPr>
          <p:cNvPr id="11" name="chart card"/>
          <p:cNvSpPr/>
          <p:nvPr/>
        </p:nvSpPr>
        <p:spPr>
          <a:xfrm>
            <a:off x="8028432" y="1234440"/>
            <a:ext cx="3611880" cy="3794760"/>
          </a:xfrm>
          <a:prstGeom prst="roundRect">
            <a:avLst>
              <a:gd name="adj" fmla="val 2025"/>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graphicFrame>
        <p:nvGraphicFramePr>
          <p:cNvPr id="12" name="Chart 2" descr=""/>
          <p:cNvGraphicFramePr/>
          <p:nvPr/>
        </p:nvGraphicFramePr>
        <p:xfrm>
          <a:off x="8119872" y="1325880"/>
          <a:ext cx="3429000" cy="2880360"/>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8211312" y="4251960"/>
            <a:ext cx="3246120" cy="731520"/>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Weaker, non-monotonic gradient; 80+ highest at 12.47%.</a:t>
            </a:r>
            <a:endParaRPr lang="en-US" sz="1200" dirty="0"/>
          </a:p>
        </p:txBody>
      </p:sp>
      <p:sp>
        <p:nvSpPr>
          <p:cNvPr id="14" name="takeaway"/>
          <p:cNvSpPr/>
          <p:nvPr/>
        </p:nvSpPr>
        <p:spPr>
          <a:xfrm>
            <a:off x="548640" y="5212080"/>
            <a:ext cx="11091672" cy="1097280"/>
          </a:xfrm>
          <a:prstGeom prst="roundRect">
            <a:avLst>
              <a:gd name="adj" fmla="val 6667"/>
            </a:avLst>
          </a:prstGeom>
          <a:solidFill>
            <a:srgbClr val="DCEFEC"/>
          </a:solidFill>
          <a:ln w="6350">
            <a:solidFill>
              <a:srgbClr val="D5DCE1"/>
            </a:solidFill>
            <a:prstDash val="solid"/>
          </a:ln>
        </p:spPr>
      </p:sp>
      <p:sp>
        <p:nvSpPr>
          <p:cNvPr id="15" name="Text 10"/>
          <p:cNvSpPr txBox="1"/>
          <p:nvPr/>
        </p:nvSpPr>
        <p:spPr>
          <a:xfrm>
            <a:off x="777240" y="5257800"/>
            <a:ext cx="10607040" cy="1005840"/>
          </a:xfrm>
          <a:prstGeom prst="rect">
            <a:avLst/>
          </a:prstGeom>
          <a:noFill/>
          <a:ln/>
        </p:spPr>
        <p:txBody>
          <a:bodyPr wrap="square" lIns="0" tIns="0" rIns="0" bIns="0" rtlCol="0" anchor="ctr"/>
          <a:lstStyle/>
          <a:p>
            <a:pPr indent="0" marL="0">
              <a:buNone/>
            </a:pPr>
            <a:r>
              <a:rPr lang="en-US" sz="1400" b="1" dirty="0">
                <a:solidFill>
                  <a:srgbClr val="10243A"/>
                </a:solidFill>
                <a:latin typeface="Calibri" pitchFamily="34" charset="0"/>
                <a:ea typeface="Calibri" pitchFamily="34" charset="-122"/>
                <a:cs typeface="Calibri" pitchFamily="34" charset="-120"/>
              </a:rPr>
              <a:t>Overall early-readmission rate: 11.39% (11,314 of 99,343). </a:t>
            </a:r>
            <a:pPr indent="0" marL="0">
              <a:buNone/>
            </a:pPr>
            <a:r>
              <a:rPr lang="en-US" sz="1400" dirty="0">
                <a:solidFill>
                  <a:srgbClr val="10243A"/>
                </a:solidFill>
                <a:latin typeface="Calibri" pitchFamily="34" charset="0"/>
                <a:ea typeface="Calibri" pitchFamily="34" charset="-122"/>
                <a:cs typeface="Calibri" pitchFamily="34" charset="-120"/>
              </a:rPr>
              <a:t>Patient-clustered 95% intervals: 8.59% [8.38, 8.80] for 0 visits; 22.02% [21.16, 22.88] for 2+. These are crude, unadjusted rates, so they show association, not cause.</a:t>
            </a:r>
            <a:endParaRPr lang="en-US" sz="14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932688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Statistical hypothesis testing with FDR control</a:t>
            </a:r>
            <a:endParaRPr lang="en-US" sz="3000" dirty="0"/>
          </a:p>
        </p:txBody>
      </p:sp>
      <p:sp>
        <p:nvSpPr>
          <p:cNvPr id="3" name="study chip"/>
          <p:cNvSpPr/>
          <p:nvPr/>
        </p:nvSpPr>
        <p:spPr>
          <a:xfrm>
            <a:off x="10012680" y="384048"/>
            <a:ext cx="1737360" cy="310896"/>
          </a:xfrm>
          <a:prstGeom prst="roundRect">
            <a:avLst>
              <a:gd name="adj" fmla="val 50000"/>
            </a:avLst>
          </a:prstGeom>
          <a:solidFill>
            <a:srgbClr val="0F766E"/>
          </a:solidFill>
          <a:ln w="12700">
            <a:solidFill>
              <a:srgbClr val="0F766E"/>
            </a:solidFill>
            <a:prstDash val="solid"/>
          </a:ln>
        </p:spPr>
      </p:sp>
      <p:sp>
        <p:nvSpPr>
          <p:cNvPr id="4" name="Text 2"/>
          <p:cNvSpPr txBox="1"/>
          <p:nvPr/>
        </p:nvSpPr>
        <p:spPr>
          <a:xfrm>
            <a:off x="10012680" y="384048"/>
            <a:ext cx="17373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STUDY A · UCI</a:t>
            </a:r>
            <a:endParaRPr lang="en-US" sz="1100" dirty="0"/>
          </a:p>
        </p:txBody>
      </p:sp>
      <p:sp>
        <p:nvSpPr>
          <p:cNvPr id="5" name="step"/>
          <p:cNvSpPr/>
          <p:nvPr/>
        </p:nvSpPr>
        <p:spPr>
          <a:xfrm>
            <a:off x="548640" y="1234440"/>
            <a:ext cx="4480560" cy="1078992"/>
          </a:xfrm>
          <a:prstGeom prst="roundRect">
            <a:avLst>
              <a:gd name="adj" fmla="val 6780"/>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6" name="Shape 4"/>
          <p:cNvSpPr/>
          <p:nvPr/>
        </p:nvSpPr>
        <p:spPr>
          <a:xfrm>
            <a:off x="713232" y="1536192"/>
            <a:ext cx="457200" cy="457200"/>
          </a:xfrm>
          <a:prstGeom prst="ellipse">
            <a:avLst/>
          </a:prstGeom>
          <a:solidFill>
            <a:srgbClr val="0F766E"/>
          </a:solidFill>
          <a:ln w="12700">
            <a:solidFill>
              <a:srgbClr val="0F766E"/>
            </a:solidFill>
            <a:prstDash val="solid"/>
          </a:ln>
        </p:spPr>
      </p:sp>
      <p:sp>
        <p:nvSpPr>
          <p:cNvPr id="7" name="Text 5"/>
          <p:cNvSpPr txBox="1"/>
          <p:nvPr/>
        </p:nvSpPr>
        <p:spPr>
          <a:xfrm>
            <a:off x="713232" y="15361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325880" y="1325880"/>
            <a:ext cx="361188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One encounter per patient</a:t>
            </a:r>
            <a:endParaRPr lang="en-US" sz="1400" dirty="0"/>
          </a:p>
        </p:txBody>
      </p:sp>
      <p:sp>
        <p:nvSpPr>
          <p:cNvPr id="9" name="Text 7"/>
          <p:cNvSpPr txBox="1"/>
          <p:nvPr/>
        </p:nvSpPr>
        <p:spPr>
          <a:xfrm>
            <a:off x="1325880" y="1618488"/>
            <a:ext cx="3611880" cy="658368"/>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Random pick, seed 42: 69,990 encounters, so tests are not inflated by repeat patients.</a:t>
            </a:r>
            <a:endParaRPr lang="en-US" sz="1200" dirty="0"/>
          </a:p>
        </p:txBody>
      </p:sp>
      <p:sp>
        <p:nvSpPr>
          <p:cNvPr id="10" name="step"/>
          <p:cNvSpPr/>
          <p:nvPr/>
        </p:nvSpPr>
        <p:spPr>
          <a:xfrm>
            <a:off x="548640" y="2423160"/>
            <a:ext cx="4480560" cy="1078992"/>
          </a:xfrm>
          <a:prstGeom prst="roundRect">
            <a:avLst>
              <a:gd name="adj" fmla="val 6780"/>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11" name="Shape 9"/>
          <p:cNvSpPr/>
          <p:nvPr/>
        </p:nvSpPr>
        <p:spPr>
          <a:xfrm>
            <a:off x="713232" y="2724912"/>
            <a:ext cx="457200" cy="457200"/>
          </a:xfrm>
          <a:prstGeom prst="ellipse">
            <a:avLst/>
          </a:prstGeom>
          <a:solidFill>
            <a:srgbClr val="0F766E"/>
          </a:solidFill>
          <a:ln w="12700">
            <a:solidFill>
              <a:srgbClr val="0F766E"/>
            </a:solidFill>
            <a:prstDash val="solid"/>
          </a:ln>
        </p:spPr>
      </p:sp>
      <p:sp>
        <p:nvSpPr>
          <p:cNvPr id="12" name="Text 10"/>
          <p:cNvSpPr txBox="1"/>
          <p:nvPr/>
        </p:nvSpPr>
        <p:spPr>
          <a:xfrm>
            <a:off x="713232" y="27249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1325880" y="2514600"/>
            <a:ext cx="361188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Chi-square and Mann–Whitney U</a:t>
            </a:r>
            <a:endParaRPr lang="en-US" sz="1400" dirty="0"/>
          </a:p>
        </p:txBody>
      </p:sp>
      <p:sp>
        <p:nvSpPr>
          <p:cNvPr id="14" name="Text 12"/>
          <p:cNvSpPr txBox="1"/>
          <p:nvPr/>
        </p:nvSpPr>
        <p:spPr>
          <a:xfrm>
            <a:off x="1325880" y="2807208"/>
            <a:ext cx="3611880" cy="658368"/>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Categorical variables and skewed visit counts respectively.</a:t>
            </a:r>
            <a:endParaRPr lang="en-US" sz="1200" dirty="0"/>
          </a:p>
        </p:txBody>
      </p:sp>
      <p:sp>
        <p:nvSpPr>
          <p:cNvPr id="15" name="step"/>
          <p:cNvSpPr/>
          <p:nvPr/>
        </p:nvSpPr>
        <p:spPr>
          <a:xfrm>
            <a:off x="548640" y="3611880"/>
            <a:ext cx="4480560" cy="1078992"/>
          </a:xfrm>
          <a:prstGeom prst="roundRect">
            <a:avLst>
              <a:gd name="adj" fmla="val 6780"/>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16" name="Shape 14"/>
          <p:cNvSpPr/>
          <p:nvPr/>
        </p:nvSpPr>
        <p:spPr>
          <a:xfrm>
            <a:off x="713232" y="3913632"/>
            <a:ext cx="457200" cy="457200"/>
          </a:xfrm>
          <a:prstGeom prst="ellipse">
            <a:avLst/>
          </a:prstGeom>
          <a:solidFill>
            <a:srgbClr val="0F766E"/>
          </a:solidFill>
          <a:ln w="12700">
            <a:solidFill>
              <a:srgbClr val="0F766E"/>
            </a:solidFill>
            <a:prstDash val="solid"/>
          </a:ln>
        </p:spPr>
      </p:sp>
      <p:sp>
        <p:nvSpPr>
          <p:cNvPr id="17" name="Text 15"/>
          <p:cNvSpPr txBox="1"/>
          <p:nvPr/>
        </p:nvSpPr>
        <p:spPr>
          <a:xfrm>
            <a:off x="713232" y="3913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1325880" y="3703320"/>
            <a:ext cx="361188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Sparse tables withheld</a:t>
            </a:r>
            <a:endParaRPr lang="en-US" sz="1400" dirty="0"/>
          </a:p>
        </p:txBody>
      </p:sp>
      <p:sp>
        <p:nvSpPr>
          <p:cNvPr id="19" name="Text 17"/>
          <p:cNvSpPr txBox="1"/>
          <p:nvPr/>
        </p:nvSpPr>
        <p:spPr>
          <a:xfrm>
            <a:off x="1325880" y="3995928"/>
            <a:ext cx="3611880" cy="658368"/>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p-values not reported for gender and primary diagnosis group (low expected counts).</a:t>
            </a:r>
            <a:endParaRPr lang="en-US" sz="1200" dirty="0"/>
          </a:p>
        </p:txBody>
      </p:sp>
      <p:sp>
        <p:nvSpPr>
          <p:cNvPr id="20" name="step"/>
          <p:cNvSpPr/>
          <p:nvPr/>
        </p:nvSpPr>
        <p:spPr>
          <a:xfrm>
            <a:off x="548640" y="4800600"/>
            <a:ext cx="4480560" cy="1078992"/>
          </a:xfrm>
          <a:prstGeom prst="roundRect">
            <a:avLst>
              <a:gd name="adj" fmla="val 6780"/>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21" name="Shape 19"/>
          <p:cNvSpPr/>
          <p:nvPr/>
        </p:nvSpPr>
        <p:spPr>
          <a:xfrm>
            <a:off x="713232" y="5102352"/>
            <a:ext cx="457200" cy="457200"/>
          </a:xfrm>
          <a:prstGeom prst="ellipse">
            <a:avLst/>
          </a:prstGeom>
          <a:solidFill>
            <a:srgbClr val="0F766E"/>
          </a:solidFill>
          <a:ln w="12700">
            <a:solidFill>
              <a:srgbClr val="0F766E"/>
            </a:solidFill>
            <a:prstDash val="solid"/>
          </a:ln>
        </p:spPr>
      </p:sp>
      <p:sp>
        <p:nvSpPr>
          <p:cNvPr id="22" name="Text 20"/>
          <p:cNvSpPr txBox="1"/>
          <p:nvPr/>
        </p:nvSpPr>
        <p:spPr>
          <a:xfrm>
            <a:off x="713232" y="51023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1325880" y="4892040"/>
            <a:ext cx="361188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Benjamini–Hochberg FDR</a:t>
            </a:r>
            <a:endParaRPr lang="en-US" sz="1400" dirty="0"/>
          </a:p>
        </p:txBody>
      </p:sp>
      <p:sp>
        <p:nvSpPr>
          <p:cNvPr id="24" name="Text 22"/>
          <p:cNvSpPr txBox="1"/>
          <p:nvPr/>
        </p:nvSpPr>
        <p:spPr>
          <a:xfrm>
            <a:off x="1325880" y="5184648"/>
            <a:ext cx="3611880" cy="658368"/>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Adjusts p-values for many tests at once.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257800" y="1234440"/>
          <a:ext cx="6382512" cy="914400"/>
        </p:xfrm>
        <a:graphic>
          <a:graphicData uri="http://schemas.openxmlformats.org/drawingml/2006/table">
            <a:tbl>
              <a:tblPr/>
              <a:tblGrid>
                <a:gridCol w="2468880"/>
                <a:gridCol w="1325880"/>
                <a:gridCol w="1463040"/>
                <a:gridCol w="1124712"/>
              </a:tblGrid>
              <a:tr h="39319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Statistic</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FDR-adj. p</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0F766E"/>
                    </a:solidFill>
                  </a:tcPr>
                </a:tc>
              </a:tr>
              <a:tr h="393192">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Prior inpatient band</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χ²</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1,246.1</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4.5e−270</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Age group</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χ²</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165.9</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2.8e−35</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Medication burden</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χ²</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148.3</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1.4e−32</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Insulin status</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χ²</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75.2</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5.7e−16</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Any drug dose changed</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χ²</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27.2</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2.6e−7</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Medication changed (flag)</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χ²</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19.4</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1.3e−5</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A1C result category</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χ²</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16.5</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0.001</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Max glucose category</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χ²</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0.049</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Prior inpatient visits</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Mann–Whitney</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U = 2.02×10⁸</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5.1e−236</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Number of procedures</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Mann–Whitney</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U = 1.71×10⁸</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2318"/>
                          </a:solidFill>
                          <a:latin typeface="Calibri" pitchFamily="34" charset="0"/>
                          <a:ea typeface="Calibri" pitchFamily="34" charset="-122"/>
                          <a:cs typeface="Calibri" pitchFamily="34" charset="-120"/>
                        </a:rPr>
                        <a:t>0.214 (n.s.)</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bl>
          </a:graphicData>
        </a:graphic>
      </p:graphicFrame>
      <p:sp>
        <p:nvSpPr>
          <p:cNvPr id="26" name="caution"/>
          <p:cNvSpPr/>
          <p:nvPr/>
        </p:nvSpPr>
        <p:spPr>
          <a:xfrm>
            <a:off x="5257800" y="5669280"/>
            <a:ext cx="6382512" cy="685800"/>
          </a:xfrm>
          <a:prstGeom prst="roundRect">
            <a:avLst>
              <a:gd name="adj" fmla="val 10667"/>
            </a:avLst>
          </a:prstGeom>
          <a:solidFill>
            <a:srgbClr val="FBF0D9"/>
          </a:solidFill>
          <a:ln w="6350">
            <a:solidFill>
              <a:srgbClr val="D5DCE1"/>
            </a:solidFill>
            <a:prstDash val="solid"/>
          </a:ln>
        </p:spPr>
      </p:sp>
      <p:sp>
        <p:nvSpPr>
          <p:cNvPr id="27" name="Text 24"/>
          <p:cNvSpPr txBox="1"/>
          <p:nvPr/>
        </p:nvSpPr>
        <p:spPr>
          <a:xfrm>
            <a:off x="5394960" y="5669280"/>
            <a:ext cx="6126480" cy="685800"/>
          </a:xfrm>
          <a:prstGeom prst="rect">
            <a:avLst/>
          </a:prstGeom>
          <a:noFill/>
          <a:ln/>
        </p:spPr>
        <p:txBody>
          <a:bodyPr wrap="square" lIns="0" tIns="0" rIns="0" bIns="0" rtlCol="0" anchor="ctr"/>
          <a:lstStyle/>
          <a:p>
            <a:pPr indent="0" marL="0">
              <a:buNone/>
            </a:pPr>
            <a:r>
              <a:rPr lang="en-US" sz="1200" dirty="0">
                <a:solidFill>
                  <a:srgbClr val="10243A"/>
                </a:solidFill>
                <a:latin typeface="Calibri" pitchFamily="34" charset="0"/>
                <a:ea typeface="Calibri" pitchFamily="34" charset="-122"/>
                <a:cs typeface="Calibri" pitchFamily="34" charset="-120"/>
              </a:rPr>
              <a:t>Small p-values show an association exists, not that it is large or causal. Our old slide's χ² values (e.g. 209.17) used all encounters and assumed independence.</a:t>
            </a:r>
            <a:endParaRPr lang="en-US" sz="12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932688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Adjusted logistic regression results</a:t>
            </a:r>
            <a:endParaRPr lang="en-US" sz="3000" dirty="0"/>
          </a:p>
        </p:txBody>
      </p:sp>
      <p:sp>
        <p:nvSpPr>
          <p:cNvPr id="3" name="study chip"/>
          <p:cNvSpPr/>
          <p:nvPr/>
        </p:nvSpPr>
        <p:spPr>
          <a:xfrm>
            <a:off x="10012680" y="384048"/>
            <a:ext cx="1737360" cy="310896"/>
          </a:xfrm>
          <a:prstGeom prst="roundRect">
            <a:avLst>
              <a:gd name="adj" fmla="val 50000"/>
            </a:avLst>
          </a:prstGeom>
          <a:solidFill>
            <a:srgbClr val="0F766E"/>
          </a:solidFill>
          <a:ln w="12700">
            <a:solidFill>
              <a:srgbClr val="0F766E"/>
            </a:solidFill>
            <a:prstDash val="solid"/>
          </a:ln>
        </p:spPr>
      </p:sp>
      <p:sp>
        <p:nvSpPr>
          <p:cNvPr id="4" name="Text 2"/>
          <p:cNvSpPr txBox="1"/>
          <p:nvPr/>
        </p:nvSpPr>
        <p:spPr>
          <a:xfrm>
            <a:off x="10012680" y="384048"/>
            <a:ext cx="17373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STUDY A · UCI</a:t>
            </a:r>
            <a:endParaRPr lang="en-US" sz="1100" dirty="0"/>
          </a:p>
        </p:txBody>
      </p:sp>
      <p:sp>
        <p:nvSpPr>
          <p:cNvPr id="5" name="Text 3"/>
          <p:cNvSpPr txBox="1"/>
          <p:nvPr/>
        </p:nvSpPr>
        <p:spPr>
          <a:xfrm>
            <a:off x="548640" y="1097280"/>
            <a:ext cx="11064240" cy="274320"/>
          </a:xfrm>
          <a:prstGeom prst="rect">
            <a:avLst/>
          </a:prstGeom>
          <a:noFill/>
          <a:ln/>
        </p:spPr>
        <p:txBody>
          <a:bodyPr wrap="square" lIns="0" tIns="0" rIns="0" bIns="0" rtlCol="0" anchor="t"/>
          <a:lstStyle/>
          <a:p>
            <a:pPr indent="0" marL="0">
              <a:buNone/>
            </a:pPr>
            <a:r>
              <a:rPr lang="en-US" sz="1300" dirty="0">
                <a:solidFill>
                  <a:srgbClr val="55626C"/>
                </a:solidFill>
                <a:latin typeface="Calibri" pitchFamily="34" charset="0"/>
                <a:ea typeface="Calibri" pitchFamily="34" charset="-122"/>
                <a:cs typeface="Calibri" pitchFamily="34" charset="-120"/>
              </a:rPr>
              <a:t>Outcome: readmitted_30d · 99,343 encounters · patient-clustered standard errors · McFadden pseudo-R² = 0.0368</a:t>
            </a:r>
            <a:endParaRPr lang="en-US" sz="1300" dirty="0"/>
          </a:p>
        </p:txBody>
      </p:sp>
      <p:sp>
        <p:nvSpPr>
          <p:cNvPr id="6" name="forest card"/>
          <p:cNvSpPr/>
          <p:nvPr/>
        </p:nvSpPr>
        <p:spPr>
          <a:xfrm>
            <a:off x="548640" y="1508760"/>
            <a:ext cx="11091672" cy="4023360"/>
          </a:xfrm>
          <a:prstGeom prst="roundRect">
            <a:avLst>
              <a:gd name="adj" fmla="val 1818"/>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7" name="Shape 5"/>
          <p:cNvSpPr/>
          <p:nvPr/>
        </p:nvSpPr>
        <p:spPr>
          <a:xfrm>
            <a:off x="4130040" y="1691640"/>
            <a:ext cx="0" cy="3410712"/>
          </a:xfrm>
          <a:prstGeom prst="line">
            <a:avLst/>
          </a:prstGeom>
          <a:noFill/>
          <a:ln w="6350">
            <a:solidFill>
              <a:srgbClr val="E4E9ED"/>
            </a:solidFill>
            <a:prstDash val="solid"/>
          </a:ln>
        </p:spPr>
      </p:sp>
      <p:sp>
        <p:nvSpPr>
          <p:cNvPr id="8" name="Text 6"/>
          <p:cNvSpPr txBox="1"/>
          <p:nvPr/>
        </p:nvSpPr>
        <p:spPr>
          <a:xfrm>
            <a:off x="3901440" y="5148072"/>
            <a:ext cx="457200" cy="228600"/>
          </a:xfrm>
          <a:prstGeom prst="rect">
            <a:avLst/>
          </a:prstGeom>
          <a:noFill/>
          <a:ln/>
        </p:spPr>
        <p:txBody>
          <a:bodyPr wrap="square" lIns="0" tIns="0" rIns="0" bIns="0" rtlCol="0" anchor="t"/>
          <a:lstStyle/>
          <a:p>
            <a:pPr algn="ctr" indent="0" marL="0">
              <a:buNone/>
            </a:pPr>
            <a:r>
              <a:rPr lang="en-US" sz="1100" dirty="0">
                <a:solidFill>
                  <a:srgbClr val="55626C"/>
                </a:solidFill>
                <a:latin typeface="Calibri" pitchFamily="34" charset="0"/>
                <a:ea typeface="Calibri" pitchFamily="34" charset="-122"/>
                <a:cs typeface="Calibri" pitchFamily="34" charset="-120"/>
              </a:rPr>
              <a:t>0.9</a:t>
            </a:r>
            <a:endParaRPr lang="en-US" sz="1100" dirty="0"/>
          </a:p>
        </p:txBody>
      </p:sp>
      <p:sp>
        <p:nvSpPr>
          <p:cNvPr id="9" name="Shape 7"/>
          <p:cNvSpPr/>
          <p:nvPr/>
        </p:nvSpPr>
        <p:spPr>
          <a:xfrm>
            <a:off x="4892040" y="1691640"/>
            <a:ext cx="0" cy="3410712"/>
          </a:xfrm>
          <a:prstGeom prst="line">
            <a:avLst/>
          </a:prstGeom>
          <a:noFill/>
          <a:ln w="19050">
            <a:solidFill>
              <a:srgbClr val="10243A"/>
            </a:solidFill>
            <a:prstDash val="dash"/>
          </a:ln>
        </p:spPr>
      </p:sp>
      <p:sp>
        <p:nvSpPr>
          <p:cNvPr id="10" name="Text 8"/>
          <p:cNvSpPr txBox="1"/>
          <p:nvPr/>
        </p:nvSpPr>
        <p:spPr>
          <a:xfrm>
            <a:off x="4663440" y="5148072"/>
            <a:ext cx="457200" cy="228600"/>
          </a:xfrm>
          <a:prstGeom prst="rect">
            <a:avLst/>
          </a:prstGeom>
          <a:noFill/>
          <a:ln/>
        </p:spPr>
        <p:txBody>
          <a:bodyPr wrap="square" lIns="0" tIns="0" rIns="0" bIns="0" rtlCol="0" anchor="t"/>
          <a:lstStyle/>
          <a:p>
            <a:pPr algn="ctr" indent="0" marL="0">
              <a:buNone/>
            </a:pPr>
            <a:r>
              <a:rPr lang="en-US" sz="1100" dirty="0">
                <a:solidFill>
                  <a:srgbClr val="55626C"/>
                </a:solidFill>
                <a:latin typeface="Calibri" pitchFamily="34" charset="0"/>
                <a:ea typeface="Calibri" pitchFamily="34" charset="-122"/>
                <a:cs typeface="Calibri" pitchFamily="34" charset="-120"/>
              </a:rPr>
              <a:t>1.0</a:t>
            </a:r>
            <a:endParaRPr lang="en-US" sz="1100" dirty="0"/>
          </a:p>
        </p:txBody>
      </p:sp>
      <p:sp>
        <p:nvSpPr>
          <p:cNvPr id="11" name="Shape 9"/>
          <p:cNvSpPr/>
          <p:nvPr/>
        </p:nvSpPr>
        <p:spPr>
          <a:xfrm>
            <a:off x="5654040" y="1691640"/>
            <a:ext cx="0" cy="3410712"/>
          </a:xfrm>
          <a:prstGeom prst="line">
            <a:avLst/>
          </a:prstGeom>
          <a:noFill/>
          <a:ln w="6350">
            <a:solidFill>
              <a:srgbClr val="E4E9ED"/>
            </a:solidFill>
            <a:prstDash val="solid"/>
          </a:ln>
        </p:spPr>
      </p:sp>
      <p:sp>
        <p:nvSpPr>
          <p:cNvPr id="12" name="Text 10"/>
          <p:cNvSpPr txBox="1"/>
          <p:nvPr/>
        </p:nvSpPr>
        <p:spPr>
          <a:xfrm>
            <a:off x="5425440" y="5148072"/>
            <a:ext cx="457200" cy="228600"/>
          </a:xfrm>
          <a:prstGeom prst="rect">
            <a:avLst/>
          </a:prstGeom>
          <a:noFill/>
          <a:ln/>
        </p:spPr>
        <p:txBody>
          <a:bodyPr wrap="square" lIns="0" tIns="0" rIns="0" bIns="0" rtlCol="0" anchor="t"/>
          <a:lstStyle/>
          <a:p>
            <a:pPr algn="ctr" indent="0" marL="0">
              <a:buNone/>
            </a:pPr>
            <a:r>
              <a:rPr lang="en-US" sz="1100" dirty="0">
                <a:solidFill>
                  <a:srgbClr val="55626C"/>
                </a:solidFill>
                <a:latin typeface="Calibri" pitchFamily="34" charset="0"/>
                <a:ea typeface="Calibri" pitchFamily="34" charset="-122"/>
                <a:cs typeface="Calibri" pitchFamily="34" charset="-120"/>
              </a:rPr>
              <a:t>1.1</a:t>
            </a:r>
            <a:endParaRPr lang="en-US" sz="1100" dirty="0"/>
          </a:p>
        </p:txBody>
      </p:sp>
      <p:sp>
        <p:nvSpPr>
          <p:cNvPr id="13" name="Shape 11"/>
          <p:cNvSpPr/>
          <p:nvPr/>
        </p:nvSpPr>
        <p:spPr>
          <a:xfrm>
            <a:off x="6416040" y="1691640"/>
            <a:ext cx="0" cy="3410712"/>
          </a:xfrm>
          <a:prstGeom prst="line">
            <a:avLst/>
          </a:prstGeom>
          <a:noFill/>
          <a:ln w="6350">
            <a:solidFill>
              <a:srgbClr val="E4E9ED"/>
            </a:solidFill>
            <a:prstDash val="solid"/>
          </a:ln>
        </p:spPr>
      </p:sp>
      <p:sp>
        <p:nvSpPr>
          <p:cNvPr id="14" name="Text 12"/>
          <p:cNvSpPr txBox="1"/>
          <p:nvPr/>
        </p:nvSpPr>
        <p:spPr>
          <a:xfrm>
            <a:off x="6187440" y="5148072"/>
            <a:ext cx="457200" cy="228600"/>
          </a:xfrm>
          <a:prstGeom prst="rect">
            <a:avLst/>
          </a:prstGeom>
          <a:noFill/>
          <a:ln/>
        </p:spPr>
        <p:txBody>
          <a:bodyPr wrap="square" lIns="0" tIns="0" rIns="0" bIns="0" rtlCol="0" anchor="t"/>
          <a:lstStyle/>
          <a:p>
            <a:pPr algn="ctr" indent="0" marL="0">
              <a:buNone/>
            </a:pPr>
            <a:r>
              <a:rPr lang="en-US" sz="1100" dirty="0">
                <a:solidFill>
                  <a:srgbClr val="55626C"/>
                </a:solidFill>
                <a:latin typeface="Calibri" pitchFamily="34" charset="0"/>
                <a:ea typeface="Calibri" pitchFamily="34" charset="-122"/>
                <a:cs typeface="Calibri" pitchFamily="34" charset="-120"/>
              </a:rPr>
              <a:t>1.2</a:t>
            </a:r>
            <a:endParaRPr lang="en-US" sz="1100" dirty="0"/>
          </a:p>
        </p:txBody>
      </p:sp>
      <p:sp>
        <p:nvSpPr>
          <p:cNvPr id="15" name="Shape 13"/>
          <p:cNvSpPr/>
          <p:nvPr/>
        </p:nvSpPr>
        <p:spPr>
          <a:xfrm>
            <a:off x="7178040" y="1691640"/>
            <a:ext cx="0" cy="3410712"/>
          </a:xfrm>
          <a:prstGeom prst="line">
            <a:avLst/>
          </a:prstGeom>
          <a:noFill/>
          <a:ln w="6350">
            <a:solidFill>
              <a:srgbClr val="E4E9ED"/>
            </a:solidFill>
            <a:prstDash val="solid"/>
          </a:ln>
        </p:spPr>
      </p:sp>
      <p:sp>
        <p:nvSpPr>
          <p:cNvPr id="16" name="Text 14"/>
          <p:cNvSpPr txBox="1"/>
          <p:nvPr/>
        </p:nvSpPr>
        <p:spPr>
          <a:xfrm>
            <a:off x="6949440" y="5148072"/>
            <a:ext cx="457200" cy="228600"/>
          </a:xfrm>
          <a:prstGeom prst="rect">
            <a:avLst/>
          </a:prstGeom>
          <a:noFill/>
          <a:ln/>
        </p:spPr>
        <p:txBody>
          <a:bodyPr wrap="square" lIns="0" tIns="0" rIns="0" bIns="0" rtlCol="0" anchor="t"/>
          <a:lstStyle/>
          <a:p>
            <a:pPr algn="ctr" indent="0" marL="0">
              <a:buNone/>
            </a:pPr>
            <a:r>
              <a:rPr lang="en-US" sz="1100" dirty="0">
                <a:solidFill>
                  <a:srgbClr val="55626C"/>
                </a:solidFill>
                <a:latin typeface="Calibri" pitchFamily="34" charset="0"/>
                <a:ea typeface="Calibri" pitchFamily="34" charset="-122"/>
                <a:cs typeface="Calibri" pitchFamily="34" charset="-120"/>
              </a:rPr>
              <a:t>1.3</a:t>
            </a:r>
            <a:endParaRPr lang="en-US" sz="1100" dirty="0"/>
          </a:p>
        </p:txBody>
      </p:sp>
      <p:sp>
        <p:nvSpPr>
          <p:cNvPr id="17" name="Shape 15"/>
          <p:cNvSpPr/>
          <p:nvPr/>
        </p:nvSpPr>
        <p:spPr>
          <a:xfrm>
            <a:off x="7940040" y="1691640"/>
            <a:ext cx="0" cy="3410712"/>
          </a:xfrm>
          <a:prstGeom prst="line">
            <a:avLst/>
          </a:prstGeom>
          <a:noFill/>
          <a:ln w="6350">
            <a:solidFill>
              <a:srgbClr val="E4E9ED"/>
            </a:solidFill>
            <a:prstDash val="solid"/>
          </a:ln>
        </p:spPr>
      </p:sp>
      <p:sp>
        <p:nvSpPr>
          <p:cNvPr id="18" name="Text 16"/>
          <p:cNvSpPr txBox="1"/>
          <p:nvPr/>
        </p:nvSpPr>
        <p:spPr>
          <a:xfrm>
            <a:off x="7711440" y="5148072"/>
            <a:ext cx="457200" cy="228600"/>
          </a:xfrm>
          <a:prstGeom prst="rect">
            <a:avLst/>
          </a:prstGeom>
          <a:noFill/>
          <a:ln/>
        </p:spPr>
        <p:txBody>
          <a:bodyPr wrap="square" lIns="0" tIns="0" rIns="0" bIns="0" rtlCol="0" anchor="t"/>
          <a:lstStyle/>
          <a:p>
            <a:pPr algn="ctr" indent="0" marL="0">
              <a:buNone/>
            </a:pPr>
            <a:r>
              <a:rPr lang="en-US" sz="1100" dirty="0">
                <a:solidFill>
                  <a:srgbClr val="55626C"/>
                </a:solidFill>
                <a:latin typeface="Calibri" pitchFamily="34" charset="0"/>
                <a:ea typeface="Calibri" pitchFamily="34" charset="-122"/>
                <a:cs typeface="Calibri" pitchFamily="34" charset="-120"/>
              </a:rPr>
              <a:t>1.4</a:t>
            </a:r>
            <a:endParaRPr lang="en-US" sz="1100" dirty="0"/>
          </a:p>
        </p:txBody>
      </p:sp>
      <p:sp>
        <p:nvSpPr>
          <p:cNvPr id="19" name="Text 17"/>
          <p:cNvSpPr txBox="1"/>
          <p:nvPr/>
        </p:nvSpPr>
        <p:spPr>
          <a:xfrm>
            <a:off x="3749040" y="5385816"/>
            <a:ext cx="4572000" cy="228600"/>
          </a:xfrm>
          <a:prstGeom prst="rect">
            <a:avLst/>
          </a:prstGeom>
          <a:noFill/>
          <a:ln/>
        </p:spPr>
        <p:txBody>
          <a:bodyPr wrap="square" lIns="0" tIns="0" rIns="0" bIns="0" rtlCol="0" anchor="t"/>
          <a:lstStyle/>
          <a:p>
            <a:pPr algn="ctr" indent="0" marL="0">
              <a:buNone/>
            </a:pPr>
            <a:r>
              <a:rPr lang="en-US" sz="1100" dirty="0">
                <a:solidFill>
                  <a:srgbClr val="55626C"/>
                </a:solidFill>
                <a:latin typeface="Calibri" pitchFamily="34" charset="0"/>
                <a:ea typeface="Calibri" pitchFamily="34" charset="-122"/>
                <a:cs typeface="Calibri" pitchFamily="34" charset="-120"/>
              </a:rPr>
              <a:t>Adjusted odds ratio (1.0 = no association)</a:t>
            </a:r>
            <a:endParaRPr lang="en-US" sz="1100" dirty="0"/>
          </a:p>
        </p:txBody>
      </p:sp>
      <p:sp>
        <p:nvSpPr>
          <p:cNvPr id="20" name="Text 18"/>
          <p:cNvSpPr txBox="1"/>
          <p:nvPr/>
        </p:nvSpPr>
        <p:spPr>
          <a:xfrm>
            <a:off x="8686800" y="1572768"/>
            <a:ext cx="2834640" cy="228600"/>
          </a:xfrm>
          <a:prstGeom prst="rect">
            <a:avLst/>
          </a:prstGeom>
          <a:noFill/>
          <a:ln/>
        </p:spPr>
        <p:txBody>
          <a:bodyPr wrap="square" lIns="0" tIns="0" rIns="0" bIns="0" rtlCol="0" anchor="t"/>
          <a:lstStyle/>
          <a:p>
            <a:pPr indent="0" marL="0">
              <a:buNone/>
            </a:pPr>
            <a:r>
              <a:rPr lang="en-US" sz="1100" b="1" dirty="0">
                <a:solidFill>
                  <a:srgbClr val="55626C"/>
                </a:solidFill>
                <a:latin typeface="Calibri" pitchFamily="34" charset="0"/>
                <a:ea typeface="Calibri" pitchFamily="34" charset="-122"/>
                <a:cs typeface="Calibri" pitchFamily="34" charset="-120"/>
              </a:rPr>
              <a:t>OR (95% CI)</a:t>
            </a:r>
            <a:endParaRPr lang="en-US" sz="1100" dirty="0"/>
          </a:p>
        </p:txBody>
      </p:sp>
      <p:sp>
        <p:nvSpPr>
          <p:cNvPr id="21" name="Text 19"/>
          <p:cNvSpPr txBox="1"/>
          <p:nvPr/>
        </p:nvSpPr>
        <p:spPr>
          <a:xfrm>
            <a:off x="777240" y="1719072"/>
            <a:ext cx="2926080" cy="365760"/>
          </a:xfrm>
          <a:prstGeom prst="rect">
            <a:avLst/>
          </a:prstGeom>
          <a:noFill/>
          <a:ln/>
        </p:spPr>
        <p:txBody>
          <a:bodyPr wrap="square" lIns="0" tIns="0" rIns="0" bIns="0" rtlCol="0" anchor="ctr"/>
          <a:lstStyle/>
          <a:p>
            <a:pPr indent="0" marL="0">
              <a:buNone/>
            </a:pPr>
            <a:r>
              <a:rPr lang="en-US" sz="1300" b="1" dirty="0">
                <a:solidFill>
                  <a:srgbClr val="10243A"/>
                </a:solidFill>
                <a:latin typeface="Calibri" pitchFamily="34" charset="0"/>
                <a:ea typeface="Calibri" pitchFamily="34" charset="-122"/>
                <a:cs typeface="Calibri" pitchFamily="34" charset="-120"/>
              </a:rPr>
              <a:t>Prior inpatient visits (per visit)</a:t>
            </a:r>
            <a:endParaRPr lang="en-US" sz="1300" dirty="0"/>
          </a:p>
        </p:txBody>
      </p:sp>
      <p:sp>
        <p:nvSpPr>
          <p:cNvPr id="22" name="Shape 20"/>
          <p:cNvSpPr/>
          <p:nvPr/>
        </p:nvSpPr>
        <p:spPr>
          <a:xfrm>
            <a:off x="7117080" y="1892808"/>
            <a:ext cx="266700" cy="0"/>
          </a:xfrm>
          <a:prstGeom prst="line">
            <a:avLst/>
          </a:prstGeom>
          <a:noFill/>
          <a:ln w="31750">
            <a:solidFill>
              <a:srgbClr val="0F766E"/>
            </a:solidFill>
            <a:prstDash val="solid"/>
          </a:ln>
        </p:spPr>
      </p:sp>
      <p:sp>
        <p:nvSpPr>
          <p:cNvPr id="23" name="Shape 21"/>
          <p:cNvSpPr/>
          <p:nvPr/>
        </p:nvSpPr>
        <p:spPr>
          <a:xfrm>
            <a:off x="7173468" y="1819656"/>
            <a:ext cx="146304" cy="146304"/>
          </a:xfrm>
          <a:prstGeom prst="ellipse">
            <a:avLst/>
          </a:prstGeom>
          <a:solidFill>
            <a:srgbClr val="0F766E"/>
          </a:solidFill>
          <a:ln w="12700">
            <a:solidFill>
              <a:srgbClr val="0F766E"/>
            </a:solidFill>
            <a:prstDash val="solid"/>
          </a:ln>
        </p:spPr>
      </p:sp>
      <p:sp>
        <p:nvSpPr>
          <p:cNvPr id="24" name="Text 22"/>
          <p:cNvSpPr txBox="1"/>
          <p:nvPr/>
        </p:nvSpPr>
        <p:spPr>
          <a:xfrm>
            <a:off x="8686800" y="1719072"/>
            <a:ext cx="2834640" cy="365760"/>
          </a:xfrm>
          <a:prstGeom prst="rect">
            <a:avLst/>
          </a:prstGeom>
          <a:noFill/>
          <a:ln/>
        </p:spPr>
        <p:txBody>
          <a:bodyPr wrap="square" lIns="0" tIns="0" rIns="0" bIns="0" rtlCol="0" anchor="ctr"/>
          <a:lstStyle/>
          <a:p>
            <a:pPr indent="0" marL="0">
              <a:buNone/>
            </a:pPr>
            <a:r>
              <a:rPr lang="en-US" sz="1300" b="1" dirty="0">
                <a:solidFill>
                  <a:srgbClr val="10243A"/>
                </a:solidFill>
                <a:latin typeface="Calibri" pitchFamily="34" charset="0"/>
                <a:ea typeface="Calibri" pitchFamily="34" charset="-122"/>
                <a:cs typeface="Calibri" pitchFamily="34" charset="-120"/>
              </a:rPr>
              <a:t>1.309 (1.292–1.327)</a:t>
            </a:r>
            <a:endParaRPr lang="en-US" sz="1300" dirty="0"/>
          </a:p>
        </p:txBody>
      </p:sp>
      <p:sp>
        <p:nvSpPr>
          <p:cNvPr id="25" name="Text 23"/>
          <p:cNvSpPr txBox="1"/>
          <p:nvPr/>
        </p:nvSpPr>
        <p:spPr>
          <a:xfrm>
            <a:off x="777240" y="2139696"/>
            <a:ext cx="292608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Prior emergency visits (per visit)</a:t>
            </a:r>
            <a:endParaRPr lang="en-US" sz="1300" dirty="0"/>
          </a:p>
        </p:txBody>
      </p:sp>
      <p:sp>
        <p:nvSpPr>
          <p:cNvPr id="26" name="Shape 24"/>
          <p:cNvSpPr/>
          <p:nvPr/>
        </p:nvSpPr>
        <p:spPr>
          <a:xfrm>
            <a:off x="4960620" y="2313432"/>
            <a:ext cx="396240" cy="0"/>
          </a:xfrm>
          <a:prstGeom prst="line">
            <a:avLst/>
          </a:prstGeom>
          <a:noFill/>
          <a:ln w="31750">
            <a:solidFill>
              <a:srgbClr val="0F766E"/>
            </a:solidFill>
            <a:prstDash val="solid"/>
          </a:ln>
        </p:spPr>
      </p:sp>
      <p:sp>
        <p:nvSpPr>
          <p:cNvPr id="27" name="Shape 25"/>
          <p:cNvSpPr/>
          <p:nvPr/>
        </p:nvSpPr>
        <p:spPr>
          <a:xfrm>
            <a:off x="5085588" y="2240280"/>
            <a:ext cx="146304" cy="146304"/>
          </a:xfrm>
          <a:prstGeom prst="ellipse">
            <a:avLst/>
          </a:prstGeom>
          <a:solidFill>
            <a:srgbClr val="0F766E"/>
          </a:solidFill>
          <a:ln w="12700">
            <a:solidFill>
              <a:srgbClr val="0F766E"/>
            </a:solidFill>
            <a:prstDash val="solid"/>
          </a:ln>
        </p:spPr>
      </p:sp>
      <p:sp>
        <p:nvSpPr>
          <p:cNvPr id="28" name="Text 26"/>
          <p:cNvSpPr txBox="1"/>
          <p:nvPr/>
        </p:nvSpPr>
        <p:spPr>
          <a:xfrm>
            <a:off x="8686800" y="2139696"/>
            <a:ext cx="283464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1.035 (1.009–1.061)</a:t>
            </a:r>
            <a:endParaRPr lang="en-US" sz="1300" dirty="0"/>
          </a:p>
        </p:txBody>
      </p:sp>
      <p:sp>
        <p:nvSpPr>
          <p:cNvPr id="29" name="Text 27"/>
          <p:cNvSpPr txBox="1"/>
          <p:nvPr/>
        </p:nvSpPr>
        <p:spPr>
          <a:xfrm>
            <a:off x="777240" y="2560320"/>
            <a:ext cx="292608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Diagnosis count (per diagnosis)</a:t>
            </a:r>
            <a:endParaRPr lang="en-US" sz="1300" dirty="0"/>
          </a:p>
        </p:txBody>
      </p:sp>
      <p:sp>
        <p:nvSpPr>
          <p:cNvPr id="30" name="Shape 28"/>
          <p:cNvSpPr/>
          <p:nvPr/>
        </p:nvSpPr>
        <p:spPr>
          <a:xfrm>
            <a:off x="5166360" y="2734056"/>
            <a:ext cx="190500" cy="0"/>
          </a:xfrm>
          <a:prstGeom prst="line">
            <a:avLst/>
          </a:prstGeom>
          <a:noFill/>
          <a:ln w="31750">
            <a:solidFill>
              <a:srgbClr val="0F766E"/>
            </a:solidFill>
            <a:prstDash val="solid"/>
          </a:ln>
        </p:spPr>
      </p:sp>
      <p:sp>
        <p:nvSpPr>
          <p:cNvPr id="31" name="Shape 29"/>
          <p:cNvSpPr/>
          <p:nvPr/>
        </p:nvSpPr>
        <p:spPr>
          <a:xfrm>
            <a:off x="5184648" y="2660904"/>
            <a:ext cx="146304" cy="146304"/>
          </a:xfrm>
          <a:prstGeom prst="ellipse">
            <a:avLst/>
          </a:prstGeom>
          <a:solidFill>
            <a:srgbClr val="0F766E"/>
          </a:solidFill>
          <a:ln w="12700">
            <a:solidFill>
              <a:srgbClr val="0F766E"/>
            </a:solidFill>
            <a:prstDash val="solid"/>
          </a:ln>
        </p:spPr>
      </p:sp>
      <p:sp>
        <p:nvSpPr>
          <p:cNvPr id="32" name="Text 30"/>
          <p:cNvSpPr txBox="1"/>
          <p:nvPr/>
        </p:nvSpPr>
        <p:spPr>
          <a:xfrm>
            <a:off x="8686800" y="2560320"/>
            <a:ext cx="283464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1.048 (1.036–1.061)</a:t>
            </a:r>
            <a:endParaRPr lang="en-US" sz="1300" dirty="0"/>
          </a:p>
        </p:txBody>
      </p:sp>
      <p:sp>
        <p:nvSpPr>
          <p:cNvPr id="33" name="Text 31"/>
          <p:cNvSpPr txBox="1"/>
          <p:nvPr/>
        </p:nvSpPr>
        <p:spPr>
          <a:xfrm>
            <a:off x="777240" y="2980944"/>
            <a:ext cx="292608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Length of stay (per day)</a:t>
            </a:r>
            <a:endParaRPr lang="en-US" sz="1300" dirty="0"/>
          </a:p>
        </p:txBody>
      </p:sp>
      <p:sp>
        <p:nvSpPr>
          <p:cNvPr id="34" name="Shape 32"/>
          <p:cNvSpPr/>
          <p:nvPr/>
        </p:nvSpPr>
        <p:spPr>
          <a:xfrm>
            <a:off x="5013960" y="3154680"/>
            <a:ext cx="114300" cy="0"/>
          </a:xfrm>
          <a:prstGeom prst="line">
            <a:avLst/>
          </a:prstGeom>
          <a:noFill/>
          <a:ln w="31750">
            <a:solidFill>
              <a:srgbClr val="0F766E"/>
            </a:solidFill>
            <a:prstDash val="solid"/>
          </a:ln>
        </p:spPr>
      </p:sp>
      <p:sp>
        <p:nvSpPr>
          <p:cNvPr id="35" name="Shape 33"/>
          <p:cNvSpPr/>
          <p:nvPr/>
        </p:nvSpPr>
        <p:spPr>
          <a:xfrm>
            <a:off x="4994148" y="3081528"/>
            <a:ext cx="146304" cy="146304"/>
          </a:xfrm>
          <a:prstGeom prst="ellipse">
            <a:avLst/>
          </a:prstGeom>
          <a:solidFill>
            <a:srgbClr val="0F766E"/>
          </a:solidFill>
          <a:ln w="12700">
            <a:solidFill>
              <a:srgbClr val="0F766E"/>
            </a:solidFill>
            <a:prstDash val="solid"/>
          </a:ln>
        </p:spPr>
      </p:sp>
      <p:sp>
        <p:nvSpPr>
          <p:cNvPr id="36" name="Text 34"/>
          <p:cNvSpPr txBox="1"/>
          <p:nvPr/>
        </p:nvSpPr>
        <p:spPr>
          <a:xfrm>
            <a:off x="8686800" y="2980944"/>
            <a:ext cx="283464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1.023 (1.016–1.031)</a:t>
            </a:r>
            <a:endParaRPr lang="en-US" sz="1300" dirty="0"/>
          </a:p>
        </p:txBody>
      </p:sp>
      <p:sp>
        <p:nvSpPr>
          <p:cNvPr id="37" name="Text 35"/>
          <p:cNvSpPr txBox="1"/>
          <p:nvPr/>
        </p:nvSpPr>
        <p:spPr>
          <a:xfrm>
            <a:off x="777240" y="3401568"/>
            <a:ext cx="292608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Age 80+ vs under 40</a:t>
            </a:r>
            <a:endParaRPr lang="en-US" sz="1300" dirty="0"/>
          </a:p>
        </p:txBody>
      </p:sp>
      <p:sp>
        <p:nvSpPr>
          <p:cNvPr id="38" name="Shape 36"/>
          <p:cNvSpPr/>
          <p:nvPr/>
        </p:nvSpPr>
        <p:spPr>
          <a:xfrm>
            <a:off x="5890260" y="3575304"/>
            <a:ext cx="2057400" cy="0"/>
          </a:xfrm>
          <a:prstGeom prst="line">
            <a:avLst/>
          </a:prstGeom>
          <a:noFill/>
          <a:ln w="31750">
            <a:solidFill>
              <a:srgbClr val="0F766E"/>
            </a:solidFill>
            <a:prstDash val="solid"/>
          </a:ln>
        </p:spPr>
      </p:sp>
      <p:sp>
        <p:nvSpPr>
          <p:cNvPr id="39" name="Shape 37"/>
          <p:cNvSpPr/>
          <p:nvPr/>
        </p:nvSpPr>
        <p:spPr>
          <a:xfrm>
            <a:off x="6792468" y="3502152"/>
            <a:ext cx="146304" cy="146304"/>
          </a:xfrm>
          <a:prstGeom prst="ellipse">
            <a:avLst/>
          </a:prstGeom>
          <a:solidFill>
            <a:srgbClr val="0F766E"/>
          </a:solidFill>
          <a:ln w="12700">
            <a:solidFill>
              <a:srgbClr val="0F766E"/>
            </a:solidFill>
            <a:prstDash val="solid"/>
          </a:ln>
        </p:spPr>
      </p:sp>
      <p:sp>
        <p:nvSpPr>
          <p:cNvPr id="40" name="Text 38"/>
          <p:cNvSpPr txBox="1"/>
          <p:nvPr/>
        </p:nvSpPr>
        <p:spPr>
          <a:xfrm>
            <a:off x="8686800" y="3401568"/>
            <a:ext cx="283464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1.259 (1.131–1.401)</a:t>
            </a:r>
            <a:endParaRPr lang="en-US" sz="1300" dirty="0"/>
          </a:p>
        </p:txBody>
      </p:sp>
      <p:sp>
        <p:nvSpPr>
          <p:cNvPr id="41" name="Text 39"/>
          <p:cNvSpPr txBox="1"/>
          <p:nvPr/>
        </p:nvSpPr>
        <p:spPr>
          <a:xfrm>
            <a:off x="777240" y="3822192"/>
            <a:ext cx="292608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Age 60–79 vs under 40</a:t>
            </a:r>
            <a:endParaRPr lang="en-US" sz="1300" dirty="0"/>
          </a:p>
        </p:txBody>
      </p:sp>
      <p:sp>
        <p:nvSpPr>
          <p:cNvPr id="42" name="Shape 40"/>
          <p:cNvSpPr/>
          <p:nvPr/>
        </p:nvSpPr>
        <p:spPr>
          <a:xfrm>
            <a:off x="5326380" y="3995928"/>
            <a:ext cx="1805940" cy="0"/>
          </a:xfrm>
          <a:prstGeom prst="line">
            <a:avLst/>
          </a:prstGeom>
          <a:noFill/>
          <a:ln w="31750">
            <a:solidFill>
              <a:srgbClr val="0F766E"/>
            </a:solidFill>
            <a:prstDash val="solid"/>
          </a:ln>
        </p:spPr>
      </p:sp>
      <p:sp>
        <p:nvSpPr>
          <p:cNvPr id="43" name="Shape 41"/>
          <p:cNvSpPr/>
          <p:nvPr/>
        </p:nvSpPr>
        <p:spPr>
          <a:xfrm>
            <a:off x="6114288" y="3922776"/>
            <a:ext cx="146304" cy="146304"/>
          </a:xfrm>
          <a:prstGeom prst="ellipse">
            <a:avLst/>
          </a:prstGeom>
          <a:solidFill>
            <a:srgbClr val="0F766E"/>
          </a:solidFill>
          <a:ln w="12700">
            <a:solidFill>
              <a:srgbClr val="0F766E"/>
            </a:solidFill>
            <a:prstDash val="solid"/>
          </a:ln>
        </p:spPr>
      </p:sp>
      <p:sp>
        <p:nvSpPr>
          <p:cNvPr id="44" name="Text 42"/>
          <p:cNvSpPr txBox="1"/>
          <p:nvPr/>
        </p:nvSpPr>
        <p:spPr>
          <a:xfrm>
            <a:off x="8686800" y="3822192"/>
            <a:ext cx="283464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1.170 (1.057–1.294)</a:t>
            </a:r>
            <a:endParaRPr lang="en-US" sz="1300" dirty="0"/>
          </a:p>
        </p:txBody>
      </p:sp>
      <p:sp>
        <p:nvSpPr>
          <p:cNvPr id="45" name="Text 43"/>
          <p:cNvSpPr txBox="1"/>
          <p:nvPr/>
        </p:nvSpPr>
        <p:spPr>
          <a:xfrm>
            <a:off x="777240" y="4242816"/>
            <a:ext cx="292608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Insulin dose down vs none</a:t>
            </a:r>
            <a:endParaRPr lang="en-US" sz="1300" dirty="0"/>
          </a:p>
        </p:txBody>
      </p:sp>
      <p:sp>
        <p:nvSpPr>
          <p:cNvPr id="46" name="Shape 44"/>
          <p:cNvSpPr/>
          <p:nvPr/>
        </p:nvSpPr>
        <p:spPr>
          <a:xfrm>
            <a:off x="6606540" y="4416552"/>
            <a:ext cx="1584960" cy="0"/>
          </a:xfrm>
          <a:prstGeom prst="line">
            <a:avLst/>
          </a:prstGeom>
          <a:noFill/>
          <a:ln w="31750">
            <a:solidFill>
              <a:srgbClr val="0F766E"/>
            </a:solidFill>
            <a:prstDash val="solid"/>
          </a:ln>
        </p:spPr>
      </p:sp>
      <p:sp>
        <p:nvSpPr>
          <p:cNvPr id="47" name="Shape 45"/>
          <p:cNvSpPr/>
          <p:nvPr/>
        </p:nvSpPr>
        <p:spPr>
          <a:xfrm>
            <a:off x="7295388" y="4343400"/>
            <a:ext cx="146304" cy="146304"/>
          </a:xfrm>
          <a:prstGeom prst="ellipse">
            <a:avLst/>
          </a:prstGeom>
          <a:solidFill>
            <a:srgbClr val="0F766E"/>
          </a:solidFill>
          <a:ln w="12700">
            <a:solidFill>
              <a:srgbClr val="0F766E"/>
            </a:solidFill>
            <a:prstDash val="solid"/>
          </a:ln>
        </p:spPr>
      </p:sp>
      <p:sp>
        <p:nvSpPr>
          <p:cNvPr id="48" name="Text 46"/>
          <p:cNvSpPr txBox="1"/>
          <p:nvPr/>
        </p:nvSpPr>
        <p:spPr>
          <a:xfrm>
            <a:off x="8686800" y="4242816"/>
            <a:ext cx="283464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1.325 (1.225–1.433)</a:t>
            </a:r>
            <a:endParaRPr lang="en-US" sz="1300" dirty="0"/>
          </a:p>
        </p:txBody>
      </p:sp>
      <p:sp>
        <p:nvSpPr>
          <p:cNvPr id="49" name="Text 47"/>
          <p:cNvSpPr txBox="1"/>
          <p:nvPr/>
        </p:nvSpPr>
        <p:spPr>
          <a:xfrm>
            <a:off x="777240" y="4663440"/>
            <a:ext cx="292608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Medication changed (flag)</a:t>
            </a:r>
            <a:endParaRPr lang="en-US" sz="1300" dirty="0"/>
          </a:p>
        </p:txBody>
      </p:sp>
      <p:sp>
        <p:nvSpPr>
          <p:cNvPr id="50" name="Shape 48"/>
          <p:cNvSpPr/>
          <p:nvPr/>
        </p:nvSpPr>
        <p:spPr>
          <a:xfrm>
            <a:off x="4061460" y="4837176"/>
            <a:ext cx="784860" cy="0"/>
          </a:xfrm>
          <a:prstGeom prst="line">
            <a:avLst/>
          </a:prstGeom>
          <a:noFill/>
          <a:ln w="31750">
            <a:solidFill>
              <a:srgbClr val="3949AB"/>
            </a:solidFill>
            <a:prstDash val="solid"/>
          </a:ln>
        </p:spPr>
      </p:sp>
      <p:sp>
        <p:nvSpPr>
          <p:cNvPr id="51" name="Shape 49"/>
          <p:cNvSpPr/>
          <p:nvPr/>
        </p:nvSpPr>
        <p:spPr>
          <a:xfrm>
            <a:off x="4369308" y="4764024"/>
            <a:ext cx="146304" cy="146304"/>
          </a:xfrm>
          <a:prstGeom prst="ellipse">
            <a:avLst/>
          </a:prstGeom>
          <a:solidFill>
            <a:srgbClr val="3949AB"/>
          </a:solidFill>
          <a:ln w="12700">
            <a:solidFill>
              <a:srgbClr val="3949AB"/>
            </a:solidFill>
            <a:prstDash val="solid"/>
          </a:ln>
        </p:spPr>
      </p:sp>
      <p:sp>
        <p:nvSpPr>
          <p:cNvPr id="52" name="Text 50"/>
          <p:cNvSpPr txBox="1"/>
          <p:nvPr/>
        </p:nvSpPr>
        <p:spPr>
          <a:xfrm>
            <a:off x="8686800" y="4663440"/>
            <a:ext cx="2834640" cy="365760"/>
          </a:xfrm>
          <a:prstGeom prst="rect">
            <a:avLst/>
          </a:prstGeom>
          <a:noFill/>
          <a:ln/>
        </p:spPr>
        <p:txBody>
          <a:bodyPr wrap="square" lIns="0" tIns="0" rIns="0" bIns="0" rtlCol="0" anchor="ctr"/>
          <a:lstStyle/>
          <a:p>
            <a:pPr indent="0" marL="0">
              <a:buNone/>
            </a:pPr>
            <a:r>
              <a:rPr lang="en-US" sz="1300" dirty="0">
                <a:solidFill>
                  <a:srgbClr val="10243A"/>
                </a:solidFill>
                <a:latin typeface="Calibri" pitchFamily="34" charset="0"/>
                <a:ea typeface="Calibri" pitchFamily="34" charset="-122"/>
                <a:cs typeface="Calibri" pitchFamily="34" charset="-120"/>
              </a:rPr>
              <a:t>0.941 (0.891–0.994)</a:t>
            </a:r>
            <a:endParaRPr lang="en-US" sz="1300" dirty="0"/>
          </a:p>
        </p:txBody>
      </p:sp>
      <p:sp>
        <p:nvSpPr>
          <p:cNvPr id="53" name="interpret"/>
          <p:cNvSpPr/>
          <p:nvPr/>
        </p:nvSpPr>
        <p:spPr>
          <a:xfrm>
            <a:off x="548640" y="5715000"/>
            <a:ext cx="11091672" cy="640080"/>
          </a:xfrm>
          <a:prstGeom prst="roundRect">
            <a:avLst>
              <a:gd name="adj" fmla="val 11429"/>
            </a:avLst>
          </a:prstGeom>
          <a:solidFill>
            <a:srgbClr val="DCEFEC"/>
          </a:solidFill>
          <a:ln w="6350">
            <a:solidFill>
              <a:srgbClr val="D5DCE1"/>
            </a:solidFill>
            <a:prstDash val="solid"/>
          </a:ln>
        </p:spPr>
      </p:sp>
      <p:sp>
        <p:nvSpPr>
          <p:cNvPr id="54" name="Text 52"/>
          <p:cNvSpPr txBox="1"/>
          <p:nvPr/>
        </p:nvSpPr>
        <p:spPr>
          <a:xfrm>
            <a:off x="731520" y="5715000"/>
            <a:ext cx="10698480" cy="640080"/>
          </a:xfrm>
          <a:prstGeom prst="rect">
            <a:avLst/>
          </a:prstGeom>
          <a:noFill/>
          <a:ln/>
        </p:spPr>
        <p:txBody>
          <a:bodyPr wrap="square" lIns="0" tIns="0" rIns="0" bIns="0" rtlCol="0" anchor="ctr"/>
          <a:lstStyle/>
          <a:p>
            <a:pPr indent="0" marL="0">
              <a:buNone/>
            </a:pPr>
            <a:r>
              <a:rPr lang="en-US" sz="1300" b="1" dirty="0">
                <a:solidFill>
                  <a:srgbClr val="10243A"/>
                </a:solidFill>
                <a:latin typeface="Calibri" pitchFamily="34" charset="0"/>
                <a:ea typeface="Calibri" pitchFamily="34" charset="-122"/>
                <a:cs typeface="Calibri" pitchFamily="34" charset="-120"/>
              </a:rPr>
              <a:t>Read OR 1.309 as ≈30.9% higher odds per additional prior inpatient visit, </a:t>
            </a:r>
            <a:pPr indent="0" marL="0">
              <a:buNone/>
            </a:pPr>
            <a:r>
              <a:rPr lang="en-US" sz="1300" dirty="0">
                <a:solidFill>
                  <a:srgbClr val="10243A"/>
                </a:solidFill>
                <a:latin typeface="Calibri" pitchFamily="34" charset="0"/>
                <a:ea typeface="Calibri" pitchFamily="34" charset="-122"/>
                <a:cs typeface="Calibri" pitchFamily="34" charset="-120"/>
              </a:rPr>
              <a:t>not a 30.9-percentage-point rise in probability. Medication-change OR (0.941) is not a proven protective effect (see robustness).</a:t>
            </a:r>
            <a:endParaRPr lang="en-US" sz="13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932688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Predictive modelling: modest discrimination</a:t>
            </a:r>
            <a:endParaRPr lang="en-US" sz="3000" dirty="0"/>
          </a:p>
        </p:txBody>
      </p:sp>
      <p:sp>
        <p:nvSpPr>
          <p:cNvPr id="3" name="study chip"/>
          <p:cNvSpPr/>
          <p:nvPr/>
        </p:nvSpPr>
        <p:spPr>
          <a:xfrm>
            <a:off x="10012680" y="384048"/>
            <a:ext cx="1737360" cy="310896"/>
          </a:xfrm>
          <a:prstGeom prst="roundRect">
            <a:avLst>
              <a:gd name="adj" fmla="val 50000"/>
            </a:avLst>
          </a:prstGeom>
          <a:solidFill>
            <a:srgbClr val="0F766E"/>
          </a:solidFill>
          <a:ln w="12700">
            <a:solidFill>
              <a:srgbClr val="0F766E"/>
            </a:solidFill>
            <a:prstDash val="solid"/>
          </a:ln>
        </p:spPr>
      </p:sp>
      <p:sp>
        <p:nvSpPr>
          <p:cNvPr id="4" name="Text 2"/>
          <p:cNvSpPr txBox="1"/>
          <p:nvPr/>
        </p:nvSpPr>
        <p:spPr>
          <a:xfrm>
            <a:off x="10012680" y="384048"/>
            <a:ext cx="17373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STUDY A · UCI</a:t>
            </a:r>
            <a:endParaRPr lang="en-US" sz="1100" dirty="0"/>
          </a:p>
        </p:txBody>
      </p:sp>
      <p:sp>
        <p:nvSpPr>
          <p:cNvPr id="5" name="model chart card"/>
          <p:cNvSpPr/>
          <p:nvPr/>
        </p:nvSpPr>
        <p:spPr>
          <a:xfrm>
            <a:off x="548640" y="1234440"/>
            <a:ext cx="6309360" cy="3611880"/>
          </a:xfrm>
          <a:prstGeom prst="roundRect">
            <a:avLst>
              <a:gd name="adj" fmla="val 2025"/>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graphicFrame>
        <p:nvGraphicFramePr>
          <p:cNvPr id="6" name="Chart 0" descr=""/>
          <p:cNvGraphicFramePr/>
          <p:nvPr/>
        </p:nvGraphicFramePr>
        <p:xfrm>
          <a:off x="640080" y="1280160"/>
          <a:ext cx="6126480" cy="3520440"/>
        </p:xfrm>
        <a:graphic xmlns:a="http://schemas.openxmlformats.org/drawingml/2006/main">
          <a:graphicData uri="http://schemas.openxmlformats.org/drawingml/2006/chart">
            <c:chart xmlns:c="http://schemas.openxmlformats.org/drawingml/2006/chart" r:id="rId1"/>
          </a:graphicData>
        </a:graphic>
      </p:graphicFrame>
      <p:sp>
        <p:nvSpPr>
          <p:cNvPr id="7" name="importance chart card"/>
          <p:cNvSpPr/>
          <p:nvPr/>
        </p:nvSpPr>
        <p:spPr>
          <a:xfrm>
            <a:off x="7040880" y="1234440"/>
            <a:ext cx="4599432" cy="3611880"/>
          </a:xfrm>
          <a:prstGeom prst="roundRect">
            <a:avLst>
              <a:gd name="adj" fmla="val 2025"/>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graphicFrame>
        <p:nvGraphicFramePr>
          <p:cNvPr id="8" name="Chart 1" descr=""/>
          <p:cNvGraphicFramePr/>
          <p:nvPr/>
        </p:nvGraphicFramePr>
        <p:xfrm>
          <a:off x="7132320" y="1280160"/>
          <a:ext cx="4434840" cy="3520440"/>
        </p:xfrm>
        <a:graphic xmlns:a="http://schemas.openxmlformats.org/drawingml/2006/main">
          <a:graphicData uri="http://schemas.openxmlformats.org/drawingml/2006/chart">
            <c:chart xmlns:c="http://schemas.openxmlformats.org/drawingml/2006/chart" r:id="rId2"/>
          </a:graphicData>
        </a:graphic>
      </p:graphicFrame>
      <p:sp>
        <p:nvSpPr>
          <p:cNvPr id="9" name="stat"/>
          <p:cNvSpPr/>
          <p:nvPr/>
        </p:nvSpPr>
        <p:spPr>
          <a:xfrm>
            <a:off x="548640" y="5029200"/>
            <a:ext cx="2651760" cy="1280160"/>
          </a:xfrm>
          <a:prstGeom prst="roundRect">
            <a:avLst>
              <a:gd name="adj" fmla="val 5714"/>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10" name="Text 6"/>
          <p:cNvSpPr txBox="1"/>
          <p:nvPr/>
        </p:nvSpPr>
        <p:spPr>
          <a:xfrm>
            <a:off x="685800" y="5120640"/>
            <a:ext cx="2377440" cy="640080"/>
          </a:xfrm>
          <a:prstGeom prst="rect">
            <a:avLst/>
          </a:prstGeom>
          <a:noFill/>
          <a:ln/>
        </p:spPr>
        <p:txBody>
          <a:bodyPr wrap="square" lIns="0" tIns="0" rIns="0" bIns="0" rtlCol="0" anchor="ctr"/>
          <a:lstStyle/>
          <a:p>
            <a:pPr indent="0" marL="0">
              <a:buNone/>
            </a:pPr>
            <a:r>
              <a:rPr lang="en-US" sz="2600" b="1" dirty="0">
                <a:solidFill>
                  <a:srgbClr val="0F766E"/>
                </a:solidFill>
                <a:latin typeface="Cambria" pitchFamily="34" charset="0"/>
                <a:ea typeface="Cambria" pitchFamily="34" charset="-122"/>
                <a:cs typeface="Cambria" pitchFamily="34" charset="-120"/>
              </a:rPr>
              <a:t>0.668</a:t>
            </a:r>
            <a:endParaRPr lang="en-US" sz="2600" dirty="0"/>
          </a:p>
        </p:txBody>
      </p:sp>
      <p:sp>
        <p:nvSpPr>
          <p:cNvPr id="11" name="Text 7"/>
          <p:cNvSpPr txBox="1"/>
          <p:nvPr/>
        </p:nvSpPr>
        <p:spPr>
          <a:xfrm>
            <a:off x="685800" y="5733288"/>
            <a:ext cx="2377440" cy="537667"/>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best held-out ROC-AUC (bootstrap 95% CI 0.654–0.681)</a:t>
            </a:r>
            <a:endParaRPr lang="en-US" sz="1200" dirty="0"/>
          </a:p>
        </p:txBody>
      </p:sp>
      <p:sp>
        <p:nvSpPr>
          <p:cNvPr id="12" name="stat"/>
          <p:cNvSpPr/>
          <p:nvPr/>
        </p:nvSpPr>
        <p:spPr>
          <a:xfrm>
            <a:off x="3337560" y="5029200"/>
            <a:ext cx="2651760" cy="1280160"/>
          </a:xfrm>
          <a:prstGeom prst="roundRect">
            <a:avLst>
              <a:gd name="adj" fmla="val 5714"/>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13" name="Text 9"/>
          <p:cNvSpPr txBox="1"/>
          <p:nvPr/>
        </p:nvSpPr>
        <p:spPr>
          <a:xfrm>
            <a:off x="3474720" y="5120640"/>
            <a:ext cx="2377440" cy="640080"/>
          </a:xfrm>
          <a:prstGeom prst="rect">
            <a:avLst/>
          </a:prstGeom>
          <a:noFill/>
          <a:ln/>
        </p:spPr>
        <p:txBody>
          <a:bodyPr wrap="square" lIns="0" tIns="0" rIns="0" bIns="0" rtlCol="0" anchor="ctr"/>
          <a:lstStyle/>
          <a:p>
            <a:pPr indent="0" marL="0">
              <a:buNone/>
            </a:pPr>
            <a:r>
              <a:rPr lang="en-US" sz="2600" b="1" dirty="0">
                <a:solidFill>
                  <a:srgbClr val="B7791F"/>
                </a:solidFill>
                <a:latin typeface="Cambria" pitchFamily="34" charset="0"/>
                <a:ea typeface="Cambria" pitchFamily="34" charset="-122"/>
                <a:cs typeface="Cambria" pitchFamily="34" charset="-120"/>
              </a:rPr>
              <a:t>0.226</a:t>
            </a:r>
            <a:endParaRPr lang="en-US" sz="2600" dirty="0"/>
          </a:p>
        </p:txBody>
      </p:sp>
      <p:sp>
        <p:nvSpPr>
          <p:cNvPr id="14" name="Text 10"/>
          <p:cNvSpPr txBox="1"/>
          <p:nvPr/>
        </p:nvSpPr>
        <p:spPr>
          <a:xfrm>
            <a:off x="3474720" y="5733288"/>
            <a:ext cx="2377440" cy="537667"/>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average precision vs prevalence 0.111</a:t>
            </a:r>
            <a:endParaRPr lang="en-US" sz="1200" dirty="0"/>
          </a:p>
        </p:txBody>
      </p:sp>
      <p:sp>
        <p:nvSpPr>
          <p:cNvPr id="15" name="limits"/>
          <p:cNvSpPr/>
          <p:nvPr/>
        </p:nvSpPr>
        <p:spPr>
          <a:xfrm>
            <a:off x="6126480" y="5029200"/>
            <a:ext cx="5513832" cy="1280160"/>
          </a:xfrm>
          <a:prstGeom prst="roundRect">
            <a:avLst>
              <a:gd name="adj" fmla="val 5714"/>
            </a:avLst>
          </a:prstGeom>
          <a:solidFill>
            <a:srgbClr val="FBF0D9"/>
          </a:solidFill>
          <a:ln w="6350">
            <a:solidFill>
              <a:srgbClr val="D5DCE1"/>
            </a:solidFill>
            <a:prstDash val="solid"/>
          </a:ln>
        </p:spPr>
      </p:sp>
      <p:sp>
        <p:nvSpPr>
          <p:cNvPr id="16" name="Text 12"/>
          <p:cNvSpPr txBox="1"/>
          <p:nvPr/>
        </p:nvSpPr>
        <p:spPr>
          <a:xfrm>
            <a:off x="6309360" y="5029200"/>
            <a:ext cx="5166360" cy="1280160"/>
          </a:xfrm>
          <a:prstGeom prst="rect">
            <a:avLst/>
          </a:prstGeom>
          <a:noFill/>
          <a:ln/>
        </p:spPr>
        <p:txBody>
          <a:bodyPr wrap="square" lIns="0" tIns="0" rIns="0" bIns="0" rtlCol="0" anchor="ctr"/>
          <a:lstStyle/>
          <a:p>
            <a:pPr indent="0" marL="0">
              <a:buNone/>
            </a:pPr>
            <a:r>
              <a:rPr lang="en-US" sz="1200" b="1" dirty="0">
                <a:solidFill>
                  <a:srgbClr val="10243A"/>
                </a:solidFill>
                <a:latin typeface="Calibri" pitchFamily="34" charset="0"/>
                <a:ea typeface="Calibri" pitchFamily="34" charset="-122"/>
                <a:cs typeface="Calibri" pitchFamily="34" charset="-120"/>
              </a:rPr>
              <a:t>How to read it. </a:t>
            </a:r>
            <a:pPr indent="0" marL="0">
              <a:buNone/>
            </a:pPr>
            <a:r>
              <a:rPr lang="en-US" sz="1200" dirty="0">
                <a:solidFill>
                  <a:srgbClr val="10243A"/>
                </a:solidFill>
                <a:latin typeface="Calibri" pitchFamily="34" charset="0"/>
                <a:ea typeface="Calibri" pitchFamily="34" charset="-122"/>
                <a:cs typeface="Calibri" pitchFamily="34" charset="-120"/>
              </a:rPr>
              <a:t>Patient-separated split: 55,992 train / 13,998 test patients, zero overlap. Fixed settings, no threshold tuning. Same holdout seen earlier, so exploratory, not validated, not deployment-ready.</a:t>
            </a:r>
            <a:endParaRPr lang="en-US" sz="12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932688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NHANES: weighted HbA1c and associations</a:t>
            </a:r>
            <a:endParaRPr lang="en-US" sz="3000" dirty="0"/>
          </a:p>
        </p:txBody>
      </p:sp>
      <p:sp>
        <p:nvSpPr>
          <p:cNvPr id="3" name="study chip"/>
          <p:cNvSpPr/>
          <p:nvPr/>
        </p:nvSpPr>
        <p:spPr>
          <a:xfrm>
            <a:off x="10012680" y="384048"/>
            <a:ext cx="1737360" cy="310896"/>
          </a:xfrm>
          <a:prstGeom prst="roundRect">
            <a:avLst>
              <a:gd name="adj" fmla="val 50000"/>
            </a:avLst>
          </a:prstGeom>
          <a:solidFill>
            <a:srgbClr val="3949AB"/>
          </a:solidFill>
          <a:ln w="12700">
            <a:solidFill>
              <a:srgbClr val="3949AB"/>
            </a:solidFill>
            <a:prstDash val="solid"/>
          </a:ln>
        </p:spPr>
      </p:sp>
      <p:sp>
        <p:nvSpPr>
          <p:cNvPr id="4" name="Text 2"/>
          <p:cNvSpPr txBox="1"/>
          <p:nvPr/>
        </p:nvSpPr>
        <p:spPr>
          <a:xfrm>
            <a:off x="10012680" y="384048"/>
            <a:ext cx="17373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STUDY B · NHANES</a:t>
            </a:r>
            <a:endParaRPr lang="en-US" sz="1100" dirty="0"/>
          </a:p>
        </p:txBody>
      </p:sp>
      <p:sp>
        <p:nvSpPr>
          <p:cNvPr id="5" name="stat"/>
          <p:cNvSpPr/>
          <p:nvPr/>
        </p:nvSpPr>
        <p:spPr>
          <a:xfrm>
            <a:off x="548640" y="1234440"/>
            <a:ext cx="3566160" cy="1188720"/>
          </a:xfrm>
          <a:prstGeom prst="roundRect">
            <a:avLst>
              <a:gd name="adj" fmla="val 6154"/>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6" name="Text 4"/>
          <p:cNvSpPr txBox="1"/>
          <p:nvPr/>
        </p:nvSpPr>
        <p:spPr>
          <a:xfrm>
            <a:off x="685800" y="1325880"/>
            <a:ext cx="3291840" cy="594360"/>
          </a:xfrm>
          <a:prstGeom prst="rect">
            <a:avLst/>
          </a:prstGeom>
          <a:noFill/>
          <a:ln/>
        </p:spPr>
        <p:txBody>
          <a:bodyPr wrap="square" lIns="0" tIns="0" rIns="0" bIns="0" rtlCol="0" anchor="ctr"/>
          <a:lstStyle/>
          <a:p>
            <a:pPr indent="0" marL="0">
              <a:buNone/>
            </a:pPr>
            <a:r>
              <a:rPr lang="en-US" sz="3200" b="1" dirty="0">
                <a:solidFill>
                  <a:srgbClr val="3949AB"/>
                </a:solidFill>
                <a:latin typeface="Cambria" pitchFamily="34" charset="0"/>
                <a:ea typeface="Cambria" pitchFamily="34" charset="-122"/>
                <a:cs typeface="Cambria" pitchFamily="34" charset="-120"/>
              </a:rPr>
              <a:t>7.28%</a:t>
            </a:r>
            <a:endParaRPr lang="en-US" sz="3200" dirty="0"/>
          </a:p>
        </p:txBody>
      </p:sp>
      <p:sp>
        <p:nvSpPr>
          <p:cNvPr id="7" name="Text 5"/>
          <p:cNvSpPr txBox="1"/>
          <p:nvPr/>
        </p:nvSpPr>
        <p:spPr>
          <a:xfrm>
            <a:off x="685800" y="1888236"/>
            <a:ext cx="3291840" cy="499262"/>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weighted mean HbA1c (95% CI 7.12–7.44)</a:t>
            </a:r>
            <a:endParaRPr lang="en-US" sz="1200" dirty="0"/>
          </a:p>
        </p:txBody>
      </p:sp>
      <p:sp>
        <p:nvSpPr>
          <p:cNvPr id="8" name="stat"/>
          <p:cNvSpPr/>
          <p:nvPr/>
        </p:nvSpPr>
        <p:spPr>
          <a:xfrm>
            <a:off x="548640" y="2560320"/>
            <a:ext cx="3566160" cy="1188720"/>
          </a:xfrm>
          <a:prstGeom prst="roundRect">
            <a:avLst>
              <a:gd name="adj" fmla="val 6154"/>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9" name="Text 7"/>
          <p:cNvSpPr txBox="1"/>
          <p:nvPr/>
        </p:nvSpPr>
        <p:spPr>
          <a:xfrm>
            <a:off x="685800" y="2651760"/>
            <a:ext cx="3291840" cy="594360"/>
          </a:xfrm>
          <a:prstGeom prst="rect">
            <a:avLst/>
          </a:prstGeom>
          <a:noFill/>
          <a:ln/>
        </p:spPr>
        <p:txBody>
          <a:bodyPr wrap="square" lIns="0" tIns="0" rIns="0" bIns="0" rtlCol="0" anchor="ctr"/>
          <a:lstStyle/>
          <a:p>
            <a:pPr indent="0" marL="0">
              <a:buNone/>
            </a:pPr>
            <a:r>
              <a:rPr lang="en-US" sz="3200" b="1" dirty="0">
                <a:solidFill>
                  <a:srgbClr val="3949AB"/>
                </a:solidFill>
                <a:latin typeface="Cambria" pitchFamily="34" charset="0"/>
                <a:ea typeface="Cambria" pitchFamily="34" charset="-122"/>
                <a:cs typeface="Cambria" pitchFamily="34" charset="-120"/>
              </a:rPr>
              <a:t>23.18%</a:t>
            </a:r>
            <a:endParaRPr lang="en-US" sz="3200" dirty="0"/>
          </a:p>
        </p:txBody>
      </p:sp>
      <p:sp>
        <p:nvSpPr>
          <p:cNvPr id="10" name="Text 8"/>
          <p:cNvSpPr txBox="1"/>
          <p:nvPr/>
        </p:nvSpPr>
        <p:spPr>
          <a:xfrm>
            <a:off x="685800" y="3214116"/>
            <a:ext cx="3291840" cy="499262"/>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weighted share with HbA1c ≥8% (95% CI 19.51–27.32)</a:t>
            </a:r>
            <a:endParaRPr lang="en-US" sz="1200" dirty="0"/>
          </a:p>
        </p:txBody>
      </p:sp>
      <p:sp>
        <p:nvSpPr>
          <p:cNvPr id="11" name="design card"/>
          <p:cNvSpPr/>
          <p:nvPr/>
        </p:nvSpPr>
        <p:spPr>
          <a:xfrm>
            <a:off x="548640" y="3886200"/>
            <a:ext cx="3566160" cy="2423160"/>
          </a:xfrm>
          <a:prstGeom prst="roundRect">
            <a:avLst>
              <a:gd name="adj" fmla="val 3019"/>
            </a:avLst>
          </a:prstGeom>
          <a:solidFill>
            <a:srgbClr val="E3E6F6"/>
          </a:solidFill>
          <a:ln w="6350">
            <a:solidFill>
              <a:srgbClr val="D5DCE1"/>
            </a:solidFill>
            <a:prstDash val="solid"/>
          </a:ln>
        </p:spPr>
      </p:sp>
      <p:sp>
        <p:nvSpPr>
          <p:cNvPr id="12" name="Text 10"/>
          <p:cNvSpPr txBox="1"/>
          <p:nvPr/>
        </p:nvSpPr>
        <p:spPr>
          <a:xfrm>
            <a:off x="731520" y="3977640"/>
            <a:ext cx="3200400" cy="274320"/>
          </a:xfrm>
          <a:prstGeom prst="rect">
            <a:avLst/>
          </a:prstGeom>
          <a:noFill/>
          <a:ln/>
        </p:spPr>
        <p:txBody>
          <a:bodyPr wrap="square" lIns="0" tIns="0" rIns="0" bIns="0" rtlCol="0" anchor="t"/>
          <a:lstStyle/>
          <a:p>
            <a:pPr indent="0" marL="0">
              <a:buNone/>
            </a:pPr>
            <a:r>
              <a:rPr lang="en-US" sz="1400" b="1" dirty="0">
                <a:solidFill>
                  <a:srgbClr val="3949AB"/>
                </a:solidFill>
                <a:latin typeface="Calibri" pitchFamily="34" charset="0"/>
                <a:ea typeface="Calibri" pitchFamily="34" charset="-122"/>
                <a:cs typeface="Calibri" pitchFamily="34" charset="-120"/>
              </a:rPr>
              <a:t>Why survey design matters</a:t>
            </a:r>
            <a:endParaRPr lang="en-US" sz="1400" dirty="0"/>
          </a:p>
        </p:txBody>
      </p:sp>
      <p:sp>
        <p:nvSpPr>
          <p:cNvPr id="13" name="Text 11"/>
          <p:cNvSpPr txBox="1"/>
          <p:nvPr/>
        </p:nvSpPr>
        <p:spPr>
          <a:xfrm>
            <a:off x="731520" y="4297680"/>
            <a:ext cx="3200400" cy="1965960"/>
          </a:xfrm>
          <a:prstGeom prst="rect">
            <a:avLst/>
          </a:prstGeom>
          <a:noFill/>
          <a:ln/>
        </p:spPr>
        <p:txBody>
          <a:bodyPr wrap="square" lIns="0" tIns="0" rIns="0" bIns="0" rtlCol="0" anchor="t"/>
          <a:lstStyle/>
          <a:p>
            <a:pPr indent="0" marL="0">
              <a:buNone/>
            </a:pPr>
            <a:r>
              <a:rPr lang="en-US" sz="1200" dirty="0">
                <a:solidFill>
                  <a:srgbClr val="10243A"/>
                </a:solidFill>
                <a:latin typeface="Calibri" pitchFamily="34" charset="0"/>
                <a:ea typeface="Calibri" pitchFamily="34" charset="-122"/>
                <a:cs typeface="Calibri" pitchFamily="34" charset="-120"/>
              </a:rPr>
              <a:t>Weights (WTMEC2YR) scale each person to the population they represent; strata (SDMVSTRA) and PSUs (SDMVPSU) give correct standard errors. 15 strata, 30 PSU pairs. Ignoring them would bias estimates and understate uncertainty.</a:t>
            </a:r>
            <a:endParaRPr lang="en-US" sz="1200" dirty="0"/>
          </a:p>
        </p:txBody>
      </p:sp>
      <p:sp>
        <p:nvSpPr>
          <p:cNvPr id="14" name="coef card"/>
          <p:cNvSpPr/>
          <p:nvPr/>
        </p:nvSpPr>
        <p:spPr>
          <a:xfrm>
            <a:off x="4297680" y="1234440"/>
            <a:ext cx="7342632" cy="3749040"/>
          </a:xfrm>
          <a:prstGeom prst="roundRect">
            <a:avLst>
              <a:gd name="adj" fmla="val 1951"/>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graphicFrame>
        <p:nvGraphicFramePr>
          <p:cNvPr id="15" name="Chart 0" descr=""/>
          <p:cNvGraphicFramePr/>
          <p:nvPr/>
        </p:nvGraphicFramePr>
        <p:xfrm>
          <a:off x="4389120" y="1280160"/>
          <a:ext cx="7178040" cy="3657600"/>
        </p:xfrm>
        <a:graphic xmlns:a="http://schemas.openxmlformats.org/drawingml/2006/main">
          <a:graphicData uri="http://schemas.openxmlformats.org/drawingml/2006/chart">
            <c:chart xmlns:c="http://schemas.openxmlformats.org/drawingml/2006/chart" r:id="rId1"/>
          </a:graphicData>
        </a:graphic>
      </p:graphicFrame>
      <p:sp>
        <p:nvSpPr>
          <p:cNvPr id="16" name="nhanes caution"/>
          <p:cNvSpPr/>
          <p:nvPr/>
        </p:nvSpPr>
        <p:spPr>
          <a:xfrm>
            <a:off x="4297680" y="5120640"/>
            <a:ext cx="7342632" cy="1188720"/>
          </a:xfrm>
          <a:prstGeom prst="roundRect">
            <a:avLst>
              <a:gd name="adj" fmla="val 6154"/>
            </a:avLst>
          </a:prstGeom>
          <a:solidFill>
            <a:srgbClr val="FBF0D9"/>
          </a:solidFill>
          <a:ln w="6350">
            <a:solidFill>
              <a:srgbClr val="D5DCE1"/>
            </a:solidFill>
            <a:prstDash val="solid"/>
          </a:ln>
        </p:spPr>
      </p:sp>
      <p:sp>
        <p:nvSpPr>
          <p:cNvPr id="17" name="Text 14"/>
          <p:cNvSpPr txBox="1"/>
          <p:nvPr/>
        </p:nvSpPr>
        <p:spPr>
          <a:xfrm>
            <a:off x="4480560" y="5120640"/>
            <a:ext cx="6995160" cy="1188720"/>
          </a:xfrm>
          <a:prstGeom prst="rect">
            <a:avLst/>
          </a:prstGeom>
          <a:noFill/>
          <a:ln/>
        </p:spPr>
        <p:txBody>
          <a:bodyPr wrap="square" lIns="0" tIns="0" rIns="0" bIns="0" rtlCol="0" anchor="ctr"/>
          <a:lstStyle/>
          <a:p>
            <a:pPr indent="0" marL="0">
              <a:buNone/>
            </a:pPr>
            <a:r>
              <a:rPr lang="en-US" sz="1200" b="1" dirty="0">
                <a:solidFill>
                  <a:srgbClr val="10243A"/>
                </a:solidFill>
                <a:latin typeface="Calibri" pitchFamily="34" charset="0"/>
                <a:ea typeface="Calibri" pitchFamily="34" charset="-122"/>
                <a:cs typeface="Calibri" pitchFamily="34" charset="-120"/>
              </a:rPr>
              <a:t>Insulin and pill FDR-adjusted p = 0.028; age and income ≈0.10. </a:t>
            </a:r>
            <a:pPr indent="0" marL="0">
              <a:buNone/>
            </a:pPr>
            <a:r>
              <a:rPr lang="en-US" sz="1200" dirty="0">
                <a:solidFill>
                  <a:srgbClr val="10243A"/>
                </a:solidFill>
                <a:latin typeface="Calibri" pitchFamily="34" charset="0"/>
                <a:ea typeface="Calibri" pitchFamily="34" charset="-122"/>
                <a:cs typeface="Calibri" pitchFamily="34" charset="-120"/>
              </a:rPr>
              <a:t>Positive treatment coefficients reflect who gets treated (severity, duration), not harm from medication. Only 5 residual survey degrees of freedom; HbA1c ≥7% weighted share 49.62%.</a:t>
            </a:r>
            <a:endParaRPr lang="en-US" sz="12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Robustness and sensitivity: what held up and what did not</a:t>
            </a:r>
            <a:endParaRPr lang="en-US" sz="3000" dirty="0"/>
          </a:p>
        </p:txBody>
      </p:sp>
      <p:sp>
        <p:nvSpPr>
          <p:cNvPr id="3" name="Text 1"/>
          <p:cNvSpPr txBox="1"/>
          <p:nvPr/>
        </p:nvSpPr>
        <p:spPr>
          <a:xfrm>
            <a:off x="548640" y="1188720"/>
            <a:ext cx="6400800"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STUDY A · UCI: adjusted OR across five scenarios</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400800" cy="914400"/>
        </p:xfrm>
        <a:graphic>
          <a:graphicData uri="http://schemas.openxmlformats.org/drawingml/2006/table">
            <a:tbl>
              <a:tblPr/>
              <a:tblGrid>
                <a:gridCol w="2377440"/>
                <a:gridCol w="1554480"/>
                <a:gridCol w="246888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Prior inpatient OR</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Medication-change OR (95% CI)</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0F766E"/>
                    </a:solidFill>
                  </a:tcPr>
                </a:tc>
              </a:tr>
              <a:tr h="457200">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Baseline (99,343)</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1.309</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0.941 (0.891–0.994)</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One encounter per patient</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1.461</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2318"/>
                          </a:solidFill>
                          <a:latin typeface="Calibri" pitchFamily="34" charset="0"/>
                          <a:ea typeface="Calibri" pitchFamily="34" charset="-122"/>
                          <a:cs typeface="Calibri" pitchFamily="34" charset="-120"/>
                        </a:rPr>
                        <a:t>0.996 (0.925–1.073)</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Log-transformed visits</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2.068*</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0.940 (0.890–0.994)</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Expanded adjustment</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1.305</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2318"/>
                          </a:solidFill>
                          <a:latin typeface="Calibri" pitchFamily="34" charset="0"/>
                          <a:ea typeface="Calibri" pitchFamily="34" charset="-122"/>
                          <a:cs typeface="Calibri" pitchFamily="34" charset="-120"/>
                        </a:rPr>
                        <a:t>0.950 (0.899–1.004)</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Hospice included, deaths out</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1.308</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c>
                  <a:txBody>
                    <a:bodyPr/>
                    <a:lstStyle/>
                    <a:p>
                      <a:pPr indent="0" marL="0">
                        <a:buNone/>
                      </a:pPr>
                      <a:r>
                        <a:rPr lang="en-US" sz="1200" dirty="0">
                          <a:solidFill>
                            <a:srgbClr val="10243A"/>
                          </a:solidFill>
                          <a:latin typeface="Calibri" pitchFamily="34" charset="0"/>
                          <a:ea typeface="Calibri" pitchFamily="34" charset="-122"/>
                          <a:cs typeface="Calibri" pitchFamily="34" charset="-120"/>
                        </a:rPr>
                        <a:t>0.942 (0.892–0.995)</a:t>
                      </a:r>
                      <a:endParaRPr lang="en-US" sz="1200" dirty="0">
                        <a:latin typeface="Calibri" charset="0"/>
                        <a:ea typeface="Calibri" charset="0"/>
                        <a:cs typeface="Calibri" charset="0"/>
                      </a:endParaRPr>
                    </a:p>
                  </a:txBody>
                  <a:tcPr marL="73152" marR="73152" marT="27432" marB="27432"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297680"/>
            <a:ext cx="6400800" cy="274320"/>
          </a:xfrm>
          <a:prstGeom prst="rect">
            <a:avLst/>
          </a:prstGeom>
          <a:noFill/>
          <a:ln/>
        </p:spPr>
        <p:txBody>
          <a:bodyPr wrap="square" lIns="0" tIns="0" rIns="0" bIns="0" rtlCol="0" anchor="t"/>
          <a:lstStyle/>
          <a:p>
            <a:pPr indent="0" marL="0">
              <a:buNone/>
            </a:pPr>
            <a:r>
              <a:rPr lang="en-US" sz="1100" dirty="0">
                <a:solidFill>
                  <a:srgbClr val="55626C"/>
                </a:solidFill>
                <a:latin typeface="Calibri" pitchFamily="34" charset="0"/>
                <a:ea typeface="Calibri" pitchFamily="34" charset="-122"/>
                <a:cs typeface="Calibri" pitchFamily="34" charset="-120"/>
              </a:rPr>
              <a:t>*per unit of log(1 + visits), not comparable with the per-visit OR. Red: interval includes 1.</a:t>
            </a:r>
            <a:endParaRPr lang="en-US" sz="1100" dirty="0"/>
          </a:p>
        </p:txBody>
      </p:sp>
      <p:sp>
        <p:nvSpPr>
          <p:cNvPr id="6" name="uci takeaways"/>
          <p:cNvSpPr/>
          <p:nvPr/>
        </p:nvSpPr>
        <p:spPr>
          <a:xfrm>
            <a:off x="548640" y="4663440"/>
            <a:ext cx="6400800" cy="1645920"/>
          </a:xfrm>
          <a:prstGeom prst="roundRect">
            <a:avLst>
              <a:gd name="adj" fmla="val 4444"/>
            </a:avLst>
          </a:prstGeom>
          <a:solidFill>
            <a:srgbClr val="DCEFEC"/>
          </a:solidFill>
          <a:ln w="6350">
            <a:solidFill>
              <a:srgbClr val="D5DCE1"/>
            </a:solidFill>
            <a:prstDash val="solid"/>
          </a:ln>
        </p:spPr>
      </p:sp>
      <p:sp>
        <p:nvSpPr>
          <p:cNvPr id="7" name="Text 4"/>
          <p:cNvSpPr txBox="1"/>
          <p:nvPr/>
        </p:nvSpPr>
        <p:spPr>
          <a:xfrm>
            <a:off x="731520" y="4709160"/>
            <a:ext cx="6035040" cy="1554480"/>
          </a:xfrm>
          <a:prstGeom prst="rect">
            <a:avLst/>
          </a:prstGeom>
          <a:noFill/>
          <a:ln/>
        </p:spPr>
        <p:txBody>
          <a:bodyPr wrap="square" lIns="0" tIns="0" rIns="0" bIns="0" rtlCol="0" anchor="ctr"/>
          <a:lstStyle/>
          <a:p>
            <a:pPr indent="0" marL="0">
              <a:buNone/>
            </a:pPr>
            <a:r>
              <a:rPr lang="en-US" sz="1300" b="1" dirty="0">
                <a:solidFill>
                  <a:srgbClr val="10243A"/>
                </a:solidFill>
                <a:latin typeface="Calibri" pitchFamily="34" charset="0"/>
                <a:ea typeface="Calibri" pitchFamily="34" charset="-122"/>
                <a:cs typeface="Calibri" pitchFamily="34" charset="-120"/>
              </a:rPr>
              <a:t>Prior inpatient use stays positive in every scenario. </a:t>
            </a:r>
            <a:endParaRPr lang="en-US" sz="1300" dirty="0"/>
          </a:p>
          <a:p>
            <a:pPr indent="0" marL="0">
              <a:buNone/>
            </a:pPr>
            <a:r>
              <a:rPr lang="en-US" sz="1300" dirty="0">
                <a:solidFill>
                  <a:srgbClr val="10243A"/>
                </a:solidFill>
                <a:latin typeface="Calibri" pitchFamily="34" charset="0"/>
                <a:ea typeface="Calibri" pitchFamily="34" charset="-122"/>
                <a:cs typeface="Calibri" pitchFamily="34" charset="-120"/>
              </a:rPr>
              <a:t>Medication-change effect is fragile, so no protective claim. Also: 200 patient-bootstrap draws, 5× permutation importance, subgroup metrics by age, gender and race.</a:t>
            </a:r>
            <a:endParaRPr lang="en-US" sz="1300" dirty="0"/>
          </a:p>
        </p:txBody>
      </p:sp>
      <p:sp>
        <p:nvSpPr>
          <p:cNvPr id="8" name="Text 5"/>
          <p:cNvSpPr txBox="1"/>
          <p:nvPr/>
        </p:nvSpPr>
        <p:spPr>
          <a:xfrm>
            <a:off x="7223760" y="1188720"/>
            <a:ext cx="4572000" cy="274320"/>
          </a:xfrm>
          <a:prstGeom prst="rect">
            <a:avLst/>
          </a:prstGeom>
          <a:noFill/>
          <a:ln/>
        </p:spPr>
        <p:txBody>
          <a:bodyPr wrap="square" lIns="0" tIns="0" rIns="0" bIns="0" rtlCol="0" anchor="t"/>
          <a:lstStyle/>
          <a:p>
            <a:pPr indent="0" marL="0">
              <a:buNone/>
            </a:pPr>
            <a:r>
              <a:rPr lang="en-US" sz="1200" b="1" dirty="0">
                <a:solidFill>
                  <a:srgbClr val="3949AB"/>
                </a:solidFill>
                <a:latin typeface="Calibri" pitchFamily="34" charset="0"/>
                <a:ea typeface="Calibri" pitchFamily="34" charset="-122"/>
                <a:cs typeface="Calibri" pitchFamily="34" charset="-120"/>
              </a:rPr>
              <a:t>STUDY B · NHANES: coefficient stability across 6 Gaussian fits</a:t>
            </a:r>
            <a:endParaRPr lang="en-US" sz="1200" dirty="0"/>
          </a:p>
        </p:txBody>
      </p:sp>
      <p:sp>
        <p:nvSpPr>
          <p:cNvPr id="9" name="stability"/>
          <p:cNvSpPr/>
          <p:nvPr/>
        </p:nvSpPr>
        <p:spPr>
          <a:xfrm>
            <a:off x="7223760" y="1508760"/>
            <a:ext cx="4416552" cy="749808"/>
          </a:xfrm>
          <a:prstGeom prst="roundRect">
            <a:avLst>
              <a:gd name="adj" fmla="val 9756"/>
            </a:avLst>
          </a:prstGeom>
          <a:solidFill>
            <a:srgbClr val="E3E6F6"/>
          </a:solidFill>
          <a:ln w="6350">
            <a:solidFill>
              <a:srgbClr val="D5DCE1"/>
            </a:solidFill>
            <a:prstDash val="solid"/>
          </a:ln>
        </p:spPr>
      </p:sp>
      <p:sp>
        <p:nvSpPr>
          <p:cNvPr id="10" name="Text 7"/>
          <p:cNvSpPr txBox="1"/>
          <p:nvPr/>
        </p:nvSpPr>
        <p:spPr>
          <a:xfrm>
            <a:off x="7360920" y="1563624"/>
            <a:ext cx="1463040" cy="640080"/>
          </a:xfrm>
          <a:prstGeom prst="rect">
            <a:avLst/>
          </a:prstGeom>
          <a:noFill/>
          <a:ln/>
        </p:spPr>
        <p:txBody>
          <a:bodyPr wrap="square" lIns="0" tIns="0" rIns="0" bIns="0" rtlCol="0" anchor="ctr"/>
          <a:lstStyle/>
          <a:p>
            <a:pPr indent="0" marL="0">
              <a:buNone/>
            </a:pPr>
            <a:r>
              <a:rPr lang="en-US" sz="1300" b="1" dirty="0">
                <a:solidFill>
                  <a:srgbClr val="3949AB"/>
                </a:solidFill>
                <a:latin typeface="Calibri" pitchFamily="34" charset="0"/>
                <a:ea typeface="Calibri" pitchFamily="34" charset="-122"/>
                <a:cs typeface="Calibri" pitchFamily="34" charset="-120"/>
              </a:rPr>
              <a:t>Insulin use</a:t>
            </a:r>
            <a:endParaRPr lang="en-US" sz="1300" dirty="0"/>
          </a:p>
        </p:txBody>
      </p:sp>
      <p:sp>
        <p:nvSpPr>
          <p:cNvPr id="11" name="Text 8"/>
          <p:cNvSpPr txBox="1"/>
          <p:nvPr/>
        </p:nvSpPr>
        <p:spPr>
          <a:xfrm>
            <a:off x="8823960" y="1563624"/>
            <a:ext cx="2743200" cy="320040"/>
          </a:xfrm>
          <a:prstGeom prst="rect">
            <a:avLst/>
          </a:prstGeom>
          <a:noFill/>
          <a:ln/>
        </p:spPr>
        <p:txBody>
          <a:bodyPr wrap="square" lIns="0" tIns="0" rIns="0" bIns="0" rtlCol="0" anchor="t"/>
          <a:lstStyle/>
          <a:p>
            <a:pPr indent="0" marL="0">
              <a:buNone/>
            </a:pPr>
            <a:r>
              <a:rPr lang="en-US" sz="1300" b="1" dirty="0">
                <a:solidFill>
                  <a:srgbClr val="10243A"/>
                </a:solidFill>
                <a:latin typeface="Calibri" pitchFamily="34" charset="0"/>
                <a:ea typeface="Calibri" pitchFamily="34" charset="-122"/>
                <a:cs typeface="Calibri" pitchFamily="34" charset="-120"/>
              </a:rPr>
              <a:t>+1.008 to +1.196 pp</a:t>
            </a:r>
            <a:endParaRPr lang="en-US" sz="1300" dirty="0"/>
          </a:p>
        </p:txBody>
      </p:sp>
      <p:sp>
        <p:nvSpPr>
          <p:cNvPr id="12" name="Text 9"/>
          <p:cNvSpPr txBox="1"/>
          <p:nvPr/>
        </p:nvSpPr>
        <p:spPr>
          <a:xfrm>
            <a:off x="8823960" y="1892808"/>
            <a:ext cx="2743200" cy="274320"/>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FDR &lt; 0.05 in 6 of 6</a:t>
            </a:r>
            <a:endParaRPr lang="en-US" sz="1200" dirty="0"/>
          </a:p>
        </p:txBody>
      </p:sp>
      <p:sp>
        <p:nvSpPr>
          <p:cNvPr id="13" name="stability"/>
          <p:cNvSpPr/>
          <p:nvPr/>
        </p:nvSpPr>
        <p:spPr>
          <a:xfrm>
            <a:off x="7223760" y="2377440"/>
            <a:ext cx="4416552" cy="749808"/>
          </a:xfrm>
          <a:prstGeom prst="roundRect">
            <a:avLst>
              <a:gd name="adj" fmla="val 9756"/>
            </a:avLst>
          </a:prstGeom>
          <a:solidFill>
            <a:srgbClr val="E3E6F6"/>
          </a:solidFill>
          <a:ln w="6350">
            <a:solidFill>
              <a:srgbClr val="D5DCE1"/>
            </a:solidFill>
            <a:prstDash val="solid"/>
          </a:ln>
        </p:spPr>
      </p:sp>
      <p:sp>
        <p:nvSpPr>
          <p:cNvPr id="14" name="Text 11"/>
          <p:cNvSpPr txBox="1"/>
          <p:nvPr/>
        </p:nvSpPr>
        <p:spPr>
          <a:xfrm>
            <a:off x="7360920" y="2432304"/>
            <a:ext cx="1463040" cy="640080"/>
          </a:xfrm>
          <a:prstGeom prst="rect">
            <a:avLst/>
          </a:prstGeom>
          <a:noFill/>
          <a:ln/>
        </p:spPr>
        <p:txBody>
          <a:bodyPr wrap="square" lIns="0" tIns="0" rIns="0" bIns="0" rtlCol="0" anchor="ctr"/>
          <a:lstStyle/>
          <a:p>
            <a:pPr indent="0" marL="0">
              <a:buNone/>
            </a:pPr>
            <a:r>
              <a:rPr lang="en-US" sz="1300" b="1" dirty="0">
                <a:solidFill>
                  <a:srgbClr val="3949AB"/>
                </a:solidFill>
                <a:latin typeface="Calibri" pitchFamily="34" charset="0"/>
                <a:ea typeface="Calibri" pitchFamily="34" charset="-122"/>
                <a:cs typeface="Calibri" pitchFamily="34" charset="-120"/>
              </a:rPr>
              <a:t>Diabetic pills</a:t>
            </a:r>
            <a:endParaRPr lang="en-US" sz="1300" dirty="0"/>
          </a:p>
        </p:txBody>
      </p:sp>
      <p:sp>
        <p:nvSpPr>
          <p:cNvPr id="15" name="Text 12"/>
          <p:cNvSpPr txBox="1"/>
          <p:nvPr/>
        </p:nvSpPr>
        <p:spPr>
          <a:xfrm>
            <a:off x="8823960" y="2432304"/>
            <a:ext cx="2743200" cy="320040"/>
          </a:xfrm>
          <a:prstGeom prst="rect">
            <a:avLst/>
          </a:prstGeom>
          <a:noFill/>
          <a:ln/>
        </p:spPr>
        <p:txBody>
          <a:bodyPr wrap="square" lIns="0" tIns="0" rIns="0" bIns="0" rtlCol="0" anchor="t"/>
          <a:lstStyle/>
          <a:p>
            <a:pPr indent="0" marL="0">
              <a:buNone/>
            </a:pPr>
            <a:r>
              <a:rPr lang="en-US" sz="1300" b="1" dirty="0">
                <a:solidFill>
                  <a:srgbClr val="10243A"/>
                </a:solidFill>
                <a:latin typeface="Calibri" pitchFamily="34" charset="0"/>
                <a:ea typeface="Calibri" pitchFamily="34" charset="-122"/>
                <a:cs typeface="Calibri" pitchFamily="34" charset="-120"/>
              </a:rPr>
              <a:t>+0.546 to +0.605 pp</a:t>
            </a:r>
            <a:endParaRPr lang="en-US" sz="1300" dirty="0"/>
          </a:p>
        </p:txBody>
      </p:sp>
      <p:sp>
        <p:nvSpPr>
          <p:cNvPr id="16" name="Text 13"/>
          <p:cNvSpPr txBox="1"/>
          <p:nvPr/>
        </p:nvSpPr>
        <p:spPr>
          <a:xfrm>
            <a:off x="8823960" y="2761488"/>
            <a:ext cx="2743200" cy="274320"/>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FDR &lt; 0.05 in 6 of 6</a:t>
            </a:r>
            <a:endParaRPr lang="en-US" sz="1200" dirty="0"/>
          </a:p>
        </p:txBody>
      </p:sp>
      <p:sp>
        <p:nvSpPr>
          <p:cNvPr id="17" name="stability"/>
          <p:cNvSpPr/>
          <p:nvPr/>
        </p:nvSpPr>
        <p:spPr>
          <a:xfrm>
            <a:off x="7223760" y="3246120"/>
            <a:ext cx="4416552" cy="749808"/>
          </a:xfrm>
          <a:prstGeom prst="roundRect">
            <a:avLst>
              <a:gd name="adj" fmla="val 9756"/>
            </a:avLst>
          </a:prstGeom>
          <a:solidFill>
            <a:srgbClr val="E3E6F6"/>
          </a:solidFill>
          <a:ln w="6350">
            <a:solidFill>
              <a:srgbClr val="D5DCE1"/>
            </a:solidFill>
            <a:prstDash val="solid"/>
          </a:ln>
        </p:spPr>
      </p:sp>
      <p:sp>
        <p:nvSpPr>
          <p:cNvPr id="18" name="Text 15"/>
          <p:cNvSpPr txBox="1"/>
          <p:nvPr/>
        </p:nvSpPr>
        <p:spPr>
          <a:xfrm>
            <a:off x="7360920" y="3300984"/>
            <a:ext cx="1463040" cy="640080"/>
          </a:xfrm>
          <a:prstGeom prst="rect">
            <a:avLst/>
          </a:prstGeom>
          <a:noFill/>
          <a:ln/>
        </p:spPr>
        <p:txBody>
          <a:bodyPr wrap="square" lIns="0" tIns="0" rIns="0" bIns="0" rtlCol="0" anchor="ctr"/>
          <a:lstStyle/>
          <a:p>
            <a:pPr indent="0" marL="0">
              <a:buNone/>
            </a:pPr>
            <a:r>
              <a:rPr lang="en-US" sz="1300" b="1" dirty="0">
                <a:solidFill>
                  <a:srgbClr val="3949AB"/>
                </a:solidFill>
                <a:latin typeface="Calibri" pitchFamily="34" charset="0"/>
                <a:ea typeface="Calibri" pitchFamily="34" charset="-122"/>
                <a:cs typeface="Calibri" pitchFamily="34" charset="-120"/>
              </a:rPr>
              <a:t>Income ratio</a:t>
            </a:r>
            <a:endParaRPr lang="en-US" sz="1300" dirty="0"/>
          </a:p>
        </p:txBody>
      </p:sp>
      <p:sp>
        <p:nvSpPr>
          <p:cNvPr id="19" name="Text 16"/>
          <p:cNvSpPr txBox="1"/>
          <p:nvPr/>
        </p:nvSpPr>
        <p:spPr>
          <a:xfrm>
            <a:off x="8823960" y="3300984"/>
            <a:ext cx="2743200" cy="320040"/>
          </a:xfrm>
          <a:prstGeom prst="rect">
            <a:avLst/>
          </a:prstGeom>
          <a:noFill/>
          <a:ln/>
        </p:spPr>
        <p:txBody>
          <a:bodyPr wrap="square" lIns="0" tIns="0" rIns="0" bIns="0" rtlCol="0" anchor="t"/>
          <a:lstStyle/>
          <a:p>
            <a:pPr indent="0" marL="0">
              <a:buNone/>
            </a:pPr>
            <a:r>
              <a:rPr lang="en-US" sz="1300" b="1" dirty="0">
                <a:solidFill>
                  <a:srgbClr val="10243A"/>
                </a:solidFill>
                <a:latin typeface="Calibri" pitchFamily="34" charset="0"/>
                <a:ea typeface="Calibri" pitchFamily="34" charset="-122"/>
                <a:cs typeface="Calibri" pitchFamily="34" charset="-120"/>
              </a:rPr>
              <a:t>−0.143 to −0.130 pp</a:t>
            </a:r>
            <a:endParaRPr lang="en-US" sz="1300" dirty="0"/>
          </a:p>
        </p:txBody>
      </p:sp>
      <p:sp>
        <p:nvSpPr>
          <p:cNvPr id="20" name="Text 17"/>
          <p:cNvSpPr txBox="1"/>
          <p:nvPr/>
        </p:nvSpPr>
        <p:spPr>
          <a:xfrm>
            <a:off x="8823960" y="3630168"/>
            <a:ext cx="2743200" cy="274320"/>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FDR &lt; 0.05 in 2 of 5</a:t>
            </a:r>
            <a:endParaRPr lang="en-US" sz="1200" dirty="0"/>
          </a:p>
        </p:txBody>
      </p:sp>
      <p:sp>
        <p:nvSpPr>
          <p:cNvPr id="21" name="stability"/>
          <p:cNvSpPr/>
          <p:nvPr/>
        </p:nvSpPr>
        <p:spPr>
          <a:xfrm>
            <a:off x="7223760" y="4114800"/>
            <a:ext cx="4416552" cy="749808"/>
          </a:xfrm>
          <a:prstGeom prst="roundRect">
            <a:avLst>
              <a:gd name="adj" fmla="val 9756"/>
            </a:avLst>
          </a:prstGeom>
          <a:solidFill>
            <a:srgbClr val="E3E6F6"/>
          </a:solidFill>
          <a:ln w="6350">
            <a:solidFill>
              <a:srgbClr val="D5DCE1"/>
            </a:solidFill>
            <a:prstDash val="solid"/>
          </a:ln>
        </p:spPr>
      </p:sp>
      <p:sp>
        <p:nvSpPr>
          <p:cNvPr id="22" name="Text 19"/>
          <p:cNvSpPr txBox="1"/>
          <p:nvPr/>
        </p:nvSpPr>
        <p:spPr>
          <a:xfrm>
            <a:off x="7360920" y="4169664"/>
            <a:ext cx="1463040" cy="640080"/>
          </a:xfrm>
          <a:prstGeom prst="rect">
            <a:avLst/>
          </a:prstGeom>
          <a:noFill/>
          <a:ln/>
        </p:spPr>
        <p:txBody>
          <a:bodyPr wrap="square" lIns="0" tIns="0" rIns="0" bIns="0" rtlCol="0" anchor="ctr"/>
          <a:lstStyle/>
          <a:p>
            <a:pPr indent="0" marL="0">
              <a:buNone/>
            </a:pPr>
            <a:r>
              <a:rPr lang="en-US" sz="1300" b="1" dirty="0">
                <a:solidFill>
                  <a:srgbClr val="3949AB"/>
                </a:solidFill>
                <a:latin typeface="Calibri" pitchFamily="34" charset="0"/>
                <a:ea typeface="Calibri" pitchFamily="34" charset="-122"/>
                <a:cs typeface="Calibri" pitchFamily="34" charset="-120"/>
              </a:rPr>
              <a:t>Age per 10 yrs</a:t>
            </a:r>
            <a:endParaRPr lang="en-US" sz="1300" dirty="0"/>
          </a:p>
        </p:txBody>
      </p:sp>
      <p:sp>
        <p:nvSpPr>
          <p:cNvPr id="23" name="Text 20"/>
          <p:cNvSpPr txBox="1"/>
          <p:nvPr/>
        </p:nvSpPr>
        <p:spPr>
          <a:xfrm>
            <a:off x="8823960" y="4169664"/>
            <a:ext cx="2743200" cy="320040"/>
          </a:xfrm>
          <a:prstGeom prst="rect">
            <a:avLst/>
          </a:prstGeom>
          <a:noFill/>
          <a:ln/>
        </p:spPr>
        <p:txBody>
          <a:bodyPr wrap="square" lIns="0" tIns="0" rIns="0" bIns="0" rtlCol="0" anchor="t"/>
          <a:lstStyle/>
          <a:p>
            <a:pPr indent="0" marL="0">
              <a:buNone/>
            </a:pPr>
            <a:r>
              <a:rPr lang="en-US" sz="1300" b="1" dirty="0">
                <a:solidFill>
                  <a:srgbClr val="10243A"/>
                </a:solidFill>
                <a:latin typeface="Calibri" pitchFamily="34" charset="0"/>
                <a:ea typeface="Calibri" pitchFamily="34" charset="-122"/>
                <a:cs typeface="Calibri" pitchFamily="34" charset="-120"/>
              </a:rPr>
              <a:t>−0.191 to −0.150 pp</a:t>
            </a:r>
            <a:endParaRPr lang="en-US" sz="1300" dirty="0"/>
          </a:p>
        </p:txBody>
      </p:sp>
      <p:sp>
        <p:nvSpPr>
          <p:cNvPr id="24" name="Text 21"/>
          <p:cNvSpPr txBox="1"/>
          <p:nvPr/>
        </p:nvSpPr>
        <p:spPr>
          <a:xfrm>
            <a:off x="8823960" y="4498848"/>
            <a:ext cx="2743200" cy="274320"/>
          </a:xfrm>
          <a:prstGeom prst="rect">
            <a:avLst/>
          </a:prstGeom>
          <a:noFill/>
          <a:ln/>
        </p:spPr>
        <p:txBody>
          <a:bodyPr wrap="square" lIns="0" tIns="0" rIns="0" bIns="0" rtlCol="0" anchor="t"/>
          <a:lstStyle/>
          <a:p>
            <a:pPr indent="0" marL="0">
              <a:buNone/>
            </a:pPr>
            <a:r>
              <a:rPr lang="en-US" sz="1200" dirty="0">
                <a:solidFill>
                  <a:srgbClr val="55626C"/>
                </a:solidFill>
                <a:latin typeface="Calibri" pitchFamily="34" charset="0"/>
                <a:ea typeface="Calibri" pitchFamily="34" charset="-122"/>
                <a:cs typeface="Calibri" pitchFamily="34" charset="-120"/>
              </a:rPr>
              <a:t>FDR &lt; 0.05 in 2 of 6</a:t>
            </a:r>
            <a:endParaRPr lang="en-US" sz="1200" dirty="0"/>
          </a:p>
        </p:txBody>
      </p:sp>
      <p:sp>
        <p:nvSpPr>
          <p:cNvPr id="25" name="nhanes other"/>
          <p:cNvSpPr/>
          <p:nvPr/>
        </p:nvSpPr>
        <p:spPr>
          <a:xfrm>
            <a:off x="7223760" y="5029200"/>
            <a:ext cx="4416552" cy="1280160"/>
          </a:xfrm>
          <a:prstGeom prst="roundRect">
            <a:avLst>
              <a:gd name="adj" fmla="val 5714"/>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26" name="Text 23"/>
          <p:cNvSpPr txBox="1"/>
          <p:nvPr/>
        </p:nvSpPr>
        <p:spPr>
          <a:xfrm>
            <a:off x="7360920" y="5074920"/>
            <a:ext cx="4160520" cy="1188720"/>
          </a:xfrm>
          <a:prstGeom prst="rect">
            <a:avLst/>
          </a:prstGeom>
          <a:noFill/>
          <a:ln/>
        </p:spPr>
        <p:txBody>
          <a:bodyPr wrap="square" lIns="0" tIns="0" rIns="0" bIns="0" rtlCol="0" anchor="ctr"/>
          <a:lstStyle/>
          <a:p>
            <a:pPr indent="0" marL="0">
              <a:buNone/>
            </a:pPr>
            <a:r>
              <a:rPr lang="en-US" sz="1200" dirty="0">
                <a:solidFill>
                  <a:srgbClr val="10243A"/>
                </a:solidFill>
                <a:latin typeface="Calibri" pitchFamily="34" charset="0"/>
                <a:ea typeface="Calibri" pitchFamily="34" charset="-122"/>
                <a:cs typeface="Calibri" pitchFamily="34" charset="-120"/>
              </a:rPr>
              <a:t>7 fixed alternatives: reduced adjustment, top-code flags, pregnancy uncertainty, no income, ≥8% and ≥7% logistic. Weighted HbA1c response coverage 97.65%.</a:t>
            </a:r>
            <a:endParaRPr lang="en-US" sz="12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Key findings and qualified recommendations</a:t>
            </a:r>
            <a:endParaRPr lang="en-US" sz="3000" dirty="0"/>
          </a:p>
        </p:txBody>
      </p:sp>
      <p:sp>
        <p:nvSpPr>
          <p:cNvPr id="3" name="findings"/>
          <p:cNvSpPr/>
          <p:nvPr/>
        </p:nvSpPr>
        <p:spPr>
          <a:xfrm>
            <a:off x="548640" y="1188720"/>
            <a:ext cx="5486400" cy="5120640"/>
          </a:xfrm>
          <a:prstGeom prst="roundRect">
            <a:avLst>
              <a:gd name="adj" fmla="val 1429"/>
            </a:avLst>
          </a:prstGeom>
          <a:solidFill>
            <a:srgbClr val="FFFFFF"/>
          </a:solidFill>
          <a:ln w="6350">
            <a:solidFill>
              <a:srgbClr val="D5DCE1"/>
            </a:solidFill>
            <a:prstDash val="solid"/>
          </a:ln>
          <a:effectLst>
            <a:outerShdw sx="100000" sy="100000" kx="0" ky="0" algn="bl" rotWithShape="0" blurRad="76200" dist="25400" dir="5400000">
              <a:srgbClr val="000000">
                <a:alpha val="10000"/>
              </a:srgbClr>
            </a:outerShdw>
          </a:effectLst>
        </p:spPr>
      </p:sp>
      <p:sp>
        <p:nvSpPr>
          <p:cNvPr id="4" name="Text 2"/>
          <p:cNvSpPr txBox="1"/>
          <p:nvPr/>
        </p:nvSpPr>
        <p:spPr>
          <a:xfrm>
            <a:off x="777240" y="1298448"/>
            <a:ext cx="5029200"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VERIFIED FINDINGS (from repository outputs)</a:t>
            </a:r>
            <a:endParaRPr lang="en-US" sz="1200" dirty="0"/>
          </a:p>
        </p:txBody>
      </p:sp>
      <p:sp>
        <p:nvSpPr>
          <p:cNvPr id="5" name="Text 3"/>
          <p:cNvSpPr txBox="1"/>
          <p:nvPr/>
        </p:nvSpPr>
        <p:spPr>
          <a:xfrm>
            <a:off x="777240" y="169164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Prior hospital use</a:t>
            </a:r>
            <a:endParaRPr lang="en-US" sz="1400" dirty="0"/>
          </a:p>
        </p:txBody>
      </p:sp>
      <p:sp>
        <p:nvSpPr>
          <p:cNvPr id="6" name="Text 4"/>
          <p:cNvSpPr txBox="1"/>
          <p:nvPr/>
        </p:nvSpPr>
        <p:spPr>
          <a:xfrm>
            <a:off x="777240" y="1984248"/>
            <a:ext cx="5029200" cy="777240"/>
          </a:xfrm>
          <a:prstGeom prst="rect">
            <a:avLst/>
          </a:prstGeom>
          <a:noFill/>
          <a:ln/>
        </p:spPr>
        <p:txBody>
          <a:bodyPr wrap="square" lIns="0" tIns="0" rIns="0" bIns="0" rtlCol="0" anchor="t"/>
          <a:lstStyle/>
          <a:p>
            <a:pPr indent="0" marL="0">
              <a:buNone/>
            </a:pPr>
            <a:r>
              <a:rPr lang="en-US" sz="1300" dirty="0">
                <a:solidFill>
                  <a:srgbClr val="55626C"/>
                </a:solidFill>
                <a:latin typeface="Calibri" pitchFamily="34" charset="0"/>
                <a:ea typeface="Calibri" pitchFamily="34" charset="-122"/>
                <a:cs typeface="Calibri" pitchFamily="34" charset="-120"/>
              </a:rPr>
              <a:t>Readmission 8.59% → 22.02% (0 vs 2+ prior stays); adjusted OR 1.309 per visit, stable across checks.</a:t>
            </a:r>
            <a:endParaRPr lang="en-US" sz="1300" dirty="0"/>
          </a:p>
        </p:txBody>
      </p:sp>
      <p:sp>
        <p:nvSpPr>
          <p:cNvPr id="7" name="Text 5"/>
          <p:cNvSpPr txBox="1"/>
          <p:nvPr/>
        </p:nvSpPr>
        <p:spPr>
          <a:xfrm>
            <a:off x="777240" y="283464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Discharge context</a:t>
            </a:r>
            <a:endParaRPr lang="en-US" sz="1400" dirty="0"/>
          </a:p>
        </p:txBody>
      </p:sp>
      <p:sp>
        <p:nvSpPr>
          <p:cNvPr id="8" name="Text 6"/>
          <p:cNvSpPr txBox="1"/>
          <p:nvPr/>
        </p:nvSpPr>
        <p:spPr>
          <a:xfrm>
            <a:off x="777240" y="3127248"/>
            <a:ext cx="5029200" cy="777240"/>
          </a:xfrm>
          <a:prstGeom prst="rect">
            <a:avLst/>
          </a:prstGeom>
          <a:noFill/>
          <a:ln/>
        </p:spPr>
        <p:txBody>
          <a:bodyPr wrap="square" lIns="0" tIns="0" rIns="0" bIns="0" rtlCol="0" anchor="t"/>
          <a:lstStyle/>
          <a:p>
            <a:pPr indent="0" marL="0">
              <a:buNone/>
            </a:pPr>
            <a:r>
              <a:rPr lang="en-US" sz="1300" dirty="0">
                <a:solidFill>
                  <a:srgbClr val="55626C"/>
                </a:solidFill>
                <a:latin typeface="Calibri" pitchFamily="34" charset="0"/>
                <a:ea typeface="Calibri" pitchFamily="34" charset="-122"/>
                <a:cs typeface="Calibri" pitchFamily="34" charset="-120"/>
              </a:rPr>
              <a:t>Prior inpatient use and discharge disposition lead the predictive rankings.</a:t>
            </a:r>
            <a:endParaRPr lang="en-US" sz="1300" dirty="0"/>
          </a:p>
        </p:txBody>
      </p:sp>
      <p:sp>
        <p:nvSpPr>
          <p:cNvPr id="9" name="Text 7"/>
          <p:cNvSpPr txBox="1"/>
          <p:nvPr/>
        </p:nvSpPr>
        <p:spPr>
          <a:xfrm>
            <a:off x="777240" y="397764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Prediction is modest</a:t>
            </a:r>
            <a:endParaRPr lang="en-US" sz="1400" dirty="0"/>
          </a:p>
        </p:txBody>
      </p:sp>
      <p:sp>
        <p:nvSpPr>
          <p:cNvPr id="10" name="Text 8"/>
          <p:cNvSpPr txBox="1"/>
          <p:nvPr/>
        </p:nvSpPr>
        <p:spPr>
          <a:xfrm>
            <a:off x="777240" y="4270248"/>
            <a:ext cx="5029200" cy="777240"/>
          </a:xfrm>
          <a:prstGeom prst="rect">
            <a:avLst/>
          </a:prstGeom>
          <a:noFill/>
          <a:ln/>
        </p:spPr>
        <p:txBody>
          <a:bodyPr wrap="square" lIns="0" tIns="0" rIns="0" bIns="0" rtlCol="0" anchor="t"/>
          <a:lstStyle/>
          <a:p>
            <a:pPr indent="0" marL="0">
              <a:buNone/>
            </a:pPr>
            <a:r>
              <a:rPr lang="en-US" sz="1300" dirty="0">
                <a:solidFill>
                  <a:srgbClr val="55626C"/>
                </a:solidFill>
                <a:latin typeface="Calibri" pitchFamily="34" charset="0"/>
                <a:ea typeface="Calibri" pitchFamily="34" charset="-122"/>
                <a:cs typeface="Calibri" pitchFamily="34" charset="-120"/>
              </a:rPr>
              <a:t>Best held-out AUC 0.668, AP 0.226 (prevalence 0.111).</a:t>
            </a:r>
            <a:endParaRPr lang="en-US" sz="1300" dirty="0"/>
          </a:p>
        </p:txBody>
      </p:sp>
      <p:sp>
        <p:nvSpPr>
          <p:cNvPr id="11" name="Text 9"/>
          <p:cNvSpPr txBox="1"/>
          <p:nvPr/>
        </p:nvSpPr>
        <p:spPr>
          <a:xfrm>
            <a:off x="777240" y="512064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HbA1c in NHANES</a:t>
            </a:r>
            <a:endParaRPr lang="en-US" sz="1400" dirty="0"/>
          </a:p>
        </p:txBody>
      </p:sp>
      <p:sp>
        <p:nvSpPr>
          <p:cNvPr id="12" name="Text 10"/>
          <p:cNvSpPr txBox="1"/>
          <p:nvPr/>
        </p:nvSpPr>
        <p:spPr>
          <a:xfrm>
            <a:off x="777240" y="5413248"/>
            <a:ext cx="5029200" cy="777240"/>
          </a:xfrm>
          <a:prstGeom prst="rect">
            <a:avLst/>
          </a:prstGeom>
          <a:noFill/>
          <a:ln/>
        </p:spPr>
        <p:txBody>
          <a:bodyPr wrap="square" lIns="0" tIns="0" rIns="0" bIns="0" rtlCol="0" anchor="t"/>
          <a:lstStyle/>
          <a:p>
            <a:pPr indent="0" marL="0">
              <a:buNone/>
            </a:pPr>
            <a:r>
              <a:rPr lang="en-US" sz="1300" dirty="0">
                <a:solidFill>
                  <a:srgbClr val="55626C"/>
                </a:solidFill>
                <a:latin typeface="Calibri" pitchFamily="34" charset="0"/>
                <a:ea typeface="Calibri" pitchFamily="34" charset="-122"/>
                <a:cs typeface="Calibri" pitchFamily="34" charset="-120"/>
              </a:rPr>
              <a:t>Weighted mean 7.28%; 23.18% at ≥8%; treatment flags positively associated.</a:t>
            </a:r>
            <a:endParaRPr lang="en-US" sz="1300" dirty="0"/>
          </a:p>
        </p:txBody>
      </p:sp>
      <p:sp>
        <p:nvSpPr>
          <p:cNvPr id="13" name="proposals"/>
          <p:cNvSpPr/>
          <p:nvPr/>
        </p:nvSpPr>
        <p:spPr>
          <a:xfrm>
            <a:off x="6153912" y="1188720"/>
            <a:ext cx="5486400" cy="5120640"/>
          </a:xfrm>
          <a:prstGeom prst="roundRect">
            <a:avLst>
              <a:gd name="adj" fmla="val 1429"/>
            </a:avLst>
          </a:prstGeom>
          <a:solidFill>
            <a:srgbClr val="FBF0D9"/>
          </a:solidFill>
          <a:ln w="6350">
            <a:solidFill>
              <a:srgbClr val="D5DCE1"/>
            </a:solidFill>
            <a:prstDash val="solid"/>
          </a:ln>
        </p:spPr>
      </p:sp>
      <p:sp>
        <p:nvSpPr>
          <p:cNvPr id="14" name="Text 12"/>
          <p:cNvSpPr txBox="1"/>
          <p:nvPr/>
        </p:nvSpPr>
        <p:spPr>
          <a:xfrm>
            <a:off x="6382512" y="1298448"/>
            <a:ext cx="5029200" cy="274320"/>
          </a:xfrm>
          <a:prstGeom prst="rect">
            <a:avLst/>
          </a:prstGeom>
          <a:noFill/>
          <a:ln/>
        </p:spPr>
        <p:txBody>
          <a:bodyPr wrap="square" lIns="0" tIns="0" rIns="0" bIns="0" rtlCol="0" anchor="t"/>
          <a:lstStyle/>
          <a:p>
            <a:pPr indent="0" marL="0">
              <a:buNone/>
            </a:pPr>
            <a:r>
              <a:rPr lang="en-US" sz="1200" b="1" dirty="0">
                <a:solidFill>
                  <a:srgbClr val="B7791F"/>
                </a:solidFill>
                <a:latin typeface="Calibri" pitchFamily="34" charset="0"/>
                <a:ea typeface="Calibri" pitchFamily="34" charset="-122"/>
                <a:cs typeface="Calibri" pitchFamily="34" charset="-120"/>
              </a:rPr>
              <a:t>PROPOSED, NOT TESTED HERE</a:t>
            </a:r>
            <a:endParaRPr lang="en-US" sz="1200" dirty="0"/>
          </a:p>
        </p:txBody>
      </p:sp>
      <p:sp>
        <p:nvSpPr>
          <p:cNvPr id="15" name="Text 13"/>
          <p:cNvSpPr txBox="1"/>
          <p:nvPr/>
        </p:nvSpPr>
        <p:spPr>
          <a:xfrm>
            <a:off x="6382512" y="169164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Case-management outreach</a:t>
            </a:r>
            <a:endParaRPr lang="en-US" sz="1400" dirty="0"/>
          </a:p>
        </p:txBody>
      </p:sp>
      <p:sp>
        <p:nvSpPr>
          <p:cNvPr id="16" name="Text 14"/>
          <p:cNvSpPr txBox="1"/>
          <p:nvPr/>
        </p:nvSpPr>
        <p:spPr>
          <a:xfrm>
            <a:off x="6382512" y="1984248"/>
            <a:ext cx="5029200" cy="548640"/>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Candidate for patients with repeated recent admissions.</a:t>
            </a:r>
            <a:endParaRPr lang="en-US" sz="1300" dirty="0"/>
          </a:p>
        </p:txBody>
      </p:sp>
      <p:sp>
        <p:nvSpPr>
          <p:cNvPr id="17" name="Text 15"/>
          <p:cNvSpPr txBox="1"/>
          <p:nvPr/>
        </p:nvSpPr>
        <p:spPr>
          <a:xfrm>
            <a:off x="6382512" y="274320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Medication reconciliation</a:t>
            </a:r>
            <a:endParaRPr lang="en-US" sz="1400" dirty="0"/>
          </a:p>
        </p:txBody>
      </p:sp>
      <p:sp>
        <p:nvSpPr>
          <p:cNvPr id="18" name="Text 16"/>
          <p:cNvSpPr txBox="1"/>
          <p:nvPr/>
        </p:nvSpPr>
        <p:spPr>
          <a:xfrm>
            <a:off x="6382512" y="3035808"/>
            <a:ext cx="5029200" cy="548640"/>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Candidate for high medication-burden discharges.</a:t>
            </a:r>
            <a:endParaRPr lang="en-US" sz="1300" dirty="0"/>
          </a:p>
        </p:txBody>
      </p:sp>
      <p:sp>
        <p:nvSpPr>
          <p:cNvPr id="19" name="Text 17"/>
          <p:cNvSpPr txBox="1"/>
          <p:nvPr/>
        </p:nvSpPr>
        <p:spPr>
          <a:xfrm>
            <a:off x="6382512" y="3794760"/>
            <a:ext cx="5029200" cy="274320"/>
          </a:xfrm>
          <a:prstGeom prst="rect">
            <a:avLst/>
          </a:prstGeom>
          <a:noFill/>
          <a:ln/>
        </p:spPr>
        <p:txBody>
          <a:bodyPr wrap="square" lIns="0" tIns="0" rIns="0" bIns="0" rtlCol="0" anchor="t"/>
          <a:lstStyle/>
          <a:p>
            <a:pPr indent="0" marL="0">
              <a:buNone/>
            </a:pPr>
            <a:r>
              <a:rPr lang="en-US" sz="1400" b="1" dirty="0">
                <a:solidFill>
                  <a:srgbClr val="10243A"/>
                </a:solidFill>
                <a:latin typeface="Calibri" pitchFamily="34" charset="0"/>
                <a:ea typeface="Calibri" pitchFamily="34" charset="-122"/>
                <a:cs typeface="Calibri" pitchFamily="34" charset="-120"/>
              </a:rPr>
              <a:t>Coordinated follow-up</a:t>
            </a:r>
            <a:endParaRPr lang="en-US" sz="1400" dirty="0"/>
          </a:p>
        </p:txBody>
      </p:sp>
      <p:sp>
        <p:nvSpPr>
          <p:cNvPr id="20" name="Text 18"/>
          <p:cNvSpPr txBox="1"/>
          <p:nvPr/>
        </p:nvSpPr>
        <p:spPr>
          <a:xfrm>
            <a:off x="6382512" y="4087368"/>
            <a:ext cx="5029200" cy="548640"/>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Candidate for older patients with several diagnoses.</a:t>
            </a:r>
            <a:endParaRPr lang="en-US" sz="1300" dirty="0"/>
          </a:p>
        </p:txBody>
      </p:sp>
      <p:sp>
        <p:nvSpPr>
          <p:cNvPr id="21" name="Text 19"/>
          <p:cNvSpPr txBox="1"/>
          <p:nvPr/>
        </p:nvSpPr>
        <p:spPr>
          <a:xfrm>
            <a:off x="6382512" y="4937760"/>
            <a:ext cx="5029200" cy="1188720"/>
          </a:xfrm>
          <a:prstGeom prst="rect">
            <a:avLst/>
          </a:prstGeom>
          <a:noFill/>
          <a:ln/>
        </p:spPr>
        <p:txBody>
          <a:bodyPr wrap="square" lIns="0" tIns="0" rIns="0" bIns="0" rtlCol="0" anchor="t"/>
          <a:lstStyle/>
          <a:p>
            <a:pPr indent="0" marL="0">
              <a:buNone/>
            </a:pPr>
            <a:r>
              <a:rPr lang="en-US" sz="1300" b="1" dirty="0">
                <a:solidFill>
                  <a:srgbClr val="B42318"/>
                </a:solidFill>
                <a:latin typeface="Calibri" pitchFamily="34" charset="0"/>
                <a:ea typeface="Calibri" pitchFamily="34" charset="-122"/>
                <a:cs typeface="Calibri" pitchFamily="34" charset="-120"/>
              </a:rPr>
              <a:t>These are ideas to evaluate in future studies. Nothing here shows they reduce readmission or HbA1c, and results do not justify changing anyone's medication.</a:t>
            </a:r>
            <a:endParaRPr lang="en-US" sz="13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Limitations and future work</a:t>
            </a:r>
            <a:endParaRPr lang="en-US" sz="3000" dirty="0"/>
          </a:p>
        </p:txBody>
      </p:sp>
      <p:sp>
        <p:nvSpPr>
          <p:cNvPr id="3" name="col"/>
          <p:cNvSpPr/>
          <p:nvPr/>
        </p:nvSpPr>
        <p:spPr>
          <a:xfrm>
            <a:off x="548640" y="1188720"/>
            <a:ext cx="3593592" cy="4572000"/>
          </a:xfrm>
          <a:prstGeom prst="roundRect">
            <a:avLst>
              <a:gd name="adj" fmla="val 2036"/>
            </a:avLst>
          </a:prstGeom>
          <a:solidFill>
            <a:srgbClr val="DCEFEC"/>
          </a:solidFill>
          <a:ln w="6350">
            <a:solidFill>
              <a:srgbClr val="D5DCE1"/>
            </a:solidFill>
            <a:prstDash val="solid"/>
          </a:ln>
        </p:spPr>
      </p:sp>
      <p:sp>
        <p:nvSpPr>
          <p:cNvPr id="4" name="Text 2"/>
          <p:cNvSpPr txBox="1"/>
          <p:nvPr/>
        </p:nvSpPr>
        <p:spPr>
          <a:xfrm>
            <a:off x="731520" y="1298448"/>
            <a:ext cx="3200400"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COMPLETED</a:t>
            </a:r>
            <a:endParaRPr lang="en-US" sz="1200" dirty="0"/>
          </a:p>
        </p:txBody>
      </p:sp>
      <p:sp>
        <p:nvSpPr>
          <p:cNvPr id="5" name="Text 3"/>
          <p:cNvSpPr txBox="1"/>
          <p:nvPr/>
        </p:nvSpPr>
        <p:spPr>
          <a:xfrm>
            <a:off x="731520" y="1737360"/>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UCI audit, cleaning, features, tests, adjusted logistic model</a:t>
            </a:r>
            <a:endParaRPr lang="en-US" sz="1300" dirty="0"/>
          </a:p>
        </p:txBody>
      </p:sp>
      <p:sp>
        <p:nvSpPr>
          <p:cNvPr id="6" name="Text 4"/>
          <p:cNvSpPr txBox="1"/>
          <p:nvPr/>
        </p:nvSpPr>
        <p:spPr>
          <a:xfrm>
            <a:off x="731520" y="2633472"/>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Patient-separated model comparison and bootstrap uncertainty</a:t>
            </a:r>
            <a:endParaRPr lang="en-US" sz="1300" dirty="0"/>
          </a:p>
        </p:txBody>
      </p:sp>
      <p:sp>
        <p:nvSpPr>
          <p:cNvPr id="7" name="Text 5"/>
          <p:cNvSpPr txBox="1"/>
          <p:nvPr/>
        </p:nvSpPr>
        <p:spPr>
          <a:xfrm>
            <a:off x="731520" y="3529584"/>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NHANES weighted estimates and Gaussian model</a:t>
            </a:r>
            <a:endParaRPr lang="en-US" sz="1300" dirty="0"/>
          </a:p>
        </p:txBody>
      </p:sp>
      <p:sp>
        <p:nvSpPr>
          <p:cNvPr id="8" name="Text 6"/>
          <p:cNvSpPr txBox="1"/>
          <p:nvPr/>
        </p:nvSpPr>
        <p:spPr>
          <a:xfrm>
            <a:off x="731520" y="4425696"/>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Sensitivity checks for both studies</a:t>
            </a:r>
            <a:endParaRPr lang="en-US" sz="1300" dirty="0"/>
          </a:p>
        </p:txBody>
      </p:sp>
      <p:sp>
        <p:nvSpPr>
          <p:cNvPr id="9" name="col"/>
          <p:cNvSpPr/>
          <p:nvPr/>
        </p:nvSpPr>
        <p:spPr>
          <a:xfrm>
            <a:off x="4297680" y="1188720"/>
            <a:ext cx="3593592" cy="4572000"/>
          </a:xfrm>
          <a:prstGeom prst="roundRect">
            <a:avLst>
              <a:gd name="adj" fmla="val 2036"/>
            </a:avLst>
          </a:prstGeom>
          <a:solidFill>
            <a:srgbClr val="FCE8E6"/>
          </a:solidFill>
          <a:ln w="6350">
            <a:solidFill>
              <a:srgbClr val="D5DCE1"/>
            </a:solidFill>
            <a:prstDash val="solid"/>
          </a:ln>
        </p:spPr>
      </p:sp>
      <p:sp>
        <p:nvSpPr>
          <p:cNvPr id="10" name="Text 8"/>
          <p:cNvSpPr txBox="1"/>
          <p:nvPr/>
        </p:nvSpPr>
        <p:spPr>
          <a:xfrm>
            <a:off x="4480560" y="1298448"/>
            <a:ext cx="3200400" cy="27432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LIMITATIONS</a:t>
            </a:r>
            <a:endParaRPr lang="en-US" sz="1200" dirty="0"/>
          </a:p>
        </p:txBody>
      </p:sp>
      <p:sp>
        <p:nvSpPr>
          <p:cNvPr id="11" name="Text 9"/>
          <p:cNvSpPr txBox="1"/>
          <p:nvPr/>
        </p:nvSpPr>
        <p:spPr>
          <a:xfrm>
            <a:off x="4480560" y="1737360"/>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Observational: unmeasured confounding, no causal claims</a:t>
            </a:r>
            <a:endParaRPr lang="en-US" sz="1300" dirty="0"/>
          </a:p>
        </p:txBody>
      </p:sp>
      <p:sp>
        <p:nvSpPr>
          <p:cNvPr id="12" name="Text 10"/>
          <p:cNvSpPr txBox="1"/>
          <p:nvPr/>
        </p:nvSpPr>
        <p:spPr>
          <a:xfrm>
            <a:off x="4480560" y="2633472"/>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UCI is 1999–2008 and has no hospital ID or dates; readmission ≠ management failure</a:t>
            </a:r>
            <a:endParaRPr lang="en-US" sz="1300" dirty="0"/>
          </a:p>
        </p:txBody>
      </p:sp>
      <p:sp>
        <p:nvSpPr>
          <p:cNvPr id="13" name="Text 11"/>
          <p:cNvSpPr txBox="1"/>
          <p:nvPr/>
        </p:nvSpPr>
        <p:spPr>
          <a:xfrm>
            <a:off x="4480560" y="3529584"/>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UCI holdout was reused; no external or temporal validation</a:t>
            </a:r>
            <a:endParaRPr lang="en-US" sz="1300" dirty="0"/>
          </a:p>
        </p:txBody>
      </p:sp>
      <p:sp>
        <p:nvSpPr>
          <p:cNvPr id="14" name="Text 12"/>
          <p:cNvSpPr txBox="1"/>
          <p:nvPr/>
        </p:nvSpPr>
        <p:spPr>
          <a:xfrm>
            <a:off x="4480560" y="4425696"/>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NHANES: cross-sectional, 651 complete cases, 5 residual df, top-coded age/income, no nonresponse adjustment</a:t>
            </a:r>
            <a:endParaRPr lang="en-US" sz="1300" dirty="0"/>
          </a:p>
        </p:txBody>
      </p:sp>
      <p:sp>
        <p:nvSpPr>
          <p:cNvPr id="15" name="col"/>
          <p:cNvSpPr/>
          <p:nvPr/>
        </p:nvSpPr>
        <p:spPr>
          <a:xfrm>
            <a:off x="8046720" y="1188720"/>
            <a:ext cx="3593592" cy="4572000"/>
          </a:xfrm>
          <a:prstGeom prst="roundRect">
            <a:avLst>
              <a:gd name="adj" fmla="val 2036"/>
            </a:avLst>
          </a:prstGeom>
          <a:solidFill>
            <a:srgbClr val="E3E6F6"/>
          </a:solidFill>
          <a:ln w="6350">
            <a:solidFill>
              <a:srgbClr val="D5DCE1"/>
            </a:solidFill>
            <a:prstDash val="solid"/>
          </a:ln>
        </p:spPr>
      </p:sp>
      <p:sp>
        <p:nvSpPr>
          <p:cNvPr id="16" name="Text 14"/>
          <p:cNvSpPr txBox="1"/>
          <p:nvPr/>
        </p:nvSpPr>
        <p:spPr>
          <a:xfrm>
            <a:off x="8229600" y="1298448"/>
            <a:ext cx="3200400" cy="274320"/>
          </a:xfrm>
          <a:prstGeom prst="rect">
            <a:avLst/>
          </a:prstGeom>
          <a:noFill/>
          <a:ln/>
        </p:spPr>
        <p:txBody>
          <a:bodyPr wrap="square" lIns="0" tIns="0" rIns="0" bIns="0" rtlCol="0" anchor="t"/>
          <a:lstStyle/>
          <a:p>
            <a:pPr indent="0" marL="0">
              <a:buNone/>
            </a:pPr>
            <a:r>
              <a:rPr lang="en-US" sz="1200" b="1" dirty="0">
                <a:solidFill>
                  <a:srgbClr val="3949AB"/>
                </a:solidFill>
                <a:latin typeface="Calibri" pitchFamily="34" charset="0"/>
                <a:ea typeface="Calibri" pitchFamily="34" charset="-122"/>
                <a:cs typeface="Calibri" pitchFamily="34" charset="-120"/>
              </a:rPr>
              <a:t>FUTURE WORK (not done)</a:t>
            </a:r>
            <a:endParaRPr lang="en-US" sz="1200" dirty="0"/>
          </a:p>
        </p:txBody>
      </p:sp>
      <p:sp>
        <p:nvSpPr>
          <p:cNvPr id="17" name="Text 15"/>
          <p:cNvSpPr txBox="1"/>
          <p:nvPr/>
        </p:nvSpPr>
        <p:spPr>
          <a:xfrm>
            <a:off x="8229600" y="1737360"/>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Grouped cross-validation for model stability</a:t>
            </a:r>
            <a:endParaRPr lang="en-US" sz="1300" dirty="0"/>
          </a:p>
        </p:txBody>
      </p:sp>
      <p:sp>
        <p:nvSpPr>
          <p:cNvPr id="18" name="Text 16"/>
          <p:cNvSpPr txBox="1"/>
          <p:nvPr/>
        </p:nvSpPr>
        <p:spPr>
          <a:xfrm>
            <a:off x="8229600" y="2633472"/>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External data with harmonised readmission definitions</a:t>
            </a:r>
            <a:endParaRPr lang="en-US" sz="1300" dirty="0"/>
          </a:p>
        </p:txBody>
      </p:sp>
      <p:sp>
        <p:nvSpPr>
          <p:cNvPr id="19" name="Text 17"/>
          <p:cNvSpPr txBox="1"/>
          <p:nvPr/>
        </p:nvSpPr>
        <p:spPr>
          <a:xfrm>
            <a:off x="8229600" y="3529584"/>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Calibration, thresholds, cost and workload analysis</a:t>
            </a:r>
            <a:endParaRPr lang="en-US" sz="1300" dirty="0"/>
          </a:p>
        </p:txBody>
      </p:sp>
      <p:sp>
        <p:nvSpPr>
          <p:cNvPr id="20" name="Text 18"/>
          <p:cNvSpPr txBox="1"/>
          <p:nvPr/>
        </p:nvSpPr>
        <p:spPr>
          <a:xfrm>
            <a:off x="8229600" y="4425696"/>
            <a:ext cx="3246120" cy="841248"/>
          </a:xfrm>
          <a:prstGeom prst="rect">
            <a:avLst/>
          </a:prstGeom>
          <a:noFill/>
          <a:ln/>
        </p:spPr>
        <p:txBody>
          <a:bodyPr wrap="square" lIns="0" tIns="0" rIns="0" bIns="0" rtlCol="0" anchor="t"/>
          <a:lstStyle/>
          <a:p>
            <a:pPr indent="0" marL="0">
              <a:buNone/>
            </a:pPr>
            <a:r>
              <a:rPr lang="en-US" sz="1300" dirty="0">
                <a:solidFill>
                  <a:srgbClr val="10243A"/>
                </a:solidFill>
                <a:latin typeface="Calibri" pitchFamily="34" charset="0"/>
                <a:ea typeface="Calibri" pitchFamily="34" charset="-122"/>
                <a:cs typeface="Calibri" pitchFamily="34" charset="-120"/>
              </a:rPr>
              <a:t>Datasets that measure adherence and continuity directly; more NHANES cycles</a:t>
            </a:r>
            <a:endParaRPr lang="en-US" sz="1300" dirty="0"/>
          </a:p>
        </p:txBody>
      </p:sp>
      <p:sp>
        <p:nvSpPr>
          <p:cNvPr id="25" name="Slide Number Placeholder 0"/>
          <p:cNvSpPr>
            <a:spLocks noGrp="1"/>
          </p:cNvSpPr>
          <p:nvPr>
            <p:ph type="sldNum" sz="quarter" idx="4294967295"/>
          </p:nvPr>
        </p:nvSpPr>
        <p:spPr>
          <a:xfrm>
            <a:off x="1129284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26C"/>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548640"/>
            <a:ext cx="7315200" cy="64008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3" name="Shape 1"/>
          <p:cNvSpPr/>
          <p:nvPr/>
        </p:nvSpPr>
        <p:spPr>
          <a:xfrm>
            <a:off x="731520" y="1554480"/>
            <a:ext cx="3520440" cy="2651760"/>
          </a:xfrm>
          <a:prstGeom prst="roundRect">
            <a:avLst>
              <a:gd name="adj" fmla="val 3448"/>
            </a:avLst>
          </a:prstGeom>
          <a:solidFill>
            <a:srgbClr val="1B3652"/>
          </a:solidFill>
          <a:ln w="9525">
            <a:solidFill>
              <a:srgbClr val="2B4C6D"/>
            </a:solidFill>
            <a:prstDash val="solid"/>
          </a:ln>
        </p:spPr>
      </p:sp>
      <p:sp>
        <p:nvSpPr>
          <p:cNvPr id="4" name="Text 2"/>
          <p:cNvSpPr txBox="1"/>
          <p:nvPr/>
        </p:nvSpPr>
        <p:spPr>
          <a:xfrm>
            <a:off x="960120" y="1691640"/>
            <a:ext cx="548640" cy="548640"/>
          </a:xfrm>
          <a:prstGeom prst="rect">
            <a:avLst/>
          </a:prstGeom>
          <a:noFill/>
          <a:ln/>
        </p:spPr>
        <p:txBody>
          <a:bodyPr wrap="square" lIns="0" tIns="0" rIns="0" bIns="0" rtlCol="0" anchor="t"/>
          <a:lstStyle/>
          <a:p>
            <a:pPr indent="0" marL="0">
              <a:buNone/>
            </a:pPr>
            <a:r>
              <a:rPr lang="en-US" sz="3000" b="1" dirty="0">
                <a:solidFill>
                  <a:srgbClr val="8FB8B2"/>
                </a:solidFill>
                <a:latin typeface="Cambria" pitchFamily="34" charset="0"/>
                <a:ea typeface="Cambria" pitchFamily="34" charset="-122"/>
                <a:cs typeface="Cambria" pitchFamily="34" charset="-120"/>
              </a:rPr>
              <a:t>1</a:t>
            </a:r>
            <a:endParaRPr lang="en-US" sz="3000" dirty="0"/>
          </a:p>
        </p:txBody>
      </p:sp>
      <p:sp>
        <p:nvSpPr>
          <p:cNvPr id="5" name="Text 3"/>
          <p:cNvSpPr txBox="1"/>
          <p:nvPr/>
        </p:nvSpPr>
        <p:spPr>
          <a:xfrm>
            <a:off x="960120" y="2286000"/>
            <a:ext cx="3108960" cy="7772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Prior hospital use is the consistent signal</a:t>
            </a:r>
            <a:endParaRPr lang="en-US" sz="1700" dirty="0"/>
          </a:p>
        </p:txBody>
      </p:sp>
      <p:sp>
        <p:nvSpPr>
          <p:cNvPr id="6" name="Text 4"/>
          <p:cNvSpPr txBox="1"/>
          <p:nvPr/>
        </p:nvSpPr>
        <p:spPr>
          <a:xfrm>
            <a:off x="960120" y="3108960"/>
            <a:ext cx="3108960" cy="1051560"/>
          </a:xfrm>
          <a:prstGeom prst="rect">
            <a:avLst/>
          </a:prstGeom>
          <a:noFill/>
          <a:ln/>
        </p:spPr>
        <p:txBody>
          <a:bodyPr wrap="square" lIns="0" tIns="0" rIns="0" bIns="0" rtlCol="0" anchor="t"/>
          <a:lstStyle/>
          <a:p>
            <a:pPr indent="0" marL="0">
              <a:buNone/>
            </a:pPr>
            <a:r>
              <a:rPr lang="en-US" sz="1300" dirty="0">
                <a:solidFill>
                  <a:srgbClr val="CFE3E0"/>
                </a:solidFill>
                <a:latin typeface="Calibri" pitchFamily="34" charset="0"/>
                <a:ea typeface="Calibri" pitchFamily="34" charset="-122"/>
                <a:cs typeface="Calibri" pitchFamily="34" charset="-120"/>
              </a:rPr>
              <a:t>Highest readmission at 2+ prior stays (22.02%); aOR 1.309 per visit; AUC 0.668 at best.</a:t>
            </a:r>
            <a:endParaRPr lang="en-US" sz="1300" dirty="0"/>
          </a:p>
        </p:txBody>
      </p:sp>
      <p:sp>
        <p:nvSpPr>
          <p:cNvPr id="7" name="Shape 5"/>
          <p:cNvSpPr/>
          <p:nvPr/>
        </p:nvSpPr>
        <p:spPr>
          <a:xfrm>
            <a:off x="4480560" y="1554480"/>
            <a:ext cx="3520440" cy="2651760"/>
          </a:xfrm>
          <a:prstGeom prst="roundRect">
            <a:avLst>
              <a:gd name="adj" fmla="val 3448"/>
            </a:avLst>
          </a:prstGeom>
          <a:solidFill>
            <a:srgbClr val="1B3652"/>
          </a:solidFill>
          <a:ln w="9525">
            <a:solidFill>
              <a:srgbClr val="2B4C6D"/>
            </a:solidFill>
            <a:prstDash val="solid"/>
          </a:ln>
        </p:spPr>
      </p:sp>
      <p:sp>
        <p:nvSpPr>
          <p:cNvPr id="8" name="Text 6"/>
          <p:cNvSpPr txBox="1"/>
          <p:nvPr/>
        </p:nvSpPr>
        <p:spPr>
          <a:xfrm>
            <a:off x="4709160" y="1691640"/>
            <a:ext cx="548640" cy="548640"/>
          </a:xfrm>
          <a:prstGeom prst="rect">
            <a:avLst/>
          </a:prstGeom>
          <a:noFill/>
          <a:ln/>
        </p:spPr>
        <p:txBody>
          <a:bodyPr wrap="square" lIns="0" tIns="0" rIns="0" bIns="0" rtlCol="0" anchor="t"/>
          <a:lstStyle/>
          <a:p>
            <a:pPr indent="0" marL="0">
              <a:buNone/>
            </a:pPr>
            <a:r>
              <a:rPr lang="en-US" sz="3000" b="1" dirty="0">
                <a:solidFill>
                  <a:srgbClr val="8FB8B2"/>
                </a:solidFill>
                <a:latin typeface="Cambria" pitchFamily="34" charset="0"/>
                <a:ea typeface="Cambria" pitchFamily="34" charset="-122"/>
                <a:cs typeface="Cambria" pitchFamily="34" charset="-120"/>
              </a:rPr>
              <a:t>2</a:t>
            </a:r>
            <a:endParaRPr lang="en-US" sz="3000" dirty="0"/>
          </a:p>
        </p:txBody>
      </p:sp>
      <p:sp>
        <p:nvSpPr>
          <p:cNvPr id="9" name="Text 7"/>
          <p:cNvSpPr txBox="1"/>
          <p:nvPr/>
        </p:nvSpPr>
        <p:spPr>
          <a:xfrm>
            <a:off x="4709160" y="2286000"/>
            <a:ext cx="3108960" cy="7772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HbA1c shows a survey-weighted picture</a:t>
            </a:r>
            <a:endParaRPr lang="en-US" sz="1700" dirty="0"/>
          </a:p>
        </p:txBody>
      </p:sp>
      <p:sp>
        <p:nvSpPr>
          <p:cNvPr id="10" name="Text 8"/>
          <p:cNvSpPr txBox="1"/>
          <p:nvPr/>
        </p:nvSpPr>
        <p:spPr>
          <a:xfrm>
            <a:off x="4709160" y="3108960"/>
            <a:ext cx="3108960" cy="1051560"/>
          </a:xfrm>
          <a:prstGeom prst="rect">
            <a:avLst/>
          </a:prstGeom>
          <a:noFill/>
          <a:ln/>
        </p:spPr>
        <p:txBody>
          <a:bodyPr wrap="square" lIns="0" tIns="0" rIns="0" bIns="0" rtlCol="0" anchor="t"/>
          <a:lstStyle/>
          <a:p>
            <a:pPr indent="0" marL="0">
              <a:buNone/>
            </a:pPr>
            <a:r>
              <a:rPr lang="en-US" sz="1300" dirty="0">
                <a:solidFill>
                  <a:srgbClr val="CFE3E0"/>
                </a:solidFill>
                <a:latin typeface="Calibri" pitchFamily="34" charset="0"/>
                <a:ea typeface="Calibri" pitchFamily="34" charset="-122"/>
                <a:cs typeface="Calibri" pitchFamily="34" charset="-120"/>
              </a:rPr>
              <a:t>Mean 7.28%; 23.18% at ≥8%; treatment associations reflect context, not harm.</a:t>
            </a:r>
            <a:endParaRPr lang="en-US" sz="1300" dirty="0"/>
          </a:p>
        </p:txBody>
      </p:sp>
      <p:sp>
        <p:nvSpPr>
          <p:cNvPr id="11" name="Shape 9"/>
          <p:cNvSpPr/>
          <p:nvPr/>
        </p:nvSpPr>
        <p:spPr>
          <a:xfrm>
            <a:off x="8229600" y="1554480"/>
            <a:ext cx="3520440" cy="2651760"/>
          </a:xfrm>
          <a:prstGeom prst="roundRect">
            <a:avLst>
              <a:gd name="adj" fmla="val 3448"/>
            </a:avLst>
          </a:prstGeom>
          <a:solidFill>
            <a:srgbClr val="1B3652"/>
          </a:solidFill>
          <a:ln w="9525">
            <a:solidFill>
              <a:srgbClr val="2B4C6D"/>
            </a:solidFill>
            <a:prstDash val="solid"/>
          </a:ln>
        </p:spPr>
      </p:sp>
      <p:sp>
        <p:nvSpPr>
          <p:cNvPr id="12" name="Text 10"/>
          <p:cNvSpPr txBox="1"/>
          <p:nvPr/>
        </p:nvSpPr>
        <p:spPr>
          <a:xfrm>
            <a:off x="8458200" y="1691640"/>
            <a:ext cx="548640" cy="548640"/>
          </a:xfrm>
          <a:prstGeom prst="rect">
            <a:avLst/>
          </a:prstGeom>
          <a:noFill/>
          <a:ln/>
        </p:spPr>
        <p:txBody>
          <a:bodyPr wrap="square" lIns="0" tIns="0" rIns="0" bIns="0" rtlCol="0" anchor="t"/>
          <a:lstStyle/>
          <a:p>
            <a:pPr indent="0" marL="0">
              <a:buNone/>
            </a:pPr>
            <a:r>
              <a:rPr lang="en-US" sz="3000" b="1" dirty="0">
                <a:solidFill>
                  <a:srgbClr val="8FB8B2"/>
                </a:solidFill>
                <a:latin typeface="Cambria" pitchFamily="34" charset="0"/>
                <a:ea typeface="Cambria" pitchFamily="34" charset="-122"/>
                <a:cs typeface="Cambria" pitchFamily="34" charset="-120"/>
              </a:rPr>
              <a:t>3</a:t>
            </a:r>
            <a:endParaRPr lang="en-US" sz="3000" dirty="0"/>
          </a:p>
        </p:txBody>
      </p:sp>
      <p:sp>
        <p:nvSpPr>
          <p:cNvPr id="13" name="Text 11"/>
          <p:cNvSpPr txBox="1"/>
          <p:nvPr/>
        </p:nvSpPr>
        <p:spPr>
          <a:xfrm>
            <a:off x="8458200" y="2286000"/>
            <a:ext cx="3108960" cy="7772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Exploratory, not clinical</a:t>
            </a:r>
            <a:endParaRPr lang="en-US" sz="1700" dirty="0"/>
          </a:p>
        </p:txBody>
      </p:sp>
      <p:sp>
        <p:nvSpPr>
          <p:cNvPr id="14" name="Text 12"/>
          <p:cNvSpPr txBox="1"/>
          <p:nvPr/>
        </p:nvSpPr>
        <p:spPr>
          <a:xfrm>
            <a:off x="8458200" y="3108960"/>
            <a:ext cx="3108960" cy="1051560"/>
          </a:xfrm>
          <a:prstGeom prst="rect">
            <a:avLst/>
          </a:prstGeom>
          <a:noFill/>
          <a:ln/>
        </p:spPr>
        <p:txBody>
          <a:bodyPr wrap="square" lIns="0" tIns="0" rIns="0" bIns="0" rtlCol="0" anchor="t"/>
          <a:lstStyle/>
          <a:p>
            <a:pPr indent="0" marL="0">
              <a:buNone/>
            </a:pPr>
            <a:r>
              <a:rPr lang="en-US" sz="1300" dirty="0">
                <a:solidFill>
                  <a:srgbClr val="CFE3E0"/>
                </a:solidFill>
                <a:latin typeface="Calibri" pitchFamily="34" charset="0"/>
                <a:ea typeface="Calibri" pitchFamily="34" charset="-122"/>
                <a:cs typeface="Calibri" pitchFamily="34" charset="-120"/>
              </a:rPr>
              <a:t>Associations only; no validated risk score and no tested interventions.</a:t>
            </a:r>
            <a:endParaRPr lang="en-US" sz="1300" dirty="0"/>
          </a:p>
        </p:txBody>
      </p:sp>
      <p:sp>
        <p:nvSpPr>
          <p:cNvPr id="15" name="Text 13"/>
          <p:cNvSpPr txBox="1"/>
          <p:nvPr/>
        </p:nvSpPr>
        <p:spPr>
          <a:xfrm>
            <a:off x="731520" y="4526280"/>
            <a:ext cx="3657600" cy="274320"/>
          </a:xfrm>
          <a:prstGeom prst="rect">
            <a:avLst/>
          </a:prstGeom>
          <a:noFill/>
          <a:ln/>
        </p:spPr>
        <p:txBody>
          <a:bodyPr wrap="square" lIns="0" tIns="0" rIns="0" bIns="0" rtlCol="0" anchor="t"/>
          <a:lstStyle/>
          <a:p>
            <a:pPr indent="0" marL="0">
              <a:buNone/>
            </a:pPr>
            <a:r>
              <a:rPr lang="en-US" sz="1300" b="1" dirty="0">
                <a:solidFill>
                  <a:srgbClr val="8FB8B2"/>
                </a:solidFill>
                <a:latin typeface="Calibri" pitchFamily="34" charset="0"/>
                <a:ea typeface="Calibri" pitchFamily="34" charset="-122"/>
                <a:cs typeface="Calibri" pitchFamily="34" charset="-120"/>
              </a:rPr>
              <a:t>Next steps</a:t>
            </a:r>
            <a:endParaRPr lang="en-US" sz="1300" dirty="0"/>
          </a:p>
        </p:txBody>
      </p:sp>
      <p:sp>
        <p:nvSpPr>
          <p:cNvPr id="16" name="Text 14"/>
          <p:cNvSpPr txBox="1"/>
          <p:nvPr/>
        </p:nvSpPr>
        <p:spPr>
          <a:xfrm>
            <a:off x="731520" y="4846320"/>
            <a:ext cx="10698480" cy="3657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Validate on external data · evaluate calibration and thresholds · study adherence and continuity directly</a:t>
            </a:r>
            <a:endParaRPr lang="en-US" sz="1500" dirty="0"/>
          </a:p>
        </p:txBody>
      </p:sp>
      <p:sp>
        <p:nvSpPr>
          <p:cNvPr id="17" name="Text 15"/>
          <p:cNvSpPr txBox="1"/>
          <p:nvPr/>
        </p:nvSpPr>
        <p:spPr>
          <a:xfrm>
            <a:off x="731520" y="5669280"/>
            <a:ext cx="731520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Thank you · Questions?</a:t>
            </a:r>
            <a:endParaRPr lang="en-US" sz="3000" dirty="0"/>
          </a:p>
        </p:txBody>
      </p:sp>
    </p:spTree>
  </p:cSld>
  <p:clrMapOvr>
    <a:masterClrMapping/>
  </p:clrMapOvr>
</p:sld>
</file>

<file path=ppt/theme/theme1.xml><?xml version="1.0" encoding="utf-8"?>
<a:theme xmlns:a="http://schemas.openxmlformats.org/drawingml/2006/main" name="Clinical Analytics">
  <a:themeElements>
    <a:clrScheme name="Clinical Analytics">
      <a:dk1>
        <a:srgbClr val="10243A"/>
      </a:dk1>
      <a:lt1>
        <a:srgbClr val="FFFFFF"/>
      </a:lt1>
      <a:dk2>
        <a:srgbClr val="55626C"/>
      </a:dk2>
      <a:lt2>
        <a:srgbClr val="F3F6F8"/>
      </a:lt2>
      <a:accent1>
        <a:srgbClr val="0F766E"/>
      </a:accent1>
      <a:accent2>
        <a:srgbClr val="3949AB"/>
      </a:accent2>
      <a:accent3>
        <a:srgbClr val="B7791F"/>
      </a:accent3>
      <a:accent4>
        <a:srgbClr val="B42318"/>
      </a:accent4>
      <a:accent5>
        <a:srgbClr val="6B7B8C"/>
      </a:accent5>
      <a:accent6>
        <a:srgbClr val="8FB8B2"/>
      </a:accent6>
      <a:hlink>
        <a:srgbClr val="3949AB"/>
      </a:hlink>
      <a:folHlink>
        <a:srgbClr val="55626C"/>
      </a:folHlink>
    </a:clrScheme>
    <a:fontScheme name="Clinical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Disease Management Analytics: Diabetes</dc:title>
  <dc:subject>PptxGenJS Presentation</dc:subject>
  <dc:creator>Aaditya Shirke, Aditi Mittal, Arth Rai, Avinash Waykule, Pranav Gujar</dc:creator>
  <cp:lastModifiedBy>Aaditya Shirke, Aditi Mittal, Arth Rai, Avinash Waykule, Pranav Gujar</cp:lastModifiedBy>
  <cp:revision>1</cp:revision>
  <dcterms:created xsi:type="dcterms:W3CDTF">2026-10-16T08:06:18Z</dcterms:created>
  <dcterms:modified xsi:type="dcterms:W3CDTF">2026-10-16T08:06:18Z</dcterms:modified>
</cp:coreProperties>
</file>