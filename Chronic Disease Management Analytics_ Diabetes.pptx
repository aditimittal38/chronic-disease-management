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Inter"/>
      <p:regular r:id="rId22"/>
      <p:bold r:id="rId23"/>
      <p:italic r:id="rId24"/>
      <p:boldItalic r:id="rId25"/>
    </p:embeddedFont>
    <p:embeddedFont>
      <p:font typeface="Plus Jakarta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447142-50E6-4664-874B-0CC93FC5433C}">
  <a:tblStyle styleId="{BE447142-50E6-4664-874B-0CC93FC5433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-regular.fntdata"/><Relationship Id="rId21" Type="http://schemas.openxmlformats.org/officeDocument/2006/relationships/slide" Target="slides/slide15.xml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PlusJakartaSans-italic.fntdata"/><Relationship Id="rId27" Type="http://schemas.openxmlformats.org/officeDocument/2006/relationships/font" Target="fonts/PlusJakarta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4483861af1e5fd7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h4483861af1e5fd7c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391150"/>
            <a:ext cx="10972800" cy="857400"/>
          </a:xfrm>
          <a:prstGeom prst="roundRect">
            <a:avLst>
              <a:gd fmla="val 11111" name="adj"/>
            </a:avLst>
          </a:prstGeom>
          <a:solidFill>
            <a:srgbClr val="1119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3464272"/>
            <a:ext cx="10001250" cy="946546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457200"/>
            <a:ext cx="2324100" cy="276225"/>
          </a:xfrm>
          <a:prstGeom prst="roundRect">
            <a:avLst>
              <a:gd fmla="val 13793" name="adj"/>
            </a:avLst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09600" y="3464272"/>
            <a:ext cx="38100" cy="94654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838200" y="5838825"/>
            <a:ext cx="800100" cy="238200"/>
          </a:xfrm>
          <a:prstGeom prst="roundRect">
            <a:avLst>
              <a:gd fmla="val 16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3125606" y="5838825"/>
            <a:ext cx="790500" cy="238200"/>
          </a:xfrm>
          <a:prstGeom prst="roundRect">
            <a:avLst>
              <a:gd fmla="val 16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5143500" y="5830875"/>
            <a:ext cx="800100" cy="238200"/>
          </a:xfrm>
          <a:prstGeom prst="roundRect">
            <a:avLst>
              <a:gd fmla="val 16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7047450" y="5811825"/>
            <a:ext cx="838200" cy="276300"/>
          </a:xfrm>
          <a:prstGeom prst="roundRect">
            <a:avLst>
              <a:gd fmla="val 16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4450" y="528637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9163050" y="514350"/>
            <a:ext cx="30289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Primary Target: 30-Day Readmission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09600" y="1866155"/>
            <a:ext cx="9701212" cy="1007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Chronic Disease Management Analytics: Diabetes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09600" y="3026122"/>
            <a:ext cx="1158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Data Cleaning • Feature Extraction • Outcome Analysis • Input–Output Framework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38200" y="5562600"/>
            <a:ext cx="1135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PROJECT TEAM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42950" y="514350"/>
            <a:ext cx="21526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FINTECH MDM DATA SCIENCE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3048000" y="514350"/>
            <a:ext cx="283368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HEALTHCARE ANALYTICS DOMAIN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838200" y="3616672"/>
            <a:ext cx="11353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838200" y="3816697"/>
            <a:ext cx="9677400" cy="441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"Analysis of chronic disease management trends to identify factors associated with poor disease management and support improved patient monitoring and healthcare outcomes."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914400" y="5876925"/>
            <a:ext cx="743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23610074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1733550" y="5867400"/>
            <a:ext cx="1028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Aaditya Shirke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3168375" y="5876925"/>
            <a:ext cx="790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23610067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4007094" y="5867400"/>
            <a:ext cx="1305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Aditi Mittal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5200512" y="5869125"/>
            <a:ext cx="743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23510076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6038325" y="5871375"/>
            <a:ext cx="838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Arth Rai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7135587" y="5869125"/>
            <a:ext cx="67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23610078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7957338" y="5871375"/>
            <a:ext cx="1338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Avinash Way</a:t>
            </a:r>
            <a:r>
              <a:rPr b="1" lang="en-US" sz="11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kule</a:t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9455962" y="5834838"/>
            <a:ext cx="800100" cy="238200"/>
          </a:xfrm>
          <a:prstGeom prst="roundRect">
            <a:avLst>
              <a:gd fmla="val 16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9532162" y="5872938"/>
            <a:ext cx="743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23510038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0351297" y="5863420"/>
            <a:ext cx="1072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Pranav Gujar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/>
          <p:nvPr/>
        </p:nvSpPr>
        <p:spPr>
          <a:xfrm>
            <a:off x="609600" y="5057626"/>
            <a:ext cx="10972800" cy="1381200"/>
          </a:xfrm>
          <a:prstGeom prst="roundRect">
            <a:avLst>
              <a:gd fmla="val 68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609600" y="2165895"/>
            <a:ext cx="3505200" cy="1752600"/>
          </a:xfrm>
          <a:prstGeom prst="roundRect">
            <a:avLst>
              <a:gd fmla="val 54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4343400" y="2165895"/>
            <a:ext cx="3505200" cy="1752600"/>
          </a:xfrm>
          <a:prstGeom prst="roundRect">
            <a:avLst>
              <a:gd fmla="val 54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8077200" y="2165895"/>
            <a:ext cx="3505200" cy="1752600"/>
          </a:xfrm>
          <a:prstGeom prst="roundRect">
            <a:avLst>
              <a:gd fmla="val 54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885825" y="5610076"/>
            <a:ext cx="1760700" cy="581100"/>
          </a:xfrm>
          <a:prstGeom prst="roundRect">
            <a:avLst>
              <a:gd fmla="val 1311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2970311" y="5610076"/>
            <a:ext cx="1760700" cy="581100"/>
          </a:xfrm>
          <a:prstGeom prst="roundRect">
            <a:avLst>
              <a:gd fmla="val 1311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5054798" y="5610076"/>
            <a:ext cx="1760700" cy="581100"/>
          </a:xfrm>
          <a:prstGeom prst="roundRect">
            <a:avLst>
              <a:gd fmla="val 1311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7139285" y="5600551"/>
            <a:ext cx="1921500" cy="600000"/>
          </a:xfrm>
          <a:prstGeom prst="roundRect">
            <a:avLst>
              <a:gd fmla="val 12698" name="adj"/>
            </a:avLst>
          </a:prstGeom>
          <a:solidFill>
            <a:srgbClr val="FEE2E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9384655" y="5600551"/>
            <a:ext cx="1921519" cy="600075"/>
          </a:xfrm>
          <a:prstGeom prst="roundRect">
            <a:avLst>
              <a:gd fmla="val 12698" name="adj"/>
            </a:avLst>
          </a:prstGeom>
          <a:solidFill>
            <a:srgbClr val="E0F2FE"/>
          </a:solidFill>
          <a:ln cap="flat" cmpd="sng" w="9525">
            <a:solidFill>
              <a:srgbClr val="7DD3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5" name="Google Shape;1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1711" y="582438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6198" y="582438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0685" y="582438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56055" y="582438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42307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00575" y="242307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34375" y="242307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RESEARCH SCOPE &amp; OBJECTIVES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Are We Trying to Understand?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885825" y="5295751"/>
            <a:ext cx="11306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END-TO-END ANALYTICAL JOURNEY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866775" y="2746920"/>
            <a:ext cx="308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Shift focus from diagnosis prediction toward understanding post-discharge outpatient instability and acute relapse patterns.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4600575" y="2746920"/>
            <a:ext cx="308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Which patient baseline metrics, clinical regimens, and historical visit patterns correlate most strongly with acute care relapses?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8334375" y="2746920"/>
            <a:ext cx="3086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30-day hospital readmission serves as the primary quantifiable healthcare proxy for chronic disease management failure.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1171575" y="2427833"/>
            <a:ext cx="28253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Beyond Simple Prediction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4905375" y="2427833"/>
            <a:ext cx="266283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Core Research Question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8639175" y="2427833"/>
            <a:ext cx="203775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Operational Target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880057" y="5724376"/>
            <a:ext cx="1772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Patient Baseline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880057" y="5924401"/>
            <a:ext cx="1772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Demographics &amp; Vitals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2964544" y="5724376"/>
            <a:ext cx="1772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Clinical Regimen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2964544" y="5924401"/>
            <a:ext cx="1772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Meds &amp; Diagnoses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5049031" y="5724376"/>
            <a:ext cx="1772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Care Patterns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5049031" y="5924401"/>
            <a:ext cx="1772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Past Utilization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7125313" y="5724376"/>
            <a:ext cx="1949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30-Day Readmission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7125313" y="5924401"/>
            <a:ext cx="1949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Primary Failure Proxy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9370683" y="5724376"/>
            <a:ext cx="19494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Targeted Protocols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9370683" y="5924401"/>
            <a:ext cx="19494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Clinical Action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/>
          <p:nvPr/>
        </p:nvSpPr>
        <p:spPr>
          <a:xfrm>
            <a:off x="609600" y="1875383"/>
            <a:ext cx="10972800" cy="3162300"/>
          </a:xfrm>
          <a:prstGeom prst="roundRect">
            <a:avLst>
              <a:gd fmla="val 2409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609600" y="5886301"/>
            <a:ext cx="10972800" cy="5524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609600" y="5886301"/>
            <a:ext cx="38100" cy="5524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15"/>
          <p:cNvGraphicFramePr/>
          <p:nvPr/>
        </p:nvGraphicFramePr>
        <p:xfrm>
          <a:off x="619125" y="18849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{BE447142-50E6-4664-874B-0CC93FC5433C}</a:tableStyleId>
              </a:tblPr>
              <a:tblGrid>
                <a:gridCol w="2628900"/>
                <a:gridCol w="3724275"/>
                <a:gridCol w="2847975"/>
                <a:gridCol w="175260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Core Strengths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 Limitations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Project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🥇 UCI Diabetes 130-US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101,766 encounters, 47 features, real readmission outcomes.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Lacks direct lifestyle habits (diet, step counts).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DATASET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🥈 CDC NHANES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Rich lifestyle, nutrition, and socioeconomic metrics.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Cross-sectional; no longitudinal readmission tracking.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Contextual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🥉 MIMIC-IV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Granular ICU records with timestamped events.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Excessive multi-table relational complexity.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Enterprise Reference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4️⃣ Kaggle Diabetes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Pre-packaged adherence and checkup frequency fields.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Synthetic data; cannot serve as real-world evidence.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Conceptual Reference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15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EVIDENCE BASE SELECTION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Evaluating Our Data Sources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819150" y="6000601"/>
            <a:ext cx="10687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Selection Decision: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UCI 130-US is selected as the primary modeling foundation due to its verified hospital readmission outcome labels and multi-facility clinical diversity.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/>
          <p:nvPr/>
        </p:nvSpPr>
        <p:spPr>
          <a:xfrm>
            <a:off x="609600" y="2358925"/>
            <a:ext cx="2600325" cy="866775"/>
          </a:xfrm>
          <a:prstGeom prst="roundRect">
            <a:avLst>
              <a:gd fmla="val 87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3400425" y="2358925"/>
            <a:ext cx="2600325" cy="866775"/>
          </a:xfrm>
          <a:prstGeom prst="roundRect">
            <a:avLst>
              <a:gd fmla="val 87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6191250" y="2358925"/>
            <a:ext cx="2600325" cy="866775"/>
          </a:xfrm>
          <a:prstGeom prst="roundRect">
            <a:avLst>
              <a:gd fmla="val 87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8982075" y="2358925"/>
            <a:ext cx="2600325" cy="866775"/>
          </a:xfrm>
          <a:prstGeom prst="roundRect">
            <a:avLst>
              <a:gd fmla="val 87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609600" y="4557861"/>
            <a:ext cx="2614612" cy="1881038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3395662" y="4557861"/>
            <a:ext cx="2614612" cy="1881038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6181725" y="4557861"/>
            <a:ext cx="2614612" cy="1881038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8967787" y="4557861"/>
            <a:ext cx="2614612" cy="1881038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4" name="Google Shape;1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" y="479598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6637" y="4795986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2700" y="4795986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8762" y="4795986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DATA ARCHITECTURE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Dataset Structure &amp; Variable Inventory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582215" y="2520850"/>
            <a:ext cx="26550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101,766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582215" y="2901850"/>
            <a:ext cx="26550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Hospital Encounters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3373040" y="2520850"/>
            <a:ext cx="26550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3373040" y="2901850"/>
            <a:ext cx="26550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 Hospitals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6163865" y="2520850"/>
            <a:ext cx="26550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6163865" y="2901850"/>
            <a:ext cx="26550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Columns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8954690" y="2520850"/>
            <a:ext cx="26550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8954690" y="2901850"/>
            <a:ext cx="26550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Clinical Variables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790575" y="5043636"/>
            <a:ext cx="281582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12 Variables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790575" y="5253186"/>
            <a:ext cx="2347912" cy="773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patient_nbr, encounter_id, age, gender, race, admission/discharge IDs, time_in_hospital, payer_code, weight.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3576637" y="5043636"/>
            <a:ext cx="281582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9 Variables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3576637" y="5253186"/>
            <a:ext cx="2347912" cy="966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diag_1, diag_2, diag_3 (ICD-9 codes), num_lab_procedures, num_procedures, number_diagnoses, A1Cresult, max_glu_serum.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6362700" y="5043636"/>
            <a:ext cx="281582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22 Variables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6362700" y="5253186"/>
            <a:ext cx="2347912" cy="773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num_medications, 23 specific diabetes drug therapies (insulin, metformin, glipizide), and dosage change flags.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9148762" y="5043636"/>
            <a:ext cx="281582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4 Variables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9148762" y="5253186"/>
            <a:ext cx="2347912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Past outpatient, inpatient, and emergency visit counts; 30-day readmission status (NO, &gt;30, &lt;30).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1000125" y="4776936"/>
            <a:ext cx="145018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Demographics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3824287" y="4776936"/>
            <a:ext cx="122015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Diagnostics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6610350" y="4776936"/>
            <a:ext cx="126015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Medications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9415462" y="4776936"/>
            <a:ext cx="10801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Utilization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7" title="Screenshot 2026-09-25 at 5.44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0650" y="550800"/>
            <a:ext cx="9577974" cy="570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/>
          <p:nvPr/>
        </p:nvSpPr>
        <p:spPr>
          <a:xfrm>
            <a:off x="609600" y="1963191"/>
            <a:ext cx="6077100" cy="3027900"/>
          </a:xfrm>
          <a:prstGeom prst="roundRect">
            <a:avLst>
              <a:gd fmla="val 3145" name="adj"/>
            </a:avLst>
          </a:prstGeom>
          <a:solidFill>
            <a:srgbClr val="FFF1F2"/>
          </a:solidFill>
          <a:ln cap="flat" cmpd="sng" w="9525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915150" y="1963191"/>
            <a:ext cx="4667400" cy="1237200"/>
          </a:xfrm>
          <a:prstGeom prst="roundRect">
            <a:avLst>
              <a:gd fmla="val 769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6915150" y="3352800"/>
            <a:ext cx="4667400" cy="1638300"/>
          </a:xfrm>
          <a:prstGeom prst="roundRect">
            <a:avLst>
              <a:gd fmla="val 5813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847725" y="2506116"/>
            <a:ext cx="5600700" cy="6192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9525">
            <a:solidFill>
              <a:srgbClr val="FFE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847725" y="3239541"/>
            <a:ext cx="5600700" cy="6192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9525">
            <a:solidFill>
              <a:srgbClr val="FFE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847725" y="3972966"/>
            <a:ext cx="5600700" cy="6192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9525">
            <a:solidFill>
              <a:srgbClr val="FFE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5" name="Google Shape;2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20131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5175" y="2182266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15175" y="357187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DATA INTEGRITY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Cleaning — Missingness &amp; Data Quality Audit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847725" y="2182266"/>
            <a:ext cx="70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123C"/>
                </a:solidFill>
                <a:latin typeface="Inter"/>
                <a:ea typeface="Inter"/>
                <a:cs typeface="Inter"/>
                <a:sym typeface="Inter"/>
              </a:rPr>
              <a:t>Severe Missingness (Explicit "?" Tokens)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7115175" y="2163216"/>
            <a:ext cx="5076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Minor Missingness Imputation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7115175" y="2420391"/>
            <a:ext cx="4362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race (2.23%)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diagnosis codes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diag_1 (0.02%), diag_2 (0.35%), diag_3 (1.40%)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Imputed with modal classes or grouped into "Unknown/Other".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7115175" y="3552825"/>
            <a:ext cx="5076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100% Complete Clinical Fields (0% Missing)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1009650" y="2849016"/>
            <a:ext cx="6596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Dropped completely; prevents extreme imputation bias.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1009650" y="3582441"/>
            <a:ext cx="6596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Retained as explicit "Missing/General Doctor" category.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1009650" y="4315866"/>
            <a:ext cx="6596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Preserved as "Unknown" socioeconomic proxy.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7115175" y="3810000"/>
            <a:ext cx="507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Demographics:</a:t>
            </a: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Age, gender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7115175" y="4029075"/>
            <a:ext cx="507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Clinical Load:</a:t>
            </a: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Medication counts, lab procedures, stay length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7115175" y="4248150"/>
            <a:ext cx="507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Utilization History:</a:t>
            </a: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Prior outpatient, emergency, inpatient visits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7115175" y="4467225"/>
            <a:ext cx="436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Target Variable:</a:t>
            </a: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30-day readmission status complete across all records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1009650" y="2629941"/>
            <a:ext cx="762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F1239"/>
                </a:solidFill>
                <a:latin typeface="Inter"/>
                <a:ea typeface="Inter"/>
                <a:cs typeface="Inter"/>
                <a:sym typeface="Inter"/>
              </a:rPr>
              <a:t>weight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5143500" y="2629941"/>
            <a:ext cx="1428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F1239"/>
                </a:solidFill>
                <a:latin typeface="Inter"/>
                <a:ea typeface="Inter"/>
                <a:cs typeface="Inter"/>
                <a:sym typeface="Inter"/>
              </a:rPr>
              <a:t>96.86% Missing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1009650" y="3363366"/>
            <a:ext cx="1571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F1239"/>
                </a:solidFill>
                <a:latin typeface="Inter"/>
                <a:ea typeface="Inter"/>
                <a:cs typeface="Inter"/>
                <a:sym typeface="Inter"/>
              </a:rPr>
              <a:t>medical_specialty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5143500" y="3363366"/>
            <a:ext cx="1428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F1239"/>
                </a:solidFill>
                <a:latin typeface="Inter"/>
                <a:ea typeface="Inter"/>
                <a:cs typeface="Inter"/>
                <a:sym typeface="Inter"/>
              </a:rPr>
              <a:t>49.08% Missing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1009650" y="4096791"/>
            <a:ext cx="1095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F1239"/>
                </a:solidFill>
                <a:latin typeface="Inter"/>
                <a:ea typeface="Inter"/>
                <a:cs typeface="Inter"/>
                <a:sym typeface="Inter"/>
              </a:rPr>
              <a:t>payer_code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5153025" y="4096791"/>
            <a:ext cx="1419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F1239"/>
                </a:solidFill>
                <a:latin typeface="Inter"/>
                <a:ea typeface="Inter"/>
                <a:cs typeface="Inter"/>
                <a:sym typeface="Inter"/>
              </a:rPr>
              <a:t>39.56% Missing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/>
          <p:nvPr/>
        </p:nvSpPr>
        <p:spPr>
          <a:xfrm>
            <a:off x="609600" y="1842045"/>
            <a:ext cx="10972800" cy="3228975"/>
          </a:xfrm>
          <a:prstGeom prst="roundRect">
            <a:avLst>
              <a:gd fmla="val 2359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609600" y="5886301"/>
            <a:ext cx="10972800" cy="552450"/>
          </a:xfrm>
          <a:prstGeom prst="roundRect">
            <a:avLst>
              <a:gd fmla="val 1034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3" name="Google Shape;243;p19"/>
          <p:cNvGraphicFramePr/>
          <p:nvPr/>
        </p:nvGraphicFramePr>
        <p:xfrm>
          <a:off x="619125" y="1851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{BE447142-50E6-4664-874B-0CC93FC5433C}</a:tableStyleId>
              </a:tblPr>
              <a:tblGrid>
                <a:gridCol w="2409825"/>
                <a:gridCol w="4162425"/>
                <a:gridCol w="4381500"/>
              </a:tblGrid>
              <a:tr h="53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Quality Issue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Observed Pattern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Treatment Executed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3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Missing Markers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Missing values stored as "?" string tokens.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Converted to standard nulls; encoded as explicit "Unknown" categories.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991B1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Hospice / Expired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Discharge codes for expired patients or hospice care (2,423 encounters).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B91C1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Excluded from cohort; patients ineligible for readmission (Cohort: 99,343).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  <a:tr h="53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Repeated Patients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Multiple encounter_id entries under a single patient_nbr.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Retained: Chronic disease analytics requires studying cumulative hospital reliance.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Utilization Outliers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Heavy right skew in acute care visits (number_emergency &gt; 30).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Retained: Captures authentic high-risk behavior rather than noise.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Type Encoding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Administrative IDs stored as integers (admission_type_id).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Converted to explicit categorical factors to prevent artificial numeric ordinality.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4" name="Google Shape;244;p19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OPERATIONAL PROTOCOLS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Cleaning Strategy &amp; Operational Rules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781050" y="6000601"/>
            <a:ext cx="10725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Analytics Principle: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Patient exclusions are restricted strictly to non-eligible discharge codes (hospice/expired) to preserve clinical validity while maintaining authentic real-world outlier distributions.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/>
          <p:nvPr/>
        </p:nvSpPr>
        <p:spPr>
          <a:xfrm>
            <a:off x="609600" y="2124075"/>
            <a:ext cx="5391300" cy="1400100"/>
          </a:xfrm>
          <a:prstGeom prst="roundRect">
            <a:avLst>
              <a:gd fmla="val 6802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609600" y="3676650"/>
            <a:ext cx="5391300" cy="1543200"/>
          </a:xfrm>
          <a:prstGeom prst="roundRect">
            <a:avLst>
              <a:gd fmla="val 6172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6191250" y="2124075"/>
            <a:ext cx="5391300" cy="1133400"/>
          </a:xfrm>
          <a:prstGeom prst="roundRect">
            <a:avLst>
              <a:gd fmla="val 840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6191250" y="3409950"/>
            <a:ext cx="5391300" cy="1383000"/>
          </a:xfrm>
          <a:prstGeom prst="roundRect">
            <a:avLst>
              <a:gd fmla="val 688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809625" y="2590800"/>
            <a:ext cx="4991100" cy="333300"/>
          </a:xfrm>
          <a:prstGeom prst="roundRect">
            <a:avLst>
              <a:gd fmla="val 1714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809625" y="4143375"/>
            <a:ext cx="4991100" cy="4764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6391275" y="2609850"/>
            <a:ext cx="1612800" cy="447600"/>
          </a:xfrm>
          <a:prstGeom prst="roundRect">
            <a:avLst>
              <a:gd fmla="val 12765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8080325" y="2609850"/>
            <a:ext cx="1612800" cy="447600"/>
          </a:xfrm>
          <a:prstGeom prst="roundRect">
            <a:avLst>
              <a:gd fmla="val 12765" name="adj"/>
            </a:avLst>
          </a:prstGeom>
          <a:solidFill>
            <a:srgbClr val="FEFC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9769375" y="2609850"/>
            <a:ext cx="1612800" cy="447600"/>
          </a:xfrm>
          <a:prstGeom prst="roundRect">
            <a:avLst>
              <a:gd fmla="val 12765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ANALYTICAL ENGINEERING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Extraction Pipeline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809625" y="2324100"/>
            <a:ext cx="655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Binary 30-Day Readmission (readmitted_30d)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942975" y="2686050"/>
            <a:ext cx="4819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readmitted_30d = 1 if readmitted == "&lt;30" else 0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809625" y="3000375"/>
            <a:ext cx="508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Establishes the primary acute care relapse target (11,314 positive cases,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11.39% baseline rate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809625" y="3876675"/>
            <a:ext cx="655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Prior Healthcare Utilization Index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942975" y="4238625"/>
            <a:ext cx="4819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total_previous_visits = number_outpatient + number_inpatient + number_emergency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809625" y="4695825"/>
            <a:ext cx="508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Aggregates past acute reliance into one composite metric of patient healthcare system dependence.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6391275" y="2324100"/>
            <a:ext cx="58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Polypharmacy Index (Binned Complexity)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6391275" y="3590925"/>
            <a:ext cx="58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ICD-9 Clusters &amp; Titration Indicator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6391275" y="3838575"/>
            <a:ext cx="50865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4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ICD-9 Mapping: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High-cardinality diag_1 mapped to 4 clusters: Circulatory/Heart, Direct Diabetes, Respiratory, Other.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medication_changed: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Binary flag isolating whether any diabetes drug dosage was altered during inpatient stay.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6332543" y="2686050"/>
            <a:ext cx="1730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Low (0–5 meds)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6332543" y="2838450"/>
            <a:ext cx="1730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4,938 enc (7.61%)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8021594" y="2686050"/>
            <a:ext cx="1730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Moderate (6–14)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8021594" y="2838450"/>
            <a:ext cx="1730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16207"/>
                </a:solidFill>
                <a:latin typeface="Inter"/>
                <a:ea typeface="Inter"/>
                <a:cs typeface="Inter"/>
                <a:sym typeface="Inter"/>
              </a:rPr>
              <a:t>43,526 enc (10.28%)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9710644" y="2686050"/>
            <a:ext cx="1730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High (15+ meds)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9710644" y="2838450"/>
            <a:ext cx="1730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50,879 enc (12.70%)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/>
          <p:nvPr/>
        </p:nvSpPr>
        <p:spPr>
          <a:xfrm>
            <a:off x="609600" y="6048226"/>
            <a:ext cx="10972800" cy="390525"/>
          </a:xfrm>
          <a:prstGeom prst="roundRect">
            <a:avLst>
              <a:gd fmla="val 1463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609600" y="2294483"/>
            <a:ext cx="3446859" cy="2486025"/>
          </a:xfrm>
          <a:prstGeom prst="roundRect">
            <a:avLst>
              <a:gd fmla="val 4597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4637484" y="2294483"/>
            <a:ext cx="3181945" cy="2486025"/>
          </a:xfrm>
          <a:prstGeom prst="roundRect">
            <a:avLst>
              <a:gd fmla="val 4597" name="adj"/>
            </a:avLst>
          </a:prstGeom>
          <a:solidFill>
            <a:srgbClr val="F0F9FF"/>
          </a:solidFill>
          <a:ln cap="flat" cmpd="sng" w="1905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8400454" y="2294483"/>
            <a:ext cx="3181945" cy="2486025"/>
          </a:xfrm>
          <a:prstGeom prst="roundRect">
            <a:avLst>
              <a:gd fmla="val 4597" name="adj"/>
            </a:avLst>
          </a:prstGeom>
          <a:solidFill>
            <a:srgbClr val="FFF1F2"/>
          </a:solidFill>
          <a:ln cap="flat" cmpd="sng" w="1905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609600" y="6048226"/>
            <a:ext cx="38100" cy="390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8667154" y="3456533"/>
            <a:ext cx="2648545" cy="323850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876300" y="2561183"/>
            <a:ext cx="600075" cy="200025"/>
          </a:xfrm>
          <a:prstGeom prst="roundRect">
            <a:avLst>
              <a:gd fmla="val 1904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4904184" y="2561183"/>
            <a:ext cx="628650" cy="200025"/>
          </a:xfrm>
          <a:prstGeom prst="roundRect">
            <a:avLst>
              <a:gd fmla="val 19047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8667154" y="2561183"/>
            <a:ext cx="628650" cy="200025"/>
          </a:xfrm>
          <a:prstGeom prst="roundRect">
            <a:avLst>
              <a:gd fmla="val 19047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0" name="Google Shape;2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6959" y="342319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9929" y="342319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1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THEORETICAL MODEL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Core Framework: Input → Channel → Output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819150" y="6162526"/>
            <a:ext cx="11372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Translate observable input anomalies into early warning signals that identify failure within the care channel before acute readmission occurs.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876300" y="2875508"/>
            <a:ext cx="364182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Patient &amp; Clinical Baseline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4904184" y="2875508"/>
            <a:ext cx="331068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Connecting Mechanism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4904184" y="3151733"/>
            <a:ext cx="274379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Disease Management &amp; Care Utilization Patterns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4904184" y="3589883"/>
            <a:ext cx="274379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Evaluates how well the condition is stabilized in outpatient ambulatory settings versus acute emergency/inpatient over-reliance.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8667154" y="2875508"/>
            <a:ext cx="331068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Measurable Endpoint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8667154" y="3151733"/>
            <a:ext cx="33106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123C"/>
                </a:solidFill>
                <a:latin typeface="Inter"/>
                <a:ea typeface="Inter"/>
                <a:cs typeface="Inter"/>
                <a:sym typeface="Inter"/>
              </a:rPr>
              <a:t>30-Day Readmission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8781454" y="3532733"/>
            <a:ext cx="251519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F1239"/>
                </a:solidFill>
                <a:latin typeface="Arial"/>
                <a:ea typeface="Arial"/>
                <a:cs typeface="Arial"/>
                <a:sym typeface="Arial"/>
              </a:rPr>
              <a:t>Y ∈ {0, 1}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8667154" y="3856583"/>
            <a:ext cx="2743795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Indicates post-discharge chronic management failure and acute clinical relapse.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952500" y="2589758"/>
            <a:ext cx="542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STAGE 1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1571625" y="2561183"/>
            <a:ext cx="2000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Observable Inputs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876300" y="3151733"/>
            <a:ext cx="364182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Demographics: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Age bracket, gender, race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876300" y="3389858"/>
            <a:ext cx="30087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Clinical Status: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Diagnoses clusters, lab procedures, stay length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876300" y="3789908"/>
            <a:ext cx="30087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Medication Regimen: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Drug count, insulin therapy, dose adjustments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876300" y="4189958"/>
            <a:ext cx="30087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Prior Utilization: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Past emergency, outpatient, and inpatient stays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4980384" y="2589758"/>
            <a:ext cx="571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STAGE 2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5628084" y="2561183"/>
            <a:ext cx="20502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Analytical Channel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8743354" y="2589758"/>
            <a:ext cx="571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STAGE 3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9391054" y="2561183"/>
            <a:ext cx="201275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F1239"/>
                </a:solidFill>
                <a:latin typeface="Inter"/>
                <a:ea typeface="Inter"/>
                <a:cs typeface="Inter"/>
                <a:sym typeface="Inter"/>
              </a:rPr>
              <a:t>Healthcare Output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"/>
          <p:cNvSpPr/>
          <p:nvPr/>
        </p:nvSpPr>
        <p:spPr>
          <a:xfrm>
            <a:off x="609600" y="1875383"/>
            <a:ext cx="10972800" cy="3162300"/>
          </a:xfrm>
          <a:prstGeom prst="roundRect">
            <a:avLst>
              <a:gd fmla="val 2409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609600" y="5886301"/>
            <a:ext cx="10972800" cy="5524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609600" y="5886301"/>
            <a:ext cx="38100" cy="5524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0" name="Google Shape;320;p22"/>
          <p:cNvGraphicFramePr/>
          <p:nvPr/>
        </p:nvGraphicFramePr>
        <p:xfrm>
          <a:off x="619125" y="18849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{BE447142-50E6-4664-874B-0CC93FC5433C}</a:tableStyleId>
              </a:tblPr>
              <a:tblGrid>
                <a:gridCol w="1971675"/>
                <a:gridCol w="3724275"/>
                <a:gridCol w="525780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Dimension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Variables Examined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Research Question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Demographic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age, gender, race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 readmission rates differ significantly across age brackets and demographic cohorts?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D948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Clinical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diag_1 clusters, number_diagnoses, time_in_hospital, A1Cresult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Does comorbidity burden or stay duration correlate with higher readmission risk?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Treatment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num_medications, insulin, medication_changed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Does polypharmacy or active medication alteration reflect clinical instability?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E11D4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Utilization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number_inpatient, number_emergency, total_previous_visits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Does frequent prior hospital utilization act as a leading indicator of relapse?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1" name="Google Shape;321;p22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HYPOTHESIS FORMULATION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Candidate Explanatory Variables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819150" y="6000601"/>
            <a:ext cx="10687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Methodological Stance: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Hypotheses evaluate statistical associations and risk stratification power while explicitly controlling for confounding variables in multivariable regression.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"/>
          <p:cNvSpPr/>
          <p:nvPr/>
        </p:nvSpPr>
        <p:spPr>
          <a:xfrm>
            <a:off x="609600" y="5791051"/>
            <a:ext cx="10972800" cy="647700"/>
          </a:xfrm>
          <a:prstGeom prst="roundRect">
            <a:avLst>
              <a:gd fmla="val 117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609600" y="2450603"/>
            <a:ext cx="2087909" cy="1916608"/>
          </a:xfrm>
          <a:prstGeom prst="roundRect">
            <a:avLst>
              <a:gd fmla="val 49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2830859" y="2450603"/>
            <a:ext cx="2087909" cy="1916608"/>
          </a:xfrm>
          <a:prstGeom prst="roundRect">
            <a:avLst>
              <a:gd fmla="val 49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5052119" y="2450603"/>
            <a:ext cx="2087909" cy="1916608"/>
          </a:xfrm>
          <a:prstGeom prst="roundRect">
            <a:avLst>
              <a:gd fmla="val 49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7273379" y="2450603"/>
            <a:ext cx="2087909" cy="1916608"/>
          </a:xfrm>
          <a:prstGeom prst="roundRect">
            <a:avLst>
              <a:gd fmla="val 49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9494639" y="2450603"/>
            <a:ext cx="2087909" cy="1916608"/>
          </a:xfrm>
          <a:prstGeom prst="roundRect">
            <a:avLst>
              <a:gd fmla="val 49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771525" y="2669678"/>
            <a:ext cx="561975" cy="20955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2992784" y="2669678"/>
            <a:ext cx="581025" cy="209550"/>
          </a:xfrm>
          <a:prstGeom prst="roundRect">
            <a:avLst>
              <a:gd fmla="val 18181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5214044" y="2669678"/>
            <a:ext cx="581025" cy="209550"/>
          </a:xfrm>
          <a:prstGeom prst="roundRect">
            <a:avLst>
              <a:gd fmla="val 1818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7435304" y="2669678"/>
            <a:ext cx="581025" cy="209550"/>
          </a:xfrm>
          <a:prstGeom prst="roundRect">
            <a:avLst>
              <a:gd fmla="val 18181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9656564" y="2669678"/>
            <a:ext cx="581025" cy="209550"/>
          </a:xfrm>
          <a:prstGeom prst="roundRect">
            <a:avLst>
              <a:gd fmla="val 18181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3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VERIFICATION PIPELINE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Statistical Testing Roadmap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809625" y="5952976"/>
            <a:ext cx="1066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Significance Threshold: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All tests evaluated at significance level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α = 0.05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Non-parametric methods applied to avoid bias from heavily right-skewed acute care utilization distributions.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847725" y="2707778"/>
            <a:ext cx="5048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01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771525" y="2993528"/>
            <a:ext cx="231532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Descriptive Baseline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771525" y="3250703"/>
            <a:ext cx="1859309" cy="717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Summarize distribution metrics (mean, median, IQR) and confirm 11.39% readmission cohort baseline.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3068984" y="2707778"/>
            <a:ext cx="5238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02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2992784" y="2993528"/>
            <a:ext cx="231532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Bivariate Stratification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2992784" y="3250703"/>
            <a:ext cx="1859309" cy="717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Contrast readmission rates directly across candidate factors (visit counts, polypharmacy tiers).</a:t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5290244" y="2707778"/>
            <a:ext cx="5238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03</a:t>
            </a:r>
            <a:endParaRPr/>
          </a:p>
        </p:txBody>
      </p:sp>
      <p:sp>
        <p:nvSpPr>
          <p:cNvPr id="349" name="Google Shape;349;p23"/>
          <p:cNvSpPr txBox="1"/>
          <p:nvPr/>
        </p:nvSpPr>
        <p:spPr>
          <a:xfrm>
            <a:off x="5214044" y="2993528"/>
            <a:ext cx="231532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Hypothesis Testing</a:t>
            </a:r>
            <a:endParaRPr/>
          </a:p>
        </p:txBody>
      </p:sp>
      <p:sp>
        <p:nvSpPr>
          <p:cNvPr id="350" name="Google Shape;350;p23"/>
          <p:cNvSpPr txBox="1"/>
          <p:nvPr/>
        </p:nvSpPr>
        <p:spPr>
          <a:xfrm>
            <a:off x="5214044" y="3250703"/>
            <a:ext cx="1859309" cy="717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Pearson’s Chi-Square (χ²) for categorical traits; non-parametric Mann–Whitney U for skewed counts.</a:t>
            </a:r>
            <a:endParaRPr/>
          </a:p>
        </p:txBody>
      </p:sp>
      <p:sp>
        <p:nvSpPr>
          <p:cNvPr id="351" name="Google Shape;351;p23"/>
          <p:cNvSpPr txBox="1"/>
          <p:nvPr/>
        </p:nvSpPr>
        <p:spPr>
          <a:xfrm>
            <a:off x="7511504" y="2707778"/>
            <a:ext cx="5238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04</a:t>
            </a:r>
            <a:endParaRPr/>
          </a:p>
        </p:txBody>
      </p:sp>
      <p:sp>
        <p:nvSpPr>
          <p:cNvPr id="352" name="Google Shape;352;p23"/>
          <p:cNvSpPr txBox="1"/>
          <p:nvPr/>
        </p:nvSpPr>
        <p:spPr>
          <a:xfrm>
            <a:off x="7435304" y="2993528"/>
            <a:ext cx="231532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Multivariable Logit</a:t>
            </a:r>
            <a:endParaRPr/>
          </a:p>
        </p:txBody>
      </p:sp>
      <p:sp>
        <p:nvSpPr>
          <p:cNvPr id="353" name="Google Shape;353;p23"/>
          <p:cNvSpPr txBox="1"/>
          <p:nvPr/>
        </p:nvSpPr>
        <p:spPr>
          <a:xfrm>
            <a:off x="7435304" y="3250703"/>
            <a:ext cx="1859309" cy="897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Fit adjusted models to compute Odds Ratios (aOR) with 95% CIs while controlling for clinical confounders.</a:t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9732764" y="2707778"/>
            <a:ext cx="5238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05</a:t>
            </a:r>
            <a:endParaRPr/>
          </a:p>
        </p:txBody>
      </p:sp>
      <p:sp>
        <p:nvSpPr>
          <p:cNvPr id="355" name="Google Shape;355;p23"/>
          <p:cNvSpPr txBox="1"/>
          <p:nvPr/>
        </p:nvSpPr>
        <p:spPr>
          <a:xfrm>
            <a:off x="9656564" y="2993528"/>
            <a:ext cx="231532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Clinical Translation</a:t>
            </a:r>
            <a:endParaRPr/>
          </a:p>
        </p:txBody>
      </p:sp>
      <p:sp>
        <p:nvSpPr>
          <p:cNvPr id="356" name="Google Shape;356;p23"/>
          <p:cNvSpPr txBox="1"/>
          <p:nvPr/>
        </p:nvSpPr>
        <p:spPr>
          <a:xfrm>
            <a:off x="9656564" y="3250703"/>
            <a:ext cx="1859309" cy="717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Convert statistically significant odds ratios into actionable risk tiers and discharge protocols.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"/>
          <p:cNvSpPr/>
          <p:nvPr/>
        </p:nvSpPr>
        <p:spPr>
          <a:xfrm>
            <a:off x="609600" y="6048226"/>
            <a:ext cx="10972800" cy="390525"/>
          </a:xfrm>
          <a:prstGeom prst="roundRect">
            <a:avLst>
              <a:gd fmla="val 1463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609600" y="2345084"/>
            <a:ext cx="2600325" cy="2384821"/>
          </a:xfrm>
          <a:prstGeom prst="roundRect">
            <a:avLst>
              <a:gd fmla="val 39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3400425" y="2345084"/>
            <a:ext cx="2600325" cy="2384821"/>
          </a:xfrm>
          <a:prstGeom prst="roundRect">
            <a:avLst>
              <a:gd fmla="val 39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6191250" y="2345084"/>
            <a:ext cx="2600325" cy="2384821"/>
          </a:xfrm>
          <a:prstGeom prst="roundRect">
            <a:avLst>
              <a:gd fmla="val 39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8982075" y="2345084"/>
            <a:ext cx="2600325" cy="2384821"/>
          </a:xfrm>
          <a:prstGeom prst="roundRect">
            <a:avLst>
              <a:gd fmla="val 39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828675" y="4110781"/>
            <a:ext cx="2162175" cy="400050"/>
          </a:xfrm>
          <a:prstGeom prst="roundRect">
            <a:avLst>
              <a:gd fmla="val 952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3619500" y="4110781"/>
            <a:ext cx="2162175" cy="400050"/>
          </a:xfrm>
          <a:prstGeom prst="roundRect">
            <a:avLst>
              <a:gd fmla="val 952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6410325" y="4110781"/>
            <a:ext cx="2162175" cy="400050"/>
          </a:xfrm>
          <a:prstGeom prst="roundRect">
            <a:avLst>
              <a:gd fmla="val 952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9201150" y="4110781"/>
            <a:ext cx="2162175" cy="400050"/>
          </a:xfrm>
          <a:prstGeom prst="roundRect">
            <a:avLst>
              <a:gd fmla="val 952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0" name="Google Shape;3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675" y="2583209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9500" y="2583209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325" y="258320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01150" y="2583209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4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EMPIRICAL EVIDENCE</a:t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Exploratory Visuals &amp; Key Observations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781050" y="6162526"/>
            <a:ext cx="114109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All exploratory associations confirmed statistically significant at p &lt; 0.001, motivating rigorous multivariable modeling to eliminate confounding effects.</a:t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828675" y="3364259"/>
            <a:ext cx="2257425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Patients with 2+ prior inpatient stays face over 2.5× higher readmission rate (p &lt; 0.001).</a:t>
            </a:r>
            <a:endParaRPr/>
          </a:p>
        </p:txBody>
      </p:sp>
      <p:sp>
        <p:nvSpPr>
          <p:cNvPr id="378" name="Google Shape;378;p24"/>
          <p:cNvSpPr txBox="1"/>
          <p:nvPr/>
        </p:nvSpPr>
        <p:spPr>
          <a:xfrm>
            <a:off x="923925" y="4167931"/>
            <a:ext cx="2066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Takeaway: Strongest single relapse indicator.</a:t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3619500" y="3249959"/>
            <a:ext cx="2257425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 polypharmacy exhibits 12.70% rate vs 7.61% for low-regimen patients (χ² = 209.17, p &lt; 0.001).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3714750" y="4167931"/>
            <a:ext cx="2066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Takeaway: Reflects frailty &amp; dosing vulnerability.</a:t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6410325" y="3249959"/>
            <a:ext cx="2257425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Geriatric patients show elevated readmission (χ² = 133.60, p &lt; 0.001) with stay lengths of 3–6 days.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6505575" y="4167931"/>
            <a:ext cx="2066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Takeaway: Burden concentrates in multimorbid groups.</a:t>
            </a:r>
            <a:endParaRPr/>
          </a:p>
        </p:txBody>
      </p:sp>
      <p:sp>
        <p:nvSpPr>
          <p:cNvPr id="383" name="Google Shape;383;p24"/>
          <p:cNvSpPr txBox="1"/>
          <p:nvPr/>
        </p:nvSpPr>
        <p:spPr>
          <a:xfrm>
            <a:off x="9201150" y="3249959"/>
            <a:ext cx="2257425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Significant association between A1C result and readmission outcomes across cohorts.</a:t>
            </a:r>
            <a:endParaRPr/>
          </a:p>
        </p:txBody>
      </p:sp>
      <p:sp>
        <p:nvSpPr>
          <p:cNvPr id="384" name="Google Shape;384;p24"/>
          <p:cNvSpPr txBox="1"/>
          <p:nvPr/>
        </p:nvSpPr>
        <p:spPr>
          <a:xfrm>
            <a:off x="9296400" y="4167931"/>
            <a:ext cx="2066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Takeaway: Active testing mitigates post-discharge risk.</a:t>
            </a:r>
            <a:endParaRPr/>
          </a:p>
        </p:txBody>
      </p:sp>
      <p:sp>
        <p:nvSpPr>
          <p:cNvPr id="385" name="Google Shape;385;p24"/>
          <p:cNvSpPr txBox="1"/>
          <p:nvPr/>
        </p:nvSpPr>
        <p:spPr>
          <a:xfrm>
            <a:off x="1095375" y="2564159"/>
            <a:ext cx="1925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Prior Hospital Stays</a:t>
            </a:r>
            <a:endParaRPr/>
          </a:p>
        </p:txBody>
      </p:sp>
      <p:sp>
        <p:nvSpPr>
          <p:cNvPr id="386" name="Google Shape;386;p24"/>
          <p:cNvSpPr txBox="1"/>
          <p:nvPr/>
        </p:nvSpPr>
        <p:spPr>
          <a:xfrm>
            <a:off x="828675" y="2830859"/>
            <a:ext cx="1390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22.02%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2009775" y="2983259"/>
            <a:ext cx="1076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vs 8.59% (0 stays)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3867150" y="2564159"/>
            <a:ext cx="193774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Polypharmacy Load</a:t>
            </a:r>
            <a:endParaRPr/>
          </a:p>
        </p:txBody>
      </p:sp>
      <p:sp>
        <p:nvSpPr>
          <p:cNvPr id="389" name="Google Shape;389;p24"/>
          <p:cNvSpPr txBox="1"/>
          <p:nvPr/>
        </p:nvSpPr>
        <p:spPr>
          <a:xfrm>
            <a:off x="3619500" y="2830859"/>
            <a:ext cx="1314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12.70%</a:t>
            </a:r>
            <a:endParaRPr/>
          </a:p>
        </p:txBody>
      </p:sp>
      <p:sp>
        <p:nvSpPr>
          <p:cNvPr id="390" name="Google Shape;390;p24"/>
          <p:cNvSpPr txBox="1"/>
          <p:nvPr/>
        </p:nvSpPr>
        <p:spPr>
          <a:xfrm>
            <a:off x="4724400" y="2983259"/>
            <a:ext cx="12668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High (15+ meds)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6619875" y="2564159"/>
            <a:ext cx="181272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Age &amp; Stay Length</a:t>
            </a:r>
            <a:endParaRPr/>
          </a:p>
        </p:txBody>
      </p:sp>
      <p:sp>
        <p:nvSpPr>
          <p:cNvPr id="392" name="Google Shape;392;p24"/>
          <p:cNvSpPr txBox="1"/>
          <p:nvPr/>
        </p:nvSpPr>
        <p:spPr>
          <a:xfrm>
            <a:off x="6410325" y="2830859"/>
            <a:ext cx="1323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12.47%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7524750" y="2983259"/>
            <a:ext cx="1276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Age 80+ bracket</a:t>
            </a:r>
            <a:endParaRPr/>
          </a:p>
        </p:txBody>
      </p:sp>
      <p:sp>
        <p:nvSpPr>
          <p:cNvPr id="394" name="Google Shape;394;p24"/>
          <p:cNvSpPr txBox="1"/>
          <p:nvPr/>
        </p:nvSpPr>
        <p:spPr>
          <a:xfrm>
            <a:off x="9429750" y="2564159"/>
            <a:ext cx="167520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HbA1c &amp; Titration</a:t>
            </a:r>
            <a:endParaRPr/>
          </a:p>
        </p:txBody>
      </p:sp>
      <p:sp>
        <p:nvSpPr>
          <p:cNvPr id="395" name="Google Shape;395;p24"/>
          <p:cNvSpPr txBox="1"/>
          <p:nvPr/>
        </p:nvSpPr>
        <p:spPr>
          <a:xfrm>
            <a:off x="9201150" y="2830859"/>
            <a:ext cx="15954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p &lt; 0.001</a:t>
            </a:r>
            <a:endParaRPr/>
          </a:p>
        </p:txBody>
      </p:sp>
      <p:sp>
        <p:nvSpPr>
          <p:cNvPr id="396" name="Google Shape;396;p24"/>
          <p:cNvSpPr txBox="1"/>
          <p:nvPr/>
        </p:nvSpPr>
        <p:spPr>
          <a:xfrm>
            <a:off x="10553700" y="2983259"/>
            <a:ext cx="914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χ² = 42.56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5"/>
          <p:cNvSpPr/>
          <p:nvPr/>
        </p:nvSpPr>
        <p:spPr>
          <a:xfrm>
            <a:off x="514350" y="1796950"/>
            <a:ext cx="11163300" cy="381000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5"/>
          <p:cNvSpPr/>
          <p:nvPr/>
        </p:nvSpPr>
        <p:spPr>
          <a:xfrm>
            <a:off x="514350" y="2755701"/>
            <a:ext cx="11163300" cy="2876550"/>
          </a:xfrm>
          <a:prstGeom prst="roundRect">
            <a:avLst>
              <a:gd fmla="val 2649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5"/>
          <p:cNvSpPr/>
          <p:nvPr/>
        </p:nvSpPr>
        <p:spPr>
          <a:xfrm>
            <a:off x="514350" y="6210002"/>
            <a:ext cx="11163300" cy="304800"/>
          </a:xfrm>
          <a:prstGeom prst="roundRect">
            <a:avLst>
              <a:gd fmla="val 1875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5"/>
          <p:cNvSpPr/>
          <p:nvPr/>
        </p:nvSpPr>
        <p:spPr>
          <a:xfrm>
            <a:off x="7731174" y="800100"/>
            <a:ext cx="1814661" cy="419100"/>
          </a:xfrm>
          <a:prstGeom prst="roundRect">
            <a:avLst>
              <a:gd fmla="val 13636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5"/>
          <p:cNvSpPr/>
          <p:nvPr/>
        </p:nvSpPr>
        <p:spPr>
          <a:xfrm>
            <a:off x="9660135" y="800100"/>
            <a:ext cx="2017514" cy="419100"/>
          </a:xfrm>
          <a:prstGeom prst="roundRect">
            <a:avLst>
              <a:gd fmla="val 13636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6" name="Google Shape;406;p25"/>
          <p:cNvGraphicFramePr/>
          <p:nvPr/>
        </p:nvGraphicFramePr>
        <p:xfrm>
          <a:off x="523875" y="27652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{BE447142-50E6-4664-874B-0CC93FC5433C}</a:tableStyleId>
              </a:tblPr>
              <a:tblGrid>
                <a:gridCol w="2451650"/>
                <a:gridCol w="1560175"/>
                <a:gridCol w="2005900"/>
                <a:gridCol w="1337225"/>
                <a:gridCol w="3789300"/>
              </a:tblGrid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Predictor 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Adjusted 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95% CI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p-value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Clinical Interpretation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Prior Inpatient Visits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1.310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1.293–1.327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+31.0% risk</a:t>
                      </a: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per prior admission; primary relapse predictor.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Prior Emergency Visits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1.034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1.017–1.052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Each prior ER visit increases adjusted odds by 3.4%.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Diagnosis 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1.048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1.035–1.060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Comorbidity burden adds ~4.8% incremental risk per condition.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Length of Stay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1.016–1.031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Extended stay duration reflects acute clinical frailty.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Age 80+ (vs. 0–39)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1.219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1.106–1.345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Geriatric patients face 21.9% higher adjusted relapse odds.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Age 60–79 (vs. 0–39)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1.138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1.039–1.247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Older adult diabetic cohorts face 13.8% higher adjusted odds.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5803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Medication Changed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5803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0.936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0.887–0.988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5803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5803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6.4% protective effect</a:t>
                      </a:r>
                      <a:r>
                        <a:rPr b="0" i="0" lang="en-US" sz="975" u="none" cap="none" strike="noStrike">
                          <a:solidFill>
                            <a:srgbClr val="15803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from active inpatient titration.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407" name="Google Shape;407;p25"/>
          <p:cNvSpPr txBox="1"/>
          <p:nvPr/>
        </p:nvSpPr>
        <p:spPr>
          <a:xfrm>
            <a:off x="676275" y="1916013"/>
            <a:ext cx="259556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HYPOTHESIS TESTS (ALL P &lt; 0.001):</a:t>
            </a:r>
            <a:endParaRPr/>
          </a:p>
        </p:txBody>
      </p:sp>
      <p:sp>
        <p:nvSpPr>
          <p:cNvPr id="408" name="Google Shape;408;p25"/>
          <p:cNvSpPr txBox="1"/>
          <p:nvPr/>
        </p:nvSpPr>
        <p:spPr>
          <a:xfrm>
            <a:off x="2927895" y="1901725"/>
            <a:ext cx="20716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Inpatient: MW U = 6.05×10⁸</a:t>
            </a:r>
            <a:endParaRPr/>
          </a:p>
        </p:txBody>
      </p:sp>
      <p:sp>
        <p:nvSpPr>
          <p:cNvPr id="409" name="Google Shape;409;p25"/>
          <p:cNvSpPr txBox="1"/>
          <p:nvPr/>
        </p:nvSpPr>
        <p:spPr>
          <a:xfrm>
            <a:off x="4760416" y="1901725"/>
            <a:ext cx="2035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ER Visits: MW U = 5.30×10⁸</a:t>
            </a:r>
            <a:endParaRPr/>
          </a:p>
        </p:txBody>
      </p:sp>
      <p:sp>
        <p:nvSpPr>
          <p:cNvPr id="410" name="Google Shape;410;p25"/>
          <p:cNvSpPr txBox="1"/>
          <p:nvPr/>
        </p:nvSpPr>
        <p:spPr>
          <a:xfrm>
            <a:off x="6564362" y="1911250"/>
            <a:ext cx="19883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Polypharmacy: χ² = 209.17</a:t>
            </a:r>
            <a:endParaRPr/>
          </a:p>
        </p:txBody>
      </p:sp>
      <p:sp>
        <p:nvSpPr>
          <p:cNvPr id="411" name="Google Shape;411;p25"/>
          <p:cNvSpPr txBox="1"/>
          <p:nvPr/>
        </p:nvSpPr>
        <p:spPr>
          <a:xfrm>
            <a:off x="8330207" y="1911250"/>
            <a:ext cx="19407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Insulin Status: χ² = 199.30</a:t>
            </a:r>
            <a:endParaRPr/>
          </a:p>
        </p:txBody>
      </p:sp>
      <p:sp>
        <p:nvSpPr>
          <p:cNvPr id="412" name="Google Shape;412;p25"/>
          <p:cNvSpPr txBox="1"/>
          <p:nvPr/>
        </p:nvSpPr>
        <p:spPr>
          <a:xfrm>
            <a:off x="10057953" y="1911250"/>
            <a:ext cx="182165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Age Groups: χ² = 133.60</a:t>
            </a:r>
            <a:endParaRPr/>
          </a:p>
        </p:txBody>
      </p:sp>
      <p:sp>
        <p:nvSpPr>
          <p:cNvPr id="413" name="Google Shape;413;p25"/>
          <p:cNvSpPr txBox="1"/>
          <p:nvPr/>
        </p:nvSpPr>
        <p:spPr>
          <a:xfrm>
            <a:off x="666750" y="6286202"/>
            <a:ext cx="291703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Multivariable Logistic Model (Logit Link)</a:t>
            </a:r>
            <a:endParaRPr/>
          </a:p>
        </p:txBody>
      </p:sp>
      <p:sp>
        <p:nvSpPr>
          <p:cNvPr id="414" name="Google Shape;414;p25"/>
          <p:cNvSpPr txBox="1"/>
          <p:nvPr/>
        </p:nvSpPr>
        <p:spPr>
          <a:xfrm>
            <a:off x="5248275" y="6286202"/>
            <a:ext cx="2357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McFadden Pseudo-R² = 0.0363</a:t>
            </a:r>
            <a:endParaRPr/>
          </a:p>
        </p:txBody>
      </p:sp>
      <p:sp>
        <p:nvSpPr>
          <p:cNvPr id="415" name="Google Shape;415;p25"/>
          <p:cNvSpPr txBox="1"/>
          <p:nvPr/>
        </p:nvSpPr>
        <p:spPr>
          <a:xfrm>
            <a:off x="9382125" y="6286202"/>
            <a:ext cx="26789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Dependent Variable: readmitted_30d</a:t>
            </a:r>
            <a:endParaRPr/>
          </a:p>
        </p:txBody>
      </p:sp>
      <p:sp>
        <p:nvSpPr>
          <p:cNvPr id="416" name="Google Shape;416;p25"/>
          <p:cNvSpPr txBox="1"/>
          <p:nvPr/>
        </p:nvSpPr>
        <p:spPr>
          <a:xfrm>
            <a:off x="514350" y="342900"/>
            <a:ext cx="902103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STATISTICAL VALIDATION &amp; MULTIVARIABLE MODELING</a:t>
            </a:r>
            <a:endParaRPr/>
          </a:p>
        </p:txBody>
      </p:sp>
      <p:sp>
        <p:nvSpPr>
          <p:cNvPr id="417" name="Google Shape;417;p25"/>
          <p:cNvSpPr txBox="1"/>
          <p:nvPr/>
        </p:nvSpPr>
        <p:spPr>
          <a:xfrm>
            <a:off x="514350" y="533400"/>
            <a:ext cx="76776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Empirical Findings &amp; Multivariable Logistic Regression</a:t>
            </a:r>
            <a:endParaRPr/>
          </a:p>
        </p:txBody>
      </p:sp>
      <p:sp>
        <p:nvSpPr>
          <p:cNvPr id="418" name="Google Shape;418;p25"/>
          <p:cNvSpPr txBox="1"/>
          <p:nvPr/>
        </p:nvSpPr>
        <p:spPr>
          <a:xfrm>
            <a:off x="7845474" y="857250"/>
            <a:ext cx="168131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Cohort: 99,343 Encounters</a:t>
            </a:r>
            <a:endParaRPr/>
          </a:p>
        </p:txBody>
      </p:sp>
      <p:sp>
        <p:nvSpPr>
          <p:cNvPr id="419" name="Google Shape;419;p25"/>
          <p:cNvSpPr txBox="1"/>
          <p:nvPr/>
        </p:nvSpPr>
        <p:spPr>
          <a:xfrm>
            <a:off x="9774435" y="857250"/>
            <a:ext cx="188416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Readmissions: 11,314 (11.39%)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"/>
          <p:cNvSpPr/>
          <p:nvPr/>
        </p:nvSpPr>
        <p:spPr>
          <a:xfrm>
            <a:off x="609600" y="6048226"/>
            <a:ext cx="10972800" cy="390525"/>
          </a:xfrm>
          <a:prstGeom prst="roundRect">
            <a:avLst>
              <a:gd fmla="val 1463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6"/>
          <p:cNvSpPr/>
          <p:nvPr/>
        </p:nvSpPr>
        <p:spPr>
          <a:xfrm>
            <a:off x="609600" y="2012602"/>
            <a:ext cx="3517850" cy="3049785"/>
          </a:xfrm>
          <a:prstGeom prst="roundRect">
            <a:avLst>
              <a:gd fmla="val 31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6"/>
          <p:cNvSpPr/>
          <p:nvPr/>
        </p:nvSpPr>
        <p:spPr>
          <a:xfrm>
            <a:off x="4337000" y="2012602"/>
            <a:ext cx="3517850" cy="3049785"/>
          </a:xfrm>
          <a:prstGeom prst="roundRect">
            <a:avLst>
              <a:gd fmla="val 31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8064400" y="2012602"/>
            <a:ext cx="3517850" cy="3049785"/>
          </a:xfrm>
          <a:prstGeom prst="roundRect">
            <a:avLst>
              <a:gd fmla="val 31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6"/>
          <p:cNvSpPr/>
          <p:nvPr/>
        </p:nvSpPr>
        <p:spPr>
          <a:xfrm>
            <a:off x="847725" y="3834705"/>
            <a:ext cx="3041600" cy="98955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4575125" y="3641377"/>
            <a:ext cx="3041600" cy="118288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6"/>
          <p:cNvSpPr/>
          <p:nvPr/>
        </p:nvSpPr>
        <p:spPr>
          <a:xfrm>
            <a:off x="8302525" y="3834705"/>
            <a:ext cx="3041600" cy="98955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847725" y="2250727"/>
            <a:ext cx="762000" cy="219075"/>
          </a:xfrm>
          <a:prstGeom prst="roundRect">
            <a:avLst>
              <a:gd fmla="val 17391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847725" y="2831752"/>
            <a:ext cx="3041600" cy="695325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847725" y="3834705"/>
            <a:ext cx="38100" cy="98955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4575125" y="2250727"/>
            <a:ext cx="790575" cy="219075"/>
          </a:xfrm>
          <a:prstGeom prst="roundRect">
            <a:avLst>
              <a:gd fmla="val 17391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4575125" y="2831752"/>
            <a:ext cx="3041600" cy="695325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6"/>
          <p:cNvSpPr/>
          <p:nvPr/>
        </p:nvSpPr>
        <p:spPr>
          <a:xfrm>
            <a:off x="4575125" y="3641377"/>
            <a:ext cx="38100" cy="118288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8302525" y="2250727"/>
            <a:ext cx="790575" cy="219075"/>
          </a:xfrm>
          <a:prstGeom prst="roundRect">
            <a:avLst>
              <a:gd fmla="val 17391" name="adj"/>
            </a:avLst>
          </a:prstGeom>
          <a:solidFill>
            <a:srgbClr val="E0E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8302525" y="2831752"/>
            <a:ext cx="3041600" cy="695325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8302525" y="3834705"/>
            <a:ext cx="38100" cy="98955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6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ACTIONABLE OUTCOMES</a:t>
            </a:r>
            <a:endParaRPr/>
          </a:p>
        </p:txBody>
      </p:sp>
      <p:sp>
        <p:nvSpPr>
          <p:cNvPr id="441" name="Google Shape;441;p26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Translating Analytics into Healthcare Interventions</a:t>
            </a:r>
            <a:endParaRPr/>
          </a:p>
        </p:txBody>
      </p:sp>
      <p:sp>
        <p:nvSpPr>
          <p:cNvPr id="442" name="Google Shape;442;p26"/>
          <p:cNvSpPr txBox="1"/>
          <p:nvPr/>
        </p:nvSpPr>
        <p:spPr>
          <a:xfrm>
            <a:off x="781050" y="6162526"/>
            <a:ext cx="114109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Strategic Shift: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Moves health system operations from reactive emergency readmission care to proactive, algorithmic chronic disease management.</a:t>
            </a:r>
            <a:endParaRPr/>
          </a:p>
        </p:txBody>
      </p:sp>
      <p:sp>
        <p:nvSpPr>
          <p:cNvPr id="443" name="Google Shape;443;p26"/>
          <p:cNvSpPr txBox="1"/>
          <p:nvPr/>
        </p:nvSpPr>
        <p:spPr>
          <a:xfrm>
            <a:off x="923925" y="2288827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PRIORITY 1</a:t>
            </a:r>
            <a:endParaRPr/>
          </a:p>
        </p:txBody>
      </p:sp>
      <p:sp>
        <p:nvSpPr>
          <p:cNvPr id="444" name="Google Shape;444;p26"/>
          <p:cNvSpPr txBox="1"/>
          <p:nvPr/>
        </p:nvSpPr>
        <p:spPr>
          <a:xfrm>
            <a:off x="847725" y="2555527"/>
            <a:ext cx="399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Frequent Hospital Users</a:t>
            </a:r>
            <a:endParaRPr/>
          </a:p>
        </p:txBody>
      </p:sp>
      <p:sp>
        <p:nvSpPr>
          <p:cNvPr id="445" name="Google Shape;445;p26"/>
          <p:cNvSpPr txBox="1"/>
          <p:nvPr/>
        </p:nvSpPr>
        <p:spPr>
          <a:xfrm>
            <a:off x="1019175" y="3949005"/>
            <a:ext cx="342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INTERVENTION PROTOCOL</a:t>
            </a:r>
            <a:endParaRPr/>
          </a:p>
        </p:txBody>
      </p:sp>
      <p:sp>
        <p:nvSpPr>
          <p:cNvPr id="446" name="Google Shape;446;p26"/>
          <p:cNvSpPr txBox="1"/>
          <p:nvPr/>
        </p:nvSpPr>
        <p:spPr>
          <a:xfrm>
            <a:off x="1019175" y="4129980"/>
            <a:ext cx="283205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Assign dedicated case managers; mandate automated 48-hour post-discharge phone follow-ups and rapid outpatient check-ins.</a:t>
            </a:r>
            <a:endParaRPr/>
          </a:p>
        </p:txBody>
      </p:sp>
      <p:sp>
        <p:nvSpPr>
          <p:cNvPr id="447" name="Google Shape;447;p26"/>
          <p:cNvSpPr txBox="1"/>
          <p:nvPr/>
        </p:nvSpPr>
        <p:spPr>
          <a:xfrm>
            <a:off x="4651325" y="2288827"/>
            <a:ext cx="7334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PRIORITY 2</a:t>
            </a:r>
            <a:endParaRPr/>
          </a:p>
        </p:txBody>
      </p:sp>
      <p:sp>
        <p:nvSpPr>
          <p:cNvPr id="448" name="Google Shape;448;p26"/>
          <p:cNvSpPr txBox="1"/>
          <p:nvPr/>
        </p:nvSpPr>
        <p:spPr>
          <a:xfrm>
            <a:off x="4575125" y="2555527"/>
            <a:ext cx="399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Complex Polypharmacy</a:t>
            </a:r>
            <a:endParaRPr/>
          </a:p>
        </p:txBody>
      </p:sp>
      <p:sp>
        <p:nvSpPr>
          <p:cNvPr id="449" name="Google Shape;449;p26"/>
          <p:cNvSpPr txBox="1"/>
          <p:nvPr/>
        </p:nvSpPr>
        <p:spPr>
          <a:xfrm>
            <a:off x="4746575" y="3755677"/>
            <a:ext cx="342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INTERVENTION PROTOCOL</a:t>
            </a:r>
            <a:endParaRPr/>
          </a:p>
        </p:txBody>
      </p:sp>
      <p:sp>
        <p:nvSpPr>
          <p:cNvPr id="450" name="Google Shape;450;p26"/>
          <p:cNvSpPr txBox="1"/>
          <p:nvPr/>
        </p:nvSpPr>
        <p:spPr>
          <a:xfrm>
            <a:off x="4746575" y="3936652"/>
            <a:ext cx="2832050" cy="773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Mandate discharge medication reconciliation with a clinical pharmacist to resolve adverse drug interactions and dosing errors.</a:t>
            </a:r>
            <a:endParaRPr/>
          </a:p>
        </p:txBody>
      </p:sp>
      <p:sp>
        <p:nvSpPr>
          <p:cNvPr id="451" name="Google Shape;451;p26"/>
          <p:cNvSpPr txBox="1"/>
          <p:nvPr/>
        </p:nvSpPr>
        <p:spPr>
          <a:xfrm>
            <a:off x="8378725" y="2288827"/>
            <a:ext cx="7334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PRIORITY 3</a:t>
            </a:r>
            <a:endParaRPr/>
          </a:p>
        </p:txBody>
      </p:sp>
      <p:sp>
        <p:nvSpPr>
          <p:cNvPr id="452" name="Google Shape;452;p26"/>
          <p:cNvSpPr txBox="1"/>
          <p:nvPr/>
        </p:nvSpPr>
        <p:spPr>
          <a:xfrm>
            <a:off x="8302525" y="2555527"/>
            <a:ext cx="388947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Geriatric Comorbidity</a:t>
            </a:r>
            <a:endParaRPr/>
          </a:p>
        </p:txBody>
      </p:sp>
      <p:sp>
        <p:nvSpPr>
          <p:cNvPr id="453" name="Google Shape;453;p26"/>
          <p:cNvSpPr txBox="1"/>
          <p:nvPr/>
        </p:nvSpPr>
        <p:spPr>
          <a:xfrm>
            <a:off x="8473975" y="3949005"/>
            <a:ext cx="342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INTERVENTION PROTOCOL</a:t>
            </a:r>
            <a:endParaRPr/>
          </a:p>
        </p:txBody>
      </p:sp>
      <p:sp>
        <p:nvSpPr>
          <p:cNvPr id="454" name="Google Shape;454;p26"/>
          <p:cNvSpPr txBox="1"/>
          <p:nvPr/>
        </p:nvSpPr>
        <p:spPr>
          <a:xfrm>
            <a:off x="8473975" y="4129980"/>
            <a:ext cx="283205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Co-schedule multidisciplinary cardiology, nephrology, and endocrine outpatient reviews within 7 days of discharge.</a:t>
            </a:r>
            <a:endParaRPr/>
          </a:p>
        </p:txBody>
      </p:sp>
      <p:sp>
        <p:nvSpPr>
          <p:cNvPr id="455" name="Google Shape;455;p26"/>
          <p:cNvSpPr txBox="1"/>
          <p:nvPr/>
        </p:nvSpPr>
        <p:spPr>
          <a:xfrm>
            <a:off x="971550" y="2936527"/>
            <a:ext cx="34924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EMPIRICAL SIGNAL</a:t>
            </a:r>
            <a:endParaRPr/>
          </a:p>
        </p:txBody>
      </p:sp>
      <p:sp>
        <p:nvSpPr>
          <p:cNvPr id="456" name="Google Shape;456;p26"/>
          <p:cNvSpPr txBox="1"/>
          <p:nvPr/>
        </p:nvSpPr>
        <p:spPr>
          <a:xfrm>
            <a:off x="971550" y="3098452"/>
            <a:ext cx="288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Prior inpatient aOR = 1.310 (+31% / visit). Readmission reaches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22.02%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for ≥2 visits.</a:t>
            </a:r>
            <a:endParaRPr/>
          </a:p>
        </p:txBody>
      </p:sp>
      <p:sp>
        <p:nvSpPr>
          <p:cNvPr id="457" name="Google Shape;457;p26"/>
          <p:cNvSpPr txBox="1"/>
          <p:nvPr/>
        </p:nvSpPr>
        <p:spPr>
          <a:xfrm>
            <a:off x="4698950" y="2936527"/>
            <a:ext cx="34924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EMPIRICAL SIGNAL</a:t>
            </a:r>
            <a:endParaRPr/>
          </a:p>
        </p:txBody>
      </p:sp>
      <p:sp>
        <p:nvSpPr>
          <p:cNvPr id="458" name="Google Shape;458;p26"/>
          <p:cNvSpPr txBox="1"/>
          <p:nvPr/>
        </p:nvSpPr>
        <p:spPr>
          <a:xfrm>
            <a:off x="4698950" y="3098452"/>
            <a:ext cx="288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 polypharmacy (15+ meds) drives readmission to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12.70%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(χ² = 209.17).</a:t>
            </a:r>
            <a:endParaRPr/>
          </a:p>
        </p:txBody>
      </p:sp>
      <p:sp>
        <p:nvSpPr>
          <p:cNvPr id="459" name="Google Shape;459;p26"/>
          <p:cNvSpPr txBox="1"/>
          <p:nvPr/>
        </p:nvSpPr>
        <p:spPr>
          <a:xfrm>
            <a:off x="8426350" y="2936527"/>
            <a:ext cx="34924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EMPIRICAL SIGNAL</a:t>
            </a:r>
            <a:endParaRPr/>
          </a:p>
        </p:txBody>
      </p:sp>
      <p:sp>
        <p:nvSpPr>
          <p:cNvPr id="460" name="Google Shape;460;p26"/>
          <p:cNvSpPr txBox="1"/>
          <p:nvPr/>
        </p:nvSpPr>
        <p:spPr>
          <a:xfrm>
            <a:off x="8426350" y="3098452"/>
            <a:ext cx="288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Age 80+ aOR = 1.219; diagnosis count aOR = 1.048 per co-occurring chronic condition.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/>
          <p:cNvSpPr/>
          <p:nvPr/>
        </p:nvSpPr>
        <p:spPr>
          <a:xfrm>
            <a:off x="609600" y="6010275"/>
            <a:ext cx="10972800" cy="428625"/>
          </a:xfrm>
          <a:prstGeom prst="roundRect">
            <a:avLst>
              <a:gd fmla="val 1777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7"/>
          <p:cNvSpPr/>
          <p:nvPr/>
        </p:nvSpPr>
        <p:spPr>
          <a:xfrm>
            <a:off x="609600" y="2096095"/>
            <a:ext cx="5372100" cy="2844849"/>
          </a:xfrm>
          <a:prstGeom prst="roundRect">
            <a:avLst>
              <a:gd fmla="val 33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7"/>
          <p:cNvSpPr/>
          <p:nvPr/>
        </p:nvSpPr>
        <p:spPr>
          <a:xfrm>
            <a:off x="6210300" y="2096095"/>
            <a:ext cx="5372100" cy="2844849"/>
          </a:xfrm>
          <a:prstGeom prst="roundRect">
            <a:avLst>
              <a:gd fmla="val 33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68" name="Google Shape;4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233422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9" name="Google Shape;46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6525" y="233422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7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MILESTONE REVIEW</a:t>
            </a:r>
            <a:endParaRPr/>
          </a:p>
        </p:txBody>
      </p:sp>
      <p:sp>
        <p:nvSpPr>
          <p:cNvPr id="471" name="Google Shape;471;p27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Summary &amp; Analytical Next Steps</a:t>
            </a:r>
            <a:endParaRPr/>
          </a:p>
        </p:txBody>
      </p:sp>
      <p:sp>
        <p:nvSpPr>
          <p:cNvPr id="472" name="Google Shape;472;p27"/>
          <p:cNvSpPr txBox="1"/>
          <p:nvPr/>
        </p:nvSpPr>
        <p:spPr>
          <a:xfrm>
            <a:off x="838200" y="6143625"/>
            <a:ext cx="6905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Chronic Disease Management Study Group • FinTech MDM Data Science &amp; Analytics</a:t>
            </a:r>
            <a:endParaRPr/>
          </a:p>
        </p:txBody>
      </p:sp>
      <p:sp>
        <p:nvSpPr>
          <p:cNvPr id="473" name="Google Shape;473;p27"/>
          <p:cNvSpPr txBox="1"/>
          <p:nvPr/>
        </p:nvSpPr>
        <p:spPr>
          <a:xfrm>
            <a:off x="9353550" y="6143625"/>
            <a:ext cx="250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7"/>
          <p:cNvSpPr txBox="1"/>
          <p:nvPr/>
        </p:nvSpPr>
        <p:spPr>
          <a:xfrm>
            <a:off x="1190625" y="2338982"/>
            <a:ext cx="247530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Completed Milestones</a:t>
            </a:r>
            <a:endParaRPr/>
          </a:p>
        </p:txBody>
      </p:sp>
      <p:sp>
        <p:nvSpPr>
          <p:cNvPr id="475" name="Google Shape;475;p27"/>
          <p:cNvSpPr txBox="1"/>
          <p:nvPr/>
        </p:nvSpPr>
        <p:spPr>
          <a:xfrm>
            <a:off x="885825" y="2677120"/>
            <a:ext cx="49149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Ingestion &amp; Cohort Filter: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Processed 101,766 raw records; removed 2,423 hospice/expired encounters to isolate an analytical cohort of 99,343.</a:t>
            </a:r>
            <a:endParaRPr/>
          </a:p>
        </p:txBody>
      </p:sp>
      <p:sp>
        <p:nvSpPr>
          <p:cNvPr id="476" name="Google Shape;476;p27"/>
          <p:cNvSpPr txBox="1"/>
          <p:nvPr/>
        </p:nvSpPr>
        <p:spPr>
          <a:xfrm>
            <a:off x="885825" y="3159025"/>
            <a:ext cx="49149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Feature Engineering: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Constructed derived metrics (readmitted_30d, total_previous_visits, polypharmacy bins, ICD-9 clusters).</a:t>
            </a:r>
            <a:endParaRPr/>
          </a:p>
        </p:txBody>
      </p:sp>
      <p:sp>
        <p:nvSpPr>
          <p:cNvPr id="477" name="Google Shape;477;p27"/>
          <p:cNvSpPr txBox="1"/>
          <p:nvPr/>
        </p:nvSpPr>
        <p:spPr>
          <a:xfrm>
            <a:off x="885825" y="3640931"/>
            <a:ext cx="491490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Statistical Testing: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Confirmed significant associations across age, polypharmacy, and utilization via Chi-Square and Mann–Whitney U tests (all p &lt; 0.001).</a:t>
            </a:r>
            <a:endParaRPr/>
          </a:p>
        </p:txBody>
      </p:sp>
      <p:sp>
        <p:nvSpPr>
          <p:cNvPr id="478" name="Google Shape;478;p27"/>
          <p:cNvSpPr txBox="1"/>
          <p:nvPr/>
        </p:nvSpPr>
        <p:spPr>
          <a:xfrm>
            <a:off x="885825" y="4316164"/>
            <a:ext cx="49149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Multivariable Logit: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Fitted logistic regression isolating prior inpatient visits (aOR = 1.310) as the leading independent risk factor.</a:t>
            </a:r>
            <a:endParaRPr/>
          </a:p>
        </p:txBody>
      </p:sp>
      <p:sp>
        <p:nvSpPr>
          <p:cNvPr id="479" name="Google Shape;479;p27"/>
          <p:cNvSpPr txBox="1"/>
          <p:nvPr/>
        </p:nvSpPr>
        <p:spPr>
          <a:xfrm>
            <a:off x="6791325" y="2338982"/>
            <a:ext cx="241280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Immediate Next Steps</a:t>
            </a:r>
            <a:endParaRPr/>
          </a:p>
        </p:txBody>
      </p:sp>
      <p:sp>
        <p:nvSpPr>
          <p:cNvPr id="480" name="Google Shape;480;p27"/>
          <p:cNvSpPr txBox="1"/>
          <p:nvPr/>
        </p:nvSpPr>
        <p:spPr>
          <a:xfrm>
            <a:off x="6486525" y="2677120"/>
            <a:ext cx="49149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Risk Scoring Matrix: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Finalize a rule-based patient risk scoring matrix (Tier 1 High, Tier 2 Moderate, Tier 3 Low) based on empirical logit coefficients.</a:t>
            </a:r>
            <a:endParaRPr/>
          </a:p>
        </p:txBody>
      </p:sp>
      <p:sp>
        <p:nvSpPr>
          <p:cNvPr id="481" name="Google Shape;481;p27"/>
          <p:cNvSpPr txBox="1"/>
          <p:nvPr/>
        </p:nvSpPr>
        <p:spPr>
          <a:xfrm>
            <a:off x="6486525" y="3178075"/>
            <a:ext cx="49149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Decision-Support Workflows: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Construct workflow mockups illustrating pharmacist reconciliation alerts and 48-hour outpatient outreach triggers.</a:t>
            </a:r>
            <a:endParaRPr/>
          </a:p>
        </p:txBody>
      </p:sp>
      <p:sp>
        <p:nvSpPr>
          <p:cNvPr id="482" name="Google Shape;482;p27"/>
          <p:cNvSpPr txBox="1"/>
          <p:nvPr/>
        </p:nvSpPr>
        <p:spPr>
          <a:xfrm>
            <a:off x="6486525" y="3679031"/>
            <a:ext cx="49149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 Packaging &amp; Calibration: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Package final code, model calibration plots, ROC curves, and clinical translation recommendations for final delivery.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